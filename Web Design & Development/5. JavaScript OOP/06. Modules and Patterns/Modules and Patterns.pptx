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4"/>
  </p:notesMasterIdLst>
  <p:handoutMasterIdLst>
    <p:handoutMasterId r:id="rId25"/>
  </p:handoutMasterIdLst>
  <p:sldIdLst>
    <p:sldId id="320" r:id="rId2"/>
    <p:sldId id="335" r:id="rId3"/>
    <p:sldId id="336" r:id="rId4"/>
    <p:sldId id="337" r:id="rId5"/>
    <p:sldId id="343" r:id="rId6"/>
    <p:sldId id="376" r:id="rId7"/>
    <p:sldId id="377" r:id="rId8"/>
    <p:sldId id="378" r:id="rId9"/>
    <p:sldId id="390" r:id="rId10"/>
    <p:sldId id="379" r:id="rId11"/>
    <p:sldId id="380" r:id="rId12"/>
    <p:sldId id="345" r:id="rId13"/>
    <p:sldId id="381" r:id="rId14"/>
    <p:sldId id="382" r:id="rId15"/>
    <p:sldId id="383" r:id="rId16"/>
    <p:sldId id="384" r:id="rId17"/>
    <p:sldId id="385" r:id="rId18"/>
    <p:sldId id="386" r:id="rId19"/>
    <p:sldId id="387" r:id="rId20"/>
    <p:sldId id="375" r:id="rId21"/>
    <p:sldId id="333" r:id="rId22"/>
    <p:sldId id="388" r:id="rId23"/>
  </p:sldIdLst>
  <p:sldSz cx="9144000" cy="6858000" type="screen4x3"/>
  <p:notesSz cx="6881813" cy="9296400"/>
  <p:custDataLst>
    <p:tags r:id="rId2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CC00"/>
    <a:srgbClr val="9ED000"/>
    <a:srgbClr val="F4FCD8"/>
    <a:srgbClr val="FFFFFF"/>
    <a:srgbClr val="E8FFC8"/>
    <a:srgbClr val="FAF7C8"/>
    <a:srgbClr val="FAF8C8"/>
    <a:srgbClr val="F5FFC2"/>
    <a:srgbClr val="EBFFD2"/>
    <a:srgbClr val="EBF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53" autoAdjust="0"/>
    <p:restoredTop sz="94468" autoAdjust="0"/>
  </p:normalViewPr>
  <p:slideViewPr>
    <p:cSldViewPr>
      <p:cViewPr varScale="1">
        <p:scale>
          <a:sx n="111" d="100"/>
          <a:sy n="111" d="100"/>
        </p:scale>
        <p:origin x="88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78" y="-96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BF7C7B5-275F-4D1F-9AB4-9255447DBC73}" type="datetimeFigureOut">
              <a:rPr lang="en-US"/>
              <a:pPr/>
              <a:t>7/2/2014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DADE544-1278-4EDA-8870-0A169B9A6D6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24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9B46F231-FB2B-4655-A644-E2477325E686}" type="datetimeFigureOut">
              <a:rPr lang="en-US"/>
              <a:pPr/>
              <a:t>7/2/2014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7388" y="4416425"/>
            <a:ext cx="5507037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6FB4F6EA-423E-42DF-9292-215E7D886C4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2019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776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52766D-5988-4A85-9A9D-1504D9E40207}" type="slidenum">
              <a:rPr lang="en-US"/>
              <a:pPr/>
              <a:t>2</a:t>
            </a:fld>
            <a:r>
              <a:rPr lang="en-US" dirty="0"/>
              <a:t>##</a:t>
            </a:r>
          </a:p>
        </p:txBody>
      </p:sp>
      <p:sp>
        <p:nvSpPr>
          <p:cNvPr id="424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82450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E6441C-A2A6-44F6-90A1-59CE5459EBC2}" type="slidenum">
              <a:rPr lang="en-US"/>
              <a:pPr/>
              <a:t>3</a:t>
            </a:fld>
            <a:r>
              <a:rPr lang="en-US" dirty="0"/>
              <a:t>##</a:t>
            </a:r>
          </a:p>
        </p:txBody>
      </p:sp>
      <p:sp>
        <p:nvSpPr>
          <p:cNvPr id="491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16829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E6441C-A2A6-44F6-90A1-59CE5459EBC2}" type="slidenum">
              <a:rPr lang="en-US"/>
              <a:pPr/>
              <a:t>6</a:t>
            </a:fld>
            <a:r>
              <a:rPr lang="en-US" dirty="0"/>
              <a:t>##</a:t>
            </a:r>
          </a:p>
        </p:txBody>
      </p:sp>
      <p:sp>
        <p:nvSpPr>
          <p:cNvPr id="491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16829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E6441C-A2A6-44F6-90A1-59CE5459EBC2}" type="slidenum">
              <a:rPr lang="en-US"/>
              <a:pPr/>
              <a:t>13</a:t>
            </a:fld>
            <a:r>
              <a:rPr lang="en-US" dirty="0"/>
              <a:t>##</a:t>
            </a:r>
          </a:p>
        </p:txBody>
      </p:sp>
      <p:sp>
        <p:nvSpPr>
          <p:cNvPr id="491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16829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572000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83364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marL="319088" lvl="0" indent="-319088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Name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138446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Web Site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0292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40573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Web Site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0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68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 userDrawn="1"/>
        </p:nvGrpSpPr>
        <p:grpSpPr>
          <a:xfrm>
            <a:off x="130434" y="6373882"/>
            <a:ext cx="1816798" cy="331718"/>
            <a:chOff x="1236228" y="1523999"/>
            <a:chExt cx="4351212" cy="3261410"/>
          </a:xfrm>
          <a:noFill/>
        </p:grpSpPr>
        <p:sp>
          <p:nvSpPr>
            <p:cNvPr id="31" name="TextBox 30">
              <a:hlinkClick r:id="rId2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 userDrawn="1"/>
          </p:nvSpPr>
          <p:spPr>
            <a:xfrm flipH="1">
              <a:off x="3394420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2" name="TextBox 31">
  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 userDrawn="1"/>
          </p:nvSpPr>
          <p:spPr>
            <a:xfrm flipH="1">
              <a:off x="1350512" y="1528531"/>
              <a:ext cx="2008656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hlinkClick r:id="rId4" tooltip="Програмиране за деца - безплатно в Телерик кидс академия"/>
            </p:cNvPr>
            <p:cNvSpPr txBox="1"/>
            <p:nvPr userDrawn="1"/>
          </p:nvSpPr>
          <p:spPr>
            <a:xfrm flipH="1">
              <a:off x="1538277" y="2175145"/>
              <a:ext cx="181669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hlinkClick r:id="rId5" tooltip="Безплатен SEO курс - оптимизация за търсачки, уроци по SEO"/>
            </p:cNvPr>
            <p:cNvSpPr txBox="1"/>
            <p:nvPr userDrawn="1"/>
          </p:nvSpPr>
          <p:spPr>
            <a:xfrm flipH="1">
              <a:off x="1660733" y="2421354"/>
              <a:ext cx="169768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5" name="TextBox 34">
              <a:hlinkClick r:id="rId6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 userDrawn="1"/>
          </p:nvSpPr>
          <p:spPr>
            <a:xfrm flipH="1">
              <a:off x="1448482" y="2878556"/>
              <a:ext cx="1908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6" name="TextBox 35">
              <a:hlinkClick r:id="rId7" tooltip="Училищна софтуерна академия - безплатни уроци по програмиране и уеб дизайн"/>
            </p:cNvPr>
            <p:cNvSpPr txBox="1"/>
            <p:nvPr userDrawn="1"/>
          </p:nvSpPr>
          <p:spPr>
            <a:xfrm flipH="1">
              <a:off x="1636239" y="1946534"/>
              <a:ext cx="174759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hlinkClick r:id="rId8" tooltip="Безплатен курс &quot;Програмиране с ASP.NET MVC&quot; - уеб технологии, бази данни, C#, .NET, ASP.NET MVC"/>
            </p:cNvPr>
            <p:cNvSpPr txBox="1"/>
            <p:nvPr userDrawn="1"/>
          </p:nvSpPr>
          <p:spPr>
            <a:xfrm flipH="1">
              <a:off x="3402824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8" name="TextBox 37">
              <a:hlinkClick r:id="rId9" tooltip="Безплатен курс &quot;Разработка на софтуер в Cloud среда&quot; - AppEngine, AWS, Azure"/>
            </p:cNvPr>
            <p:cNvSpPr txBox="1"/>
            <p:nvPr userDrawn="1"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9" name="TextBox 38">
              <a:hlinkClick r:id="rId10" tooltip="BG Coder - онлайн състезателна система - тренировки за състезания по програмиране - online judge"/>
            </p:cNvPr>
            <p:cNvSpPr txBox="1"/>
            <p:nvPr userDrawn="1"/>
          </p:nvSpPr>
          <p:spPr>
            <a:xfrm flipH="1">
              <a:off x="3389110" y="1523999"/>
              <a:ext cx="187428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0" name="TextBox 39">
              <a:hlinkClick r:id="rId11" tooltip="Светлин Наков - курсове и уроци по програмиране, уеб дизайн, книги, обучения - безплатно"/>
            </p:cNvPr>
            <p:cNvSpPr txBox="1"/>
            <p:nvPr userDrawn="1"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1" name="TextBox 40">
              <a:hlinkClick r:id="rId12" tooltip="Безплатен курс &quot;Качествен програмен код&quot;"/>
            </p:cNvPr>
            <p:cNvSpPr txBox="1"/>
            <p:nvPr userDrawn="1"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2" name="TextBox 41">
  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 userDrawn="1"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3" name="TextBox 42">
              <a:hlinkClick r:id="rId14" tooltip="Безплатен ASP.NET курс - уеб програмиране, бази данни, C#, .NET, ASP.NET"/>
            </p:cNvPr>
            <p:cNvSpPr txBox="1"/>
            <p:nvPr userDrawn="1"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4" name="TextBox 43">
              <a:hlinkClick r:id="rId15" tooltip="Софтуерна академия на Телерик - безплатни курсове и уроци по програмиране"/>
            </p:cNvPr>
            <p:cNvSpPr txBox="1"/>
            <p:nvPr userDrawn="1"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5" name="TextBox 44">
              <a:hlinkClick r:id="rId16" tooltip="Безплатен курс &quot;Разработка на мобилни приложения&quot; - iPhone, Android, Windows Phone, PhoneGap, HTML5, jQuery, AJAX"/>
            </p:cNvPr>
            <p:cNvSpPr txBox="1"/>
            <p:nvPr userDrawn="1"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6" name="TextBox 45">
              <a:hlinkClick r:id="rId17" tooltip="Free C# Programming Book by Svetlin Nakov - безплатна C# книга от Светлин Наков, книга C#, книга Java, безплатна книга"/>
            </p:cNvPr>
            <p:cNvSpPr txBox="1"/>
            <p:nvPr userDrawn="1"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7" name="TextBox 46">
              <a:hlinkClick r:id="rId18" tooltip="Дончо Минков - сайт за програмиране"/>
            </p:cNvPr>
            <p:cNvSpPr txBox="1"/>
            <p:nvPr userDrawn="1"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48" name="TextBox 47">
              <a:hlinkClick r:id="rId19" tooltip="Николай Костов - блог за програмиране"/>
            </p:cNvPr>
            <p:cNvSpPr txBox="1"/>
            <p:nvPr userDrawn="1"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hlinkClick r:id="rId20" tooltip="безплатен C# курс в софтуерната академия на Наков"/>
            </p:cNvPr>
            <p:cNvSpPr txBox="1"/>
            <p:nvPr userDrawn="1"/>
          </p:nvSpPr>
          <p:spPr>
            <a:xfrm flipH="1">
              <a:off x="3398079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 userDrawn="1"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 userDrawn="1"/>
        </p:nvSpPr>
        <p:spPr>
          <a:xfrm rot="9535351" flipH="1">
            <a:off x="923386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 userDrawn="1"/>
        </p:nvSpPr>
        <p:spPr>
          <a:xfrm rot="16938170" flipH="1">
            <a:off x="4905823" y="966542"/>
            <a:ext cx="859648" cy="19928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 userDrawn="1"/>
        </p:nvSpPr>
        <p:spPr>
          <a:xfrm rot="19836951" flipH="1">
            <a:off x="7379010" y="1495154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 userDrawn="1"/>
        </p:nvSpPr>
        <p:spPr>
          <a:xfrm rot="2233443" flipH="1">
            <a:off x="2139218" y="940065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 userDrawn="1"/>
        </p:nvSpPr>
        <p:spPr>
          <a:xfrm rot="8530737" flipH="1">
            <a:off x="4757100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 userDrawn="1"/>
        </p:nvSpPr>
        <p:spPr>
          <a:xfrm rot="12627025" flipH="1">
            <a:off x="2910497" y="4405707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 userDrawn="1"/>
        </p:nvSpPr>
        <p:spPr>
          <a:xfrm rot="1186146" flipH="1">
            <a:off x="6185957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 userDrawn="1"/>
        </p:nvSpPr>
        <p:spPr>
          <a:xfrm rot="19460650" flipH="1">
            <a:off x="3150206" y="1979501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 userDrawn="1"/>
        </p:nvSpPr>
        <p:spPr>
          <a:xfrm rot="18277140" flipH="1">
            <a:off x="405234" y="3272336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 userDrawn="1"/>
        </p:nvSpPr>
        <p:spPr>
          <a:xfrm rot="18695734" flipH="1">
            <a:off x="3127407" y="5396299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 userDrawn="1"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 userDrawn="1"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 userDrawn="1"/>
        </p:nvSpPr>
        <p:spPr>
          <a:xfrm rot="20840689" flipH="1">
            <a:off x="8186733" y="5517701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 userDrawn="1"/>
        </p:nvSpPr>
        <p:spPr>
          <a:xfrm rot="15426793" flipH="1">
            <a:off x="1145826" y="4072253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 userDrawn="1"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 userDrawn="1"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 userDrawn="1"/>
        </p:nvSpPr>
        <p:spPr>
          <a:xfrm rot="2086872" flipH="1">
            <a:off x="8330354" y="1359227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1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 userDrawn="1"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00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47650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52400" y="228600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688" r:id="rId2"/>
    <p:sldLayoutId id="2147483704" r:id="rId3"/>
    <p:sldLayoutId id="2147483689" r:id="rId4"/>
    <p:sldLayoutId id="214748370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r" rtl="0" eaLnBrk="0" fontAlgn="base" hangingPunct="0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0" fontAlgn="base" hangingPunct="0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0" fontAlgn="base" hangingPunct="0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0" fontAlgn="base" hangingPunct="0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0" fontAlgn="base" hangingPunct="0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0" fontAlgn="base" hangingPunct="0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jpe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academy.telerik.com/" TargetMode="Externa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csharpfundamentals.telerik.com/" TargetMode="Externa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://facebook.com/TelerikAcademy" TargetMode="External"/><Relationship Id="rId3" Type="http://schemas.openxmlformats.org/officeDocument/2006/relationships/hyperlink" Target="http://academy.telerik.com/" TargetMode="External"/><Relationship Id="rId7" Type="http://schemas.openxmlformats.org/officeDocument/2006/relationships/image" Target="../media/image19.png"/><Relationship Id="rId2" Type="http://schemas.openxmlformats.org/officeDocument/2006/relationships/hyperlink" Target="http://csharpfundamentals.teleri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hyperlink" Target="http://forums.academy.telerik.com/" TargetMode="External"/><Relationship Id="rId10" Type="http://schemas.openxmlformats.org/officeDocument/2006/relationships/image" Target="../media/image21.png"/><Relationship Id="rId4" Type="http://schemas.openxmlformats.org/officeDocument/2006/relationships/hyperlink" Target="http://www.facebook.com/telerikacademy" TargetMode="External"/><Relationship Id="rId9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4" descr="http://api.ning.com/files/hxUyDl6s-nWhufNnxrDwS5RIfzA26cOhkxz5s*CyL*ScbS1dMnKaX*6OheyES7eZTNETWRdjEdcWFjoqpl7HPWBRnRV1fl6E/multidimensional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1" r="3030"/>
          <a:stretch/>
        </p:blipFill>
        <p:spPr bwMode="auto">
          <a:xfrm>
            <a:off x="5384800" y="4572000"/>
            <a:ext cx="3149600" cy="1828800"/>
          </a:xfrm>
          <a:prstGeom prst="roundRect">
            <a:avLst>
              <a:gd name="adj" fmla="val 1389"/>
            </a:avLst>
          </a:prstGeom>
          <a:noFill/>
          <a:ln w="3175">
            <a:noFill/>
          </a:ln>
          <a:effectLst>
            <a:glow rad="38100">
              <a:schemeClr val="accent5">
                <a:satMod val="175000"/>
                <a:alpha val="30000"/>
              </a:schemeClr>
            </a:glo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76400"/>
            <a:ext cx="8229600" cy="1524000"/>
          </a:xfrm>
        </p:spPr>
        <p:txBody>
          <a:bodyPr/>
          <a:lstStyle/>
          <a:p>
            <a:r>
              <a:rPr lang="en-US" dirty="0" smtClean="0"/>
              <a:t>JavaScript Patterns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317080"/>
            <a:ext cx="8229600" cy="569120"/>
          </a:xfrm>
        </p:spPr>
        <p:txBody>
          <a:bodyPr/>
          <a:lstStyle/>
          <a:p>
            <a:r>
              <a:rPr lang="en-US" dirty="0" smtClean="0"/>
              <a:t>Private/Public fields, Module, Revealing Module</a:t>
            </a:r>
            <a:endParaRPr lang="en-US" dirty="0"/>
          </a:p>
        </p:txBody>
      </p:sp>
      <p:pic>
        <p:nvPicPr>
          <p:cNvPr id="21" name="Picture 2" descr="http://www.reconnections.net/multidimensional.jpg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955" y="3936238"/>
            <a:ext cx="23241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 Placeholder 6"/>
          <p:cNvSpPr>
            <a:spLocks noGrp="1"/>
          </p:cNvSpPr>
          <p:nvPr/>
        </p:nvSpPr>
        <p:spPr>
          <a:xfrm>
            <a:off x="219536" y="5556243"/>
            <a:ext cx="3990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319088" indent="-3190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Learning &amp; Development Team</a:t>
            </a:r>
            <a:endParaRPr lang="en-US" dirty="0"/>
          </a:p>
        </p:txBody>
      </p:sp>
      <p:sp>
        <p:nvSpPr>
          <p:cNvPr id="26" name="Text Placeholder 7"/>
          <p:cNvSpPr>
            <a:spLocks noGrp="1"/>
          </p:cNvSpPr>
          <p:nvPr/>
        </p:nvSpPr>
        <p:spPr>
          <a:xfrm>
            <a:off x="219537" y="5861043"/>
            <a:ext cx="399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319088" indent="-3190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hlinkClick r:id="rId6"/>
              </a:rPr>
              <a:t>http://academy.telerik.com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7" name="Text Placeholder 13"/>
          <p:cNvSpPr>
            <a:spLocks noGrp="1"/>
          </p:cNvSpPr>
          <p:nvPr/>
        </p:nvSpPr>
        <p:spPr>
          <a:xfrm>
            <a:off x="219537" y="5181600"/>
            <a:ext cx="3990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400" b="1" kern="1200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Telerik Software Academy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70101">
            <a:off x="317970" y="784384"/>
            <a:ext cx="2402111" cy="1934881"/>
          </a:xfrm>
          <a:prstGeom prst="round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38"/>
          <a:stretch/>
        </p:blipFill>
        <p:spPr>
          <a:xfrm rot="903727">
            <a:off x="5940424" y="540391"/>
            <a:ext cx="2038350" cy="17032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Contents</a:t>
            </a:r>
            <a:endParaRPr lang="bg-BG" dirty="0"/>
          </a:p>
        </p:txBody>
      </p:sp>
      <p:sp>
        <p:nvSpPr>
          <p:cNvPr id="42393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685800"/>
            <a:ext cx="8686800" cy="5943600"/>
          </a:xfrm>
        </p:spPr>
        <p:txBody>
          <a:bodyPr/>
          <a:lstStyle/>
          <a:p>
            <a:pPr marL="447675" indent="-447675">
              <a:lnSpc>
                <a:spcPct val="100000"/>
              </a:lnSpc>
              <a:buFont typeface="+mj-lt"/>
              <a:buAutoNum type="arabicPeriod"/>
              <a:tabLst/>
            </a:pPr>
            <a:r>
              <a:rPr lang="en-US" dirty="0" smtClean="0"/>
              <a:t>Public/Private fields in JavaScript</a:t>
            </a:r>
          </a:p>
          <a:p>
            <a:pPr marL="447675" indent="-447675">
              <a:lnSpc>
                <a:spcPct val="100000"/>
              </a:lnSpc>
              <a:buFont typeface="+mj-lt"/>
              <a:buAutoNum type="arabicPeriod"/>
              <a:tabLst/>
            </a:pPr>
            <a:r>
              <a:rPr lang="en-US" dirty="0" smtClean="0"/>
              <a:t>Module pattern</a:t>
            </a:r>
          </a:p>
          <a:p>
            <a:pPr marL="795338" lvl="1" indent="-447675">
              <a:lnSpc>
                <a:spcPct val="100000"/>
              </a:lnSpc>
              <a:buFont typeface="+mj-lt"/>
              <a:buAutoNum type="arabicPeriod"/>
            </a:pPr>
            <a:r>
              <a:rPr lang="en-US" dirty="0" smtClean="0"/>
              <a:t>Pros and cons</a:t>
            </a:r>
          </a:p>
          <a:p>
            <a:pPr marL="795338" lvl="1" indent="-447675">
              <a:lnSpc>
                <a:spcPct val="100000"/>
              </a:lnSpc>
              <a:buFont typeface="+mj-lt"/>
              <a:buAutoNum type="arabicPeriod"/>
            </a:pPr>
            <a:r>
              <a:rPr lang="en-US" dirty="0" smtClean="0"/>
              <a:t>Structure</a:t>
            </a:r>
          </a:p>
          <a:p>
            <a:pPr marL="795338" lvl="1" indent="-447675">
              <a:lnSpc>
                <a:spcPct val="100000"/>
              </a:lnSpc>
              <a:buFont typeface="+mj-lt"/>
              <a:buAutoNum type="arabicPeriod"/>
            </a:pPr>
            <a:r>
              <a:rPr lang="en-US" dirty="0" smtClean="0"/>
              <a:t>Live demo</a:t>
            </a:r>
          </a:p>
          <a:p>
            <a:pPr marL="447675" indent="-447675">
              <a:lnSpc>
                <a:spcPct val="100000"/>
              </a:lnSpc>
              <a:buFont typeface="+mj-lt"/>
              <a:buAutoNum type="arabicPeriod"/>
              <a:tabLst/>
            </a:pPr>
            <a:r>
              <a:rPr lang="en-US" dirty="0" smtClean="0"/>
              <a:t>Revealing module</a:t>
            </a:r>
          </a:p>
          <a:p>
            <a:pPr marL="795338" lvl="1" indent="-447675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Pros and cons</a:t>
            </a:r>
          </a:p>
          <a:p>
            <a:pPr marL="795338" lvl="1" indent="-447675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Structure</a:t>
            </a:r>
          </a:p>
          <a:p>
            <a:pPr marL="795338" lvl="1" indent="-447675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Live demo</a:t>
            </a:r>
          </a:p>
          <a:p>
            <a:pPr marL="447675" indent="-447675">
              <a:lnSpc>
                <a:spcPct val="100000"/>
              </a:lnSpc>
              <a:buFont typeface="+mj-lt"/>
              <a:buAutoNum type="arabicPeriod"/>
              <a:tabLst/>
            </a:pPr>
            <a:endParaRPr lang="en-US" dirty="0" smtClean="0"/>
          </a:p>
          <a:p>
            <a:pPr marL="447675" indent="-447675">
              <a:lnSpc>
                <a:spcPct val="100000"/>
              </a:lnSpc>
              <a:buFont typeface="+mj-lt"/>
              <a:buAutoNum type="arabicPeriod"/>
              <a:tabLst/>
            </a:pPr>
            <a:endParaRPr lang="en-US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357282"/>
            <a:ext cx="4571999" cy="280509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2268054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8274" y="1295400"/>
            <a:ext cx="7772400" cy="762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Public/Private fields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9674" y="2209800"/>
            <a:ext cx="8229600" cy="569120"/>
          </a:xfrm>
        </p:spPr>
        <p:txBody>
          <a:bodyPr/>
          <a:lstStyle/>
          <a:p>
            <a:r>
              <a:rPr lang="en-US" dirty="0" smtClean="0"/>
              <a:t>Using the function scope</a:t>
            </a:r>
            <a:endParaRPr lang="en-US" dirty="0"/>
          </a:p>
        </p:txBody>
      </p:sp>
      <p:pic>
        <p:nvPicPr>
          <p:cNvPr id="39937" name="Picture 1" descr="C:\Trash\coordinate-system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433" t="-3828" r="-3004" b="-3350"/>
          <a:stretch>
            <a:fillRect/>
          </a:stretch>
        </p:blipFill>
        <p:spPr bwMode="auto">
          <a:xfrm>
            <a:off x="3182464" y="3227294"/>
            <a:ext cx="2784021" cy="2514600"/>
          </a:xfrm>
          <a:prstGeom prst="roundRect">
            <a:avLst>
              <a:gd name="adj" fmla="val 5952"/>
            </a:avLst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6321109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Public/Private Fields</a:t>
            </a:r>
            <a:endParaRPr lang="bg-BG" sz="3600" dirty="0"/>
          </a:p>
        </p:txBody>
      </p:sp>
      <p:sp>
        <p:nvSpPr>
          <p:cNvPr id="492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Each variable is defined: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In the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global</a:t>
            </a:r>
            <a:r>
              <a:rPr lang="en-US" dirty="0" smtClean="0"/>
              <a:t> scope (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Public</a:t>
            </a:r>
            <a:r>
              <a:rPr lang="en-US" dirty="0" smtClean="0"/>
              <a:t>)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In a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function</a:t>
            </a:r>
            <a:r>
              <a:rPr lang="en-US" dirty="0" smtClean="0"/>
              <a:t> scope (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Private</a:t>
            </a:r>
            <a:r>
              <a:rPr lang="en-US" dirty="0" smtClean="0"/>
              <a:t>)</a:t>
            </a:r>
          </a:p>
          <a:p>
            <a:pPr lvl="1">
              <a:lnSpc>
                <a:spcPct val="100000"/>
              </a:lnSpc>
            </a:pPr>
            <a:endParaRPr lang="bg-B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555812" y="3124200"/>
            <a:ext cx="7777163" cy="313932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global = 5;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function myFunction() {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var private = global;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function innerFunction(){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var innerPrivate = private;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}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2507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3810000"/>
            <a:ext cx="5829300" cy="1371601"/>
          </a:xfrm>
        </p:spPr>
        <p:txBody>
          <a:bodyPr/>
          <a:lstStyle/>
          <a:p>
            <a:pPr>
              <a:lnSpc>
                <a:spcPts val="5200"/>
              </a:lnSpc>
            </a:pPr>
            <a:r>
              <a:rPr lang="en-US" dirty="0" smtClean="0"/>
              <a:t>Public/Private fields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5181600"/>
            <a:ext cx="82296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2049" name="Picture 1" descr="C:\Trash\matrix2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124200" y="1031080"/>
            <a:ext cx="2895600" cy="2553919"/>
          </a:xfrm>
          <a:prstGeom prst="roundRect">
            <a:avLst>
              <a:gd name="adj" fmla="val 6597"/>
            </a:avLst>
          </a:prstGeom>
          <a:noFill/>
        </p:spPr>
      </p:pic>
    </p:spTree>
    <p:extLst>
      <p:ext uri="{BB962C8B-B14F-4D97-AF65-F5344CB8AC3E}">
        <p14:creationId xmlns:p14="http://schemas.microsoft.com/office/powerpoint/2010/main" val="1354070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772400" cy="762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The Module Pattern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209800"/>
            <a:ext cx="8229600" cy="569120"/>
          </a:xfrm>
        </p:spPr>
        <p:txBody>
          <a:bodyPr/>
          <a:lstStyle/>
          <a:p>
            <a:r>
              <a:rPr lang="en-US" dirty="0" smtClean="0"/>
              <a:t>Hide members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447" y="3048000"/>
            <a:ext cx="3677771" cy="275832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754594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Pros and Cons</a:t>
            </a:r>
            <a:endParaRPr lang="bg-BG" sz="3600" dirty="0"/>
          </a:p>
        </p:txBody>
      </p:sp>
      <p:sp>
        <p:nvSpPr>
          <p:cNvPr id="49254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Pros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:</a:t>
            </a:r>
            <a:endParaRPr lang="en-US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lvl="1">
              <a:lnSpc>
                <a:spcPct val="100000"/>
              </a:lnSpc>
              <a:spcAft>
                <a:spcPts val="300"/>
              </a:spcAft>
            </a:pPr>
            <a:r>
              <a:rPr lang="en-US" dirty="0"/>
              <a:t>“Modularize” code into re-useable </a:t>
            </a:r>
            <a:r>
              <a:rPr lang="en-US" dirty="0" smtClean="0"/>
              <a:t>objects</a:t>
            </a:r>
            <a:endParaRPr lang="en-US" dirty="0"/>
          </a:p>
          <a:p>
            <a:pPr lvl="1">
              <a:lnSpc>
                <a:spcPct val="100000"/>
              </a:lnSpc>
              <a:spcAft>
                <a:spcPts val="300"/>
              </a:spcAft>
            </a:pPr>
            <a:r>
              <a:rPr lang="en-US" dirty="0"/>
              <a:t>Variables/functions </a:t>
            </a:r>
            <a:r>
              <a:rPr lang="en-US" dirty="0" smtClean="0"/>
              <a:t>taken out of global </a:t>
            </a:r>
            <a:r>
              <a:rPr lang="en-US" dirty="0" smtClean="0"/>
              <a:t>namespace</a:t>
            </a:r>
            <a:endParaRPr lang="en-US" dirty="0"/>
          </a:p>
          <a:p>
            <a:pPr lvl="1">
              <a:lnSpc>
                <a:spcPct val="100000"/>
              </a:lnSpc>
              <a:spcAft>
                <a:spcPts val="300"/>
              </a:spcAft>
            </a:pPr>
            <a:r>
              <a:rPr lang="en-US" dirty="0" smtClean="0"/>
              <a:t>Expose only public members</a:t>
            </a:r>
            <a:endParaRPr lang="en-US" b="0" dirty="0"/>
          </a:p>
          <a:p>
            <a:pPr>
              <a:spcAft>
                <a:spcPts val="300"/>
              </a:spcAft>
            </a:pP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Cons: </a:t>
            </a:r>
            <a:endParaRPr lang="en-US" sz="3600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lvl="1">
              <a:spcAft>
                <a:spcPts val="300"/>
              </a:spcAft>
            </a:pPr>
            <a:r>
              <a:rPr lang="en-US" dirty="0" smtClean="0"/>
              <a:t>Functions </a:t>
            </a:r>
            <a:r>
              <a:rPr lang="en-US" dirty="0"/>
              <a:t>may be duplicated across objects in memory </a:t>
            </a:r>
            <a:r>
              <a:rPr lang="en-US" dirty="0" smtClean="0"/>
              <a:t>(singleton may solve this problem)</a:t>
            </a:r>
            <a:endParaRPr lang="en-US" dirty="0" smtClean="0"/>
          </a:p>
          <a:p>
            <a:pPr lvl="1">
              <a:spcAft>
                <a:spcPts val="300"/>
              </a:spcAft>
            </a:pPr>
            <a:r>
              <a:rPr lang="en-US" dirty="0" smtClean="0"/>
              <a:t>Not </a:t>
            </a:r>
            <a:r>
              <a:rPr lang="en-US" dirty="0"/>
              <a:t>easy to extend 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Some complain about </a:t>
            </a:r>
            <a:r>
              <a:rPr lang="en-US" dirty="0" smtClean="0"/>
              <a:t>debugging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3212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76200"/>
            <a:ext cx="7086600" cy="838200"/>
          </a:xfrm>
        </p:spPr>
        <p:txBody>
          <a:bodyPr/>
          <a:lstStyle/>
          <a:p>
            <a:r>
              <a:rPr lang="en-US" sz="3600" dirty="0" smtClean="0"/>
              <a:t>Structure</a:t>
            </a:r>
            <a:endParaRPr lang="bg-BG" sz="3600" dirty="0"/>
          </a:p>
        </p:txBody>
      </p:sp>
      <p:sp>
        <p:nvSpPr>
          <p:cNvPr id="492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b="0" dirty="0"/>
          </a:p>
          <a:p>
            <a:pPr lvl="1">
              <a:lnSpc>
                <a:spcPct val="100000"/>
              </a:lnSpc>
            </a:pPr>
            <a:endParaRPr lang="bg-B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55812" y="1600200"/>
            <a:ext cx="7777163" cy="280076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module = (function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 {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//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private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variables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private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functions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return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	//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members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};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});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49624" y="914400"/>
            <a:ext cx="8686800" cy="609600"/>
          </a:xfrm>
          <a:prstGeom prst="rect">
            <a:avLst/>
          </a:prstGeom>
        </p:spPr>
        <p:txBody>
          <a:bodyPr/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 smtClean="0"/>
              <a:t>Structure:</a:t>
            </a:r>
            <a:endParaRPr lang="en-US" b="0" dirty="0" smtClean="0"/>
          </a:p>
          <a:p>
            <a:pPr lvl="1">
              <a:lnSpc>
                <a:spcPct val="100000"/>
              </a:lnSpc>
            </a:pPr>
            <a:endParaRPr lang="bg-BG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49624" y="4724400"/>
            <a:ext cx="8686800" cy="1600200"/>
          </a:xfrm>
          <a:prstGeom prst="rect">
            <a:avLst/>
          </a:prstGeom>
        </p:spPr>
        <p:txBody>
          <a:bodyPr/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 smtClean="0"/>
              <a:t>Usage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With the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new</a:t>
            </a:r>
            <a:r>
              <a:rPr lang="en-US" dirty="0" smtClean="0"/>
              <a:t> keyword</a:t>
            </a:r>
          </a:p>
          <a:p>
            <a:pPr lvl="1">
              <a:lnSpc>
                <a:spcPct val="100000"/>
              </a:lnSpc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9355615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76200"/>
            <a:ext cx="7086600" cy="838200"/>
          </a:xfrm>
        </p:spPr>
        <p:txBody>
          <a:bodyPr/>
          <a:lstStyle/>
          <a:p>
            <a:r>
              <a:rPr lang="en-US" sz="3600" dirty="0" smtClean="0"/>
              <a:t>Example</a:t>
            </a:r>
            <a:endParaRPr lang="bg-BG" sz="3600" dirty="0"/>
          </a:p>
        </p:txBody>
      </p:sp>
      <p:sp>
        <p:nvSpPr>
          <p:cNvPr id="492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b="0" dirty="0"/>
          </a:p>
          <a:p>
            <a:pPr lvl="1">
              <a:lnSpc>
                <a:spcPct val="100000"/>
              </a:lnSpc>
            </a:pPr>
            <a:endParaRPr lang="bg-B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55812" y="1371600"/>
            <a:ext cx="7777163" cy="449353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Calculator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(function(eq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var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eqCtl = document.getElementById(eq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return {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add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 function(x,y) { </a:t>
            </a: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	var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val = x + y;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		eqCtl.innerHTML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val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} 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});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calculator = new Calculator('eq'); calculator.add(2,2);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49624" y="762000"/>
            <a:ext cx="8686800" cy="609600"/>
          </a:xfrm>
          <a:prstGeom prst="rect">
            <a:avLst/>
          </a:prstGeom>
        </p:spPr>
        <p:txBody>
          <a:bodyPr/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 smtClean="0"/>
              <a:t>Example:</a:t>
            </a:r>
            <a:endParaRPr lang="en-US" b="0" dirty="0" smtClean="0"/>
          </a:p>
          <a:p>
            <a:pPr lvl="1">
              <a:lnSpc>
                <a:spcPct val="100000"/>
              </a:lnSpc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915830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76200"/>
            <a:ext cx="7086600" cy="838200"/>
          </a:xfrm>
        </p:spPr>
        <p:txBody>
          <a:bodyPr/>
          <a:lstStyle/>
          <a:p>
            <a:r>
              <a:rPr lang="en-US" sz="3600" dirty="0"/>
              <a:t>Example with Namespace</a:t>
            </a:r>
            <a:endParaRPr lang="bg-BG" sz="3600" dirty="0"/>
          </a:p>
        </p:txBody>
      </p:sp>
      <p:sp>
        <p:nvSpPr>
          <p:cNvPr id="492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b="0" dirty="0"/>
          </a:p>
          <a:p>
            <a:pPr lvl="1">
              <a:lnSpc>
                <a:spcPct val="100000"/>
              </a:lnSpc>
            </a:pPr>
            <a:endParaRPr lang="bg-B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55812" y="1371600"/>
            <a:ext cx="7777163" cy="483209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Helpers = Helpers || {};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Helpers.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Calculator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(function(eq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var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eqCtl = document.getElementById(eq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return {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add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 function(x,y) { </a:t>
            </a: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	var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val = x + y;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		eqCtl.innerHTML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val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} 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});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calculator = new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Helpers.Calculator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('eq'); calculator.add(2,2);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49624" y="762000"/>
            <a:ext cx="8686800" cy="609600"/>
          </a:xfrm>
          <a:prstGeom prst="rect">
            <a:avLst/>
          </a:prstGeom>
        </p:spPr>
        <p:txBody>
          <a:bodyPr/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 smtClean="0"/>
              <a:t>Example:</a:t>
            </a:r>
            <a:endParaRPr lang="en-US" b="0" dirty="0" smtClean="0"/>
          </a:p>
          <a:p>
            <a:pPr lvl="1">
              <a:lnSpc>
                <a:spcPct val="100000"/>
              </a:lnSpc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75277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Summary</a:t>
            </a:r>
            <a:endParaRPr lang="bg-BG" sz="3600" dirty="0"/>
          </a:p>
        </p:txBody>
      </p:sp>
      <p:sp>
        <p:nvSpPr>
          <p:cNvPr id="492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Module </a:t>
            </a:r>
            <a:r>
              <a:rPr lang="en-US" dirty="0"/>
              <a:t>pattern provides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encapsulation</a:t>
            </a:r>
            <a:r>
              <a:rPr lang="en-US" dirty="0"/>
              <a:t> of variables and functions </a:t>
            </a:r>
            <a:endParaRPr lang="en-US" b="0" dirty="0"/>
          </a:p>
          <a:p>
            <a:r>
              <a:rPr lang="en-US" dirty="0" smtClean="0"/>
              <a:t>Provides </a:t>
            </a:r>
            <a:r>
              <a:rPr lang="en-US" dirty="0"/>
              <a:t>a way to add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visibility</a:t>
            </a:r>
            <a:r>
              <a:rPr lang="en-US" dirty="0"/>
              <a:t> (public versus private) to members </a:t>
            </a:r>
            <a:endParaRPr lang="en-US" b="0" dirty="0"/>
          </a:p>
          <a:p>
            <a:r>
              <a:rPr lang="en-US" dirty="0" smtClean="0"/>
              <a:t>Each </a:t>
            </a:r>
            <a:r>
              <a:rPr lang="en-US" dirty="0"/>
              <a:t>object instance creates new copies of functions in memory </a:t>
            </a:r>
            <a:endParaRPr lang="en-US" b="0" dirty="0"/>
          </a:p>
          <a:p>
            <a:r>
              <a:rPr lang="en-US" dirty="0" smtClean="0"/>
              <a:t>Extending </a:t>
            </a:r>
            <a:r>
              <a:rPr lang="en-US" dirty="0"/>
              <a:t>objects can be difficult since no prototyping is used</a:t>
            </a:r>
            <a:endParaRPr lang="en-US" b="0" dirty="0"/>
          </a:p>
          <a:p>
            <a:endParaRPr lang="en-US" b="0" dirty="0"/>
          </a:p>
          <a:p>
            <a:pPr lvl="1">
              <a:lnSpc>
                <a:spcPct val="100000"/>
              </a:lnSpc>
            </a:pPr>
            <a:endParaRPr lang="bg-B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2748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0700" y="4191000"/>
            <a:ext cx="5562600" cy="914400"/>
          </a:xfrm>
        </p:spPr>
        <p:txBody>
          <a:bodyPr/>
          <a:lstStyle/>
          <a:p>
            <a:pPr>
              <a:lnSpc>
                <a:spcPts val="5200"/>
              </a:lnSpc>
            </a:pPr>
            <a:r>
              <a:rPr lang="en-US" dirty="0" smtClean="0"/>
              <a:t>Module Pattern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5029200"/>
            <a:ext cx="82296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143000"/>
            <a:ext cx="2743200" cy="276148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14874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2514600"/>
            <a:ext cx="5715000" cy="762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The Revealing Module Pattern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" y="4038600"/>
            <a:ext cx="6629400" cy="569120"/>
          </a:xfrm>
        </p:spPr>
        <p:txBody>
          <a:bodyPr/>
          <a:lstStyle/>
          <a:p>
            <a:r>
              <a:rPr lang="en-US" dirty="0" smtClean="0"/>
              <a:t>Reveal the most interesting </a:t>
            </a:r>
          </a:p>
          <a:p>
            <a:r>
              <a:rPr lang="en-US" dirty="0" smtClean="0"/>
              <a:t>members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506" y="1905000"/>
            <a:ext cx="1981200" cy="300181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2493222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Pros and Cons</a:t>
            </a:r>
            <a:endParaRPr lang="bg-BG" sz="3600" dirty="0"/>
          </a:p>
        </p:txBody>
      </p:sp>
      <p:sp>
        <p:nvSpPr>
          <p:cNvPr id="49254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762000"/>
            <a:ext cx="8686800" cy="579120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Pros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: </a:t>
            </a:r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dirty="0" smtClean="0"/>
              <a:t>“</a:t>
            </a:r>
            <a:r>
              <a:rPr lang="en-US" dirty="0"/>
              <a:t>Modularize” code into re-useable objects 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Variables/functions taken out of global namespace 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Expose only public members 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"Cleaner" way to expose public members </a:t>
            </a:r>
            <a:endParaRPr lang="en-US" b="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Cons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: </a:t>
            </a:r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dirty="0" smtClean="0"/>
              <a:t>Functions </a:t>
            </a:r>
            <a:r>
              <a:rPr lang="en-US" dirty="0"/>
              <a:t>may be duplicated across objects in memory when not using singleton 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dirty="0" smtClean="0"/>
              <a:t>Not </a:t>
            </a:r>
            <a:r>
              <a:rPr lang="en-US" dirty="0"/>
              <a:t>easy to extend 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dirty="0" smtClean="0"/>
              <a:t>Some </a:t>
            </a:r>
            <a:r>
              <a:rPr lang="en-US" dirty="0"/>
              <a:t>complain about debugging</a:t>
            </a:r>
          </a:p>
          <a:p>
            <a:endParaRPr lang="en-US" b="0" dirty="0"/>
          </a:p>
          <a:p>
            <a:endParaRPr lang="en-US" b="0" dirty="0"/>
          </a:p>
          <a:p>
            <a:pPr lvl="1">
              <a:lnSpc>
                <a:spcPct val="100000"/>
              </a:lnSpc>
            </a:pPr>
            <a:endParaRPr lang="bg-B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6511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76200"/>
            <a:ext cx="7086600" cy="838200"/>
          </a:xfrm>
        </p:spPr>
        <p:txBody>
          <a:bodyPr/>
          <a:lstStyle/>
          <a:p>
            <a:r>
              <a:rPr lang="en-US" sz="3600" dirty="0" smtClean="0"/>
              <a:t>Structure</a:t>
            </a:r>
            <a:endParaRPr lang="bg-BG" sz="3600" dirty="0"/>
          </a:p>
        </p:txBody>
      </p:sp>
      <p:sp>
        <p:nvSpPr>
          <p:cNvPr id="492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b="0" dirty="0"/>
          </a:p>
          <a:p>
            <a:pPr lvl="1">
              <a:lnSpc>
                <a:spcPct val="100000"/>
              </a:lnSpc>
            </a:pPr>
            <a:endParaRPr lang="bg-B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55812" y="1600200"/>
            <a:ext cx="7777163" cy="280076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module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function() {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//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private variables </a:t>
            </a: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private functions </a:t>
            </a: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return {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	//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members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};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r>
              <a:rPr lang="en-US" sz="20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49624" y="914400"/>
            <a:ext cx="8686800" cy="609600"/>
          </a:xfrm>
          <a:prstGeom prst="rect">
            <a:avLst/>
          </a:prstGeom>
        </p:spPr>
        <p:txBody>
          <a:bodyPr/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 smtClean="0"/>
              <a:t>Structure:</a:t>
            </a:r>
            <a:endParaRPr lang="en-US" b="0" dirty="0" smtClean="0"/>
          </a:p>
          <a:p>
            <a:pPr lvl="1">
              <a:lnSpc>
                <a:spcPct val="100000"/>
              </a:lnSpc>
            </a:pPr>
            <a:endParaRPr lang="bg-BG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49624" y="4724400"/>
            <a:ext cx="8686800" cy="1600200"/>
          </a:xfrm>
          <a:prstGeom prst="rect">
            <a:avLst/>
          </a:prstGeom>
        </p:spPr>
        <p:txBody>
          <a:bodyPr/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 smtClean="0"/>
              <a:t>Usage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Without the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new</a:t>
            </a:r>
            <a:r>
              <a:rPr lang="en-US" dirty="0" smtClean="0"/>
              <a:t> keyword</a:t>
            </a:r>
          </a:p>
          <a:p>
            <a:pPr lvl="1">
              <a:lnSpc>
                <a:spcPct val="100000"/>
              </a:lnSpc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7085682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76200"/>
            <a:ext cx="7086600" cy="838200"/>
          </a:xfrm>
        </p:spPr>
        <p:txBody>
          <a:bodyPr/>
          <a:lstStyle/>
          <a:p>
            <a:r>
              <a:rPr lang="en-US" sz="3600" dirty="0" smtClean="0"/>
              <a:t>Example</a:t>
            </a:r>
            <a:endParaRPr lang="bg-BG" sz="3600" dirty="0"/>
          </a:p>
        </p:txBody>
      </p:sp>
      <p:sp>
        <p:nvSpPr>
          <p:cNvPr id="492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b="0" dirty="0"/>
          </a:p>
          <a:p>
            <a:pPr lvl="1">
              <a:lnSpc>
                <a:spcPct val="100000"/>
              </a:lnSpc>
            </a:pPr>
            <a:endParaRPr lang="bg-B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55812" y="1371600"/>
            <a:ext cx="7777163" cy="449353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calculator = function(eq) {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var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eqCtl = document.getElementById(eq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),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 doAdd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function(x,y) { </a:t>
            </a: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	var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val = x + y;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		eqCtl.innerHTML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val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	};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return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 </a:t>
            </a: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add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 doAdd </a:t>
            </a: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};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//Expose public member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}('eqCtl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');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calculator.add(2,2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49624" y="762000"/>
            <a:ext cx="8686800" cy="609600"/>
          </a:xfrm>
          <a:prstGeom prst="rect">
            <a:avLst/>
          </a:prstGeom>
        </p:spPr>
        <p:txBody>
          <a:bodyPr/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 smtClean="0"/>
              <a:t>Example:</a:t>
            </a:r>
            <a:endParaRPr lang="en-US" b="0" dirty="0" smtClean="0"/>
          </a:p>
          <a:p>
            <a:pPr lvl="1">
              <a:lnSpc>
                <a:spcPct val="100000"/>
              </a:lnSpc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198543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Summary</a:t>
            </a:r>
            <a:endParaRPr lang="bg-BG" sz="3600" dirty="0"/>
          </a:p>
        </p:txBody>
      </p:sp>
      <p:sp>
        <p:nvSpPr>
          <p:cNvPr id="492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Module </a:t>
            </a:r>
            <a:r>
              <a:rPr lang="en-US" dirty="0"/>
              <a:t>pattern provides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encapsulation</a:t>
            </a:r>
            <a:r>
              <a:rPr lang="en-US" dirty="0"/>
              <a:t> of variables and functions </a:t>
            </a:r>
            <a:endParaRPr lang="en-US" b="0" dirty="0"/>
          </a:p>
          <a:p>
            <a:r>
              <a:rPr lang="en-US" dirty="0" smtClean="0"/>
              <a:t>Provides </a:t>
            </a:r>
            <a:r>
              <a:rPr lang="en-US" dirty="0"/>
              <a:t>a way to add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visibility</a:t>
            </a:r>
            <a:r>
              <a:rPr lang="en-US" dirty="0"/>
              <a:t> (public versus private) to members </a:t>
            </a:r>
            <a:endParaRPr lang="en-US" b="0" dirty="0"/>
          </a:p>
          <a:p>
            <a:r>
              <a:rPr lang="en-US" dirty="0" smtClean="0"/>
              <a:t>Each </a:t>
            </a:r>
            <a:r>
              <a:rPr lang="en-US" dirty="0"/>
              <a:t>object instance creates new copies of functions in memory </a:t>
            </a:r>
            <a:endParaRPr lang="en-US" b="0" dirty="0"/>
          </a:p>
          <a:p>
            <a:r>
              <a:rPr lang="en-US" dirty="0" smtClean="0"/>
              <a:t>Extending </a:t>
            </a:r>
            <a:r>
              <a:rPr lang="en-US" dirty="0"/>
              <a:t>objects can be difficult since no prototyping is used</a:t>
            </a:r>
            <a:endParaRPr lang="en-US" b="0" dirty="0"/>
          </a:p>
          <a:p>
            <a:endParaRPr lang="en-US" b="0" dirty="0"/>
          </a:p>
          <a:p>
            <a:pPr lvl="1">
              <a:lnSpc>
                <a:spcPct val="100000"/>
              </a:lnSpc>
            </a:pPr>
            <a:endParaRPr lang="bg-B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3890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6535" y="3505200"/>
            <a:ext cx="5562600" cy="914400"/>
          </a:xfrm>
        </p:spPr>
        <p:txBody>
          <a:bodyPr/>
          <a:lstStyle/>
          <a:p>
            <a:pPr>
              <a:lnSpc>
                <a:spcPts val="5200"/>
              </a:lnSpc>
            </a:pPr>
            <a:r>
              <a:rPr lang="en-US" dirty="0" smtClean="0"/>
              <a:t>Revealing Module Pattern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3035" y="4800600"/>
            <a:ext cx="82296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553" y="1524000"/>
            <a:ext cx="3928564" cy="1462087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33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3962400"/>
            <a:ext cx="5562600" cy="914400"/>
          </a:xfrm>
        </p:spPr>
        <p:txBody>
          <a:bodyPr/>
          <a:lstStyle/>
          <a:p>
            <a:pPr>
              <a:lnSpc>
                <a:spcPts val="5200"/>
              </a:lnSpc>
            </a:pPr>
            <a:r>
              <a:rPr lang="en-US" dirty="0" smtClean="0"/>
              <a:t>Extending Existing Module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5105400"/>
            <a:ext cx="82296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258" y="1295400"/>
            <a:ext cx="4274017" cy="222961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20570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Patterns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53006" y="6400800"/>
            <a:ext cx="4172681" cy="369332"/>
          </a:xfrm>
        </p:spPr>
        <p:txBody>
          <a:bodyPr/>
          <a:lstStyle/>
          <a:p>
            <a:r>
              <a:rPr lang="en-US" dirty="0">
                <a:hlinkClick r:id="rId2"/>
              </a:rPr>
              <a:t>http</a:t>
            </a:r>
            <a:r>
              <a:rPr lang="en-US" dirty="0" smtClean="0">
                <a:hlinkClick r:id="rId2"/>
              </a:rPr>
              <a:t>://csharpfundamentals.telerik.com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17833">
            <a:off x="300758" y="4603160"/>
            <a:ext cx="887282" cy="887282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screen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756616">
            <a:off x="3331734" y="4727995"/>
            <a:ext cx="1138673" cy="1138673"/>
          </a:xfrm>
          <a:prstGeom prst="rect">
            <a:avLst/>
          </a:prstGeom>
          <a:noFill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34632">
            <a:off x="6664033" y="4508381"/>
            <a:ext cx="920140" cy="920138"/>
          </a:xfrm>
          <a:prstGeom prst="rect">
            <a:avLst/>
          </a:prstGeom>
          <a:noFill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screen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398845">
            <a:off x="1803246" y="2031846"/>
            <a:ext cx="923970" cy="9239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333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Free Trainings @ Telerik Academy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638800"/>
          </a:xfrm>
        </p:spPr>
        <p:txBody>
          <a:bodyPr/>
          <a:lstStyle/>
          <a:p>
            <a:r>
              <a:rPr lang="en-US" dirty="0" smtClean="0"/>
              <a:t>“C# Programming @ Telerik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>
                <a:hlinkClick r:id="rId2"/>
              </a:rPr>
              <a:t>csharpfundamentals.telerik.com</a:t>
            </a:r>
            <a:endParaRPr lang="en-US" noProof="1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3" tooltip="Telerik Software Academy - Free Programming Courses"/>
              </a:rPr>
              <a:t>academy.telerik.com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Academy @ Facebook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4" tooltip="Telerik Softyware Academy @ Facebook"/>
              </a:rPr>
              <a:t>facebook.com/TelerikAcademy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 Forums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5" tooltip="Telerik Software Academy Forums - Community for Programmers"/>
              </a:rPr>
              <a:t>forums.academy.telerik.com</a:t>
            </a:r>
            <a:endParaRPr lang="en-US" noProof="1"/>
          </a:p>
        </p:txBody>
      </p:sp>
      <p:pic>
        <p:nvPicPr>
          <p:cNvPr id="5" name="Picture 5">
            <a:hlinkClick r:id="rId5" tooltip="Telerik Software Academy Forums - Discussion Board for Developers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23898" y="5218092"/>
            <a:ext cx="1162902" cy="1268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>
            <a:hlinkClick r:id="rId3" tooltip="Telerik Software Academy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48941" y="2667000"/>
            <a:ext cx="3137859" cy="918234"/>
          </a:xfrm>
          <a:prstGeom prst="rect">
            <a:avLst/>
          </a:prstGeom>
          <a:noFill/>
          <a:ln>
            <a:solidFill>
              <a:srgbClr val="9BCC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hlinkClick r:id="rId8" tooltip="Telerik Academy @ Facebook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48587" y="4003901"/>
            <a:ext cx="9382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hlinkClick r:id="rId2"/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025" y="1123558"/>
            <a:ext cx="1124775" cy="112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879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Homework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  <a:tabLst/>
            </a:pPr>
            <a:r>
              <a:rPr lang="en-US" sz="2800" dirty="0" smtClean="0"/>
              <a:t>Create the Snake game using the Revealing module pattern. Design the game such that it has at least three modules.</a:t>
            </a:r>
          </a:p>
          <a:p>
            <a:pPr marL="355600" indent="-355600">
              <a:lnSpc>
                <a:spcPct val="100000"/>
              </a:lnSpc>
              <a:buFontTx/>
              <a:buAutoNum type="arabicPeriod"/>
              <a:tabLst/>
            </a:pPr>
            <a:endParaRPr lang="en-US" sz="2600" dirty="0"/>
          </a:p>
          <a:p>
            <a:pPr marL="355600" indent="-355600">
              <a:lnSpc>
                <a:spcPct val="100000"/>
              </a:lnSpc>
              <a:buFontTx/>
              <a:buAutoNum type="arabicPeriod"/>
              <a:tabLst/>
            </a:pP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362200"/>
            <a:ext cx="5593090" cy="412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4752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a4a685f43802f30b019e9c8f3f4633f75198bd"/>
</p:tagLst>
</file>

<file path=ppt/theme/theme1.xml><?xml version="1.0" encoding="utf-8"?>
<a:theme xmlns:a="http://schemas.openxmlformats.org/drawingml/2006/main" name="Telerik Academy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Deluxe</Template>
  <TotalTime>3090</TotalTime>
  <Words>541</Words>
  <Application>Microsoft Office PowerPoint</Application>
  <PresentationFormat>On-screen Show (4:3)</PresentationFormat>
  <Paragraphs>178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Calibri</vt:lpstr>
      <vt:lpstr>Cambria</vt:lpstr>
      <vt:lpstr>Consolas</vt:lpstr>
      <vt:lpstr>Corbel</vt:lpstr>
      <vt:lpstr>Wingdings 2</vt:lpstr>
      <vt:lpstr>Telerik Academy</vt:lpstr>
      <vt:lpstr>JavaScript Patterns</vt:lpstr>
      <vt:lpstr>Table of Contents</vt:lpstr>
      <vt:lpstr>Public/Private fields</vt:lpstr>
      <vt:lpstr>Public/Private Fields</vt:lpstr>
      <vt:lpstr>Public/Private fields</vt:lpstr>
      <vt:lpstr>The Module Pattern</vt:lpstr>
      <vt:lpstr>Pros and Cons</vt:lpstr>
      <vt:lpstr>Structure</vt:lpstr>
      <vt:lpstr>Example</vt:lpstr>
      <vt:lpstr>Example with Namespace</vt:lpstr>
      <vt:lpstr>Summary</vt:lpstr>
      <vt:lpstr>Module Pattern</vt:lpstr>
      <vt:lpstr>The Revealing Module Pattern</vt:lpstr>
      <vt:lpstr>Pros and Cons</vt:lpstr>
      <vt:lpstr>Structure</vt:lpstr>
      <vt:lpstr>Example</vt:lpstr>
      <vt:lpstr>Summary</vt:lpstr>
      <vt:lpstr>Revealing Module Pattern</vt:lpstr>
      <vt:lpstr>Extending Existing Module</vt:lpstr>
      <vt:lpstr>JavaScript Patterns</vt:lpstr>
      <vt:lpstr>Free Trainings @ Telerik Academy</vt:lpstr>
      <vt:lpstr>Homework</vt:lpstr>
    </vt:vector>
  </TitlesOfParts>
  <Company>Telerik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Multidimensional Arrays</dc:title>
  <dc:subject>Telerik Software Academy</dc:subject>
  <dc:creator>Svetlin Nakov</dc:creator>
  <cp:keywords>arrays, matrices, tables, multidimensional arrays, C#, C# course, telerik software academy, free courses for developers</cp:keywords>
  <cp:lastModifiedBy>Nikolay Kostov</cp:lastModifiedBy>
  <cp:revision>398</cp:revision>
  <dcterms:created xsi:type="dcterms:W3CDTF">2007-12-08T16:03:35Z</dcterms:created>
  <dcterms:modified xsi:type="dcterms:W3CDTF">2014-07-02T13:45:17Z</dcterms:modified>
  <cp:category>software engineering</cp:category>
</cp:coreProperties>
</file>