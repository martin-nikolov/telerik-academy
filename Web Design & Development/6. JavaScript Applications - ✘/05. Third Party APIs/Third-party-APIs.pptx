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315" r:id="rId4"/>
    <p:sldId id="316" r:id="rId5"/>
    <p:sldId id="364" r:id="rId6"/>
    <p:sldId id="392" r:id="rId7"/>
    <p:sldId id="393" r:id="rId8"/>
    <p:sldId id="258" r:id="rId9"/>
    <p:sldId id="342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22" r:id="rId18"/>
    <p:sldId id="372" r:id="rId19"/>
    <p:sldId id="373" r:id="rId20"/>
    <p:sldId id="374" r:id="rId21"/>
    <p:sldId id="376" r:id="rId22"/>
    <p:sldId id="375" r:id="rId23"/>
    <p:sldId id="377" r:id="rId24"/>
    <p:sldId id="289" r:id="rId25"/>
    <p:sldId id="380" r:id="rId26"/>
    <p:sldId id="381" r:id="rId27"/>
    <p:sldId id="300" r:id="rId28"/>
  </p:sldIdLst>
  <p:sldSz cx="9144000" cy="6858000" type="screen4x3"/>
  <p:notesSz cx="6881813" cy="9296400"/>
  <p:custDataLst>
    <p:tags r:id="rId3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BFFDC"/>
    <a:srgbClr val="EBFFD2"/>
    <a:srgbClr val="FAF7C8"/>
    <a:srgbClr val="F4FCD8"/>
    <a:srgbClr val="E8FFC8"/>
    <a:srgbClr val="FAF8C8"/>
    <a:srgbClr val="F5FFC2"/>
    <a:srgbClr val="9BCC00"/>
    <a:srgbClr val="9ED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73" autoAdjust="0"/>
    <p:restoredTop sz="94421" autoAdjust="0"/>
  </p:normalViewPr>
  <p:slideViewPr>
    <p:cSldViewPr>
      <p:cViewPr varScale="1">
        <p:scale>
          <a:sx n="113" d="100"/>
          <a:sy n="113" d="100"/>
        </p:scale>
        <p:origin x="-97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3/18/2014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3/18/2014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7D17C0-77A7-41A6-8856-C39B72C6C7EC}" type="slidenum">
              <a:rPr lang="en-US"/>
              <a:pPr/>
              <a:t>2</a:t>
            </a:fld>
            <a:r>
              <a:rPr lang="en-US" dirty="0"/>
              <a:t>##</a:t>
            </a:r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15314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leri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4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5000" endPos="49000" dist="50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24046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57446"/>
            <a:ext cx="20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Telerik Corporation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062246"/>
            <a:ext cx="170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www.telerik.com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60113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  <p:sldLayoutId id="214748370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nikolay.it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developers.google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developers.google.com/maps/documentation/javascript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consol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algoacademy.telerik.com/" TargetMode="Externa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6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00200"/>
            <a:ext cx="8610600" cy="1524000"/>
          </a:xfrm>
        </p:spPr>
        <p:txBody>
          <a:bodyPr/>
          <a:lstStyle/>
          <a:p>
            <a:pPr>
              <a:lnSpc>
                <a:spcPts val="6000"/>
              </a:lnSpc>
            </a:pPr>
            <a:r>
              <a:rPr lang="en-US" dirty="0" smtClean="0"/>
              <a:t>Third Party APIs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352800"/>
            <a:ext cx="7905750" cy="569120"/>
          </a:xfrm>
        </p:spPr>
        <p:txBody>
          <a:bodyPr/>
          <a:lstStyle/>
          <a:p>
            <a:r>
              <a:rPr lang="en-US" smtClean="0"/>
              <a:t>Google APIs </a:t>
            </a:r>
            <a:r>
              <a:rPr lang="en-US" dirty="0" smtClean="0"/>
              <a:t>and Facebook API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4456093"/>
            <a:ext cx="3352800" cy="954107"/>
          </a:xfrm>
        </p:spPr>
        <p:txBody>
          <a:bodyPr/>
          <a:lstStyle/>
          <a:p>
            <a:r>
              <a:rPr lang="en-US" dirty="0" err="1" smtClean="0"/>
              <a:t>Ivaylo</a:t>
            </a:r>
            <a:r>
              <a:rPr lang="en-US" dirty="0" smtClean="0"/>
              <a:t> </a:t>
            </a:r>
            <a:r>
              <a:rPr lang="en-US" dirty="0" err="1" smtClean="0"/>
              <a:t>Kenov</a:t>
            </a:r>
            <a:endParaRPr lang="en-US" dirty="0" smtClean="0"/>
          </a:p>
          <a:p>
            <a:r>
              <a:rPr lang="en-US" dirty="0" err="1" smtClean="0"/>
              <a:t>Penka</a:t>
            </a:r>
            <a:r>
              <a:rPr lang="en-US" dirty="0" smtClean="0"/>
              <a:t> </a:t>
            </a:r>
            <a:r>
              <a:rPr lang="en-US" dirty="0" err="1" smtClean="0"/>
              <a:t>Borukova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5757446"/>
            <a:ext cx="2090957" cy="646331"/>
          </a:xfrm>
        </p:spPr>
        <p:txBody>
          <a:bodyPr/>
          <a:lstStyle/>
          <a:p>
            <a:r>
              <a:rPr lang="en-US" dirty="0"/>
              <a:t>Telerik Corporation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57200" y="6062246"/>
            <a:ext cx="2667000" cy="584775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http:/telerikacademy.com</a:t>
            </a:r>
            <a:endParaRPr lang="en-US" dirty="0"/>
          </a:p>
        </p:txBody>
      </p:sp>
      <p:sp>
        <p:nvSpPr>
          <p:cNvPr id="13" name="Text Placeholder 3"/>
          <p:cNvSpPr txBox="1">
            <a:spLocks/>
          </p:cNvSpPr>
          <p:nvPr/>
        </p:nvSpPr>
        <p:spPr>
          <a:xfrm>
            <a:off x="457200" y="539109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  <a:lvl2pPr marL="630238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Telerik Academy Students</a:t>
            </a:r>
            <a:endParaRPr lang="en-US" sz="2000" dirty="0"/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94855"/>
            <a:ext cx="1371600" cy="1496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52" y="4495800"/>
            <a:ext cx="3386948" cy="1981200"/>
          </a:xfrm>
          <a:prstGeom prst="rect">
            <a:avLst/>
          </a:prstGeom>
        </p:spPr>
      </p:pic>
      <p:pic>
        <p:nvPicPr>
          <p:cNvPr id="1026" name="Picture 2" descr="C:\Telerik\Training\8. JavaScript API\Images\api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20958">
            <a:off x="685800" y="1295400"/>
            <a:ext cx="24384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62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4239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/>
          <a:lstStyle/>
          <a:p>
            <a:pPr marL="442913" indent="-442913">
              <a:lnSpc>
                <a:spcPts val="4500"/>
              </a:lnSpc>
              <a:buFontTx/>
              <a:buAutoNum type="arabicPeriod"/>
            </a:pPr>
            <a:r>
              <a:rPr lang="en-US" dirty="0" smtClean="0"/>
              <a:t>What is API?</a:t>
            </a:r>
          </a:p>
          <a:p>
            <a:pPr marL="442913" indent="-442913">
              <a:lnSpc>
                <a:spcPts val="4500"/>
              </a:lnSpc>
              <a:buFontTx/>
              <a:buAutoNum type="arabicPeriod"/>
            </a:pPr>
            <a:r>
              <a:rPr lang="en-US" dirty="0" smtClean="0"/>
              <a:t>Google API</a:t>
            </a:r>
          </a:p>
          <a:p>
            <a:pPr marL="790576" lvl="1" indent="-442913">
              <a:lnSpc>
                <a:spcPts val="4500"/>
              </a:lnSpc>
              <a:buFontTx/>
              <a:buAutoNum type="arabicPeriod"/>
            </a:pPr>
            <a:r>
              <a:rPr lang="en-US" dirty="0" smtClean="0"/>
              <a:t>Google Maps API</a:t>
            </a:r>
            <a:endParaRPr lang="en-US" dirty="0"/>
          </a:p>
          <a:p>
            <a:pPr marL="790576" lvl="1" indent="-442913">
              <a:lnSpc>
                <a:spcPts val="4500"/>
              </a:lnSpc>
              <a:buFontTx/>
              <a:buAutoNum type="arabicPeriod"/>
            </a:pPr>
            <a:r>
              <a:rPr lang="en-US" dirty="0" smtClean="0"/>
              <a:t>YouTube API</a:t>
            </a:r>
          </a:p>
          <a:p>
            <a:pPr marL="790576" lvl="1" indent="-442913">
              <a:lnSpc>
                <a:spcPts val="4500"/>
              </a:lnSpc>
              <a:buFontTx/>
              <a:buAutoNum type="arabicPeriod"/>
            </a:pPr>
            <a:r>
              <a:rPr lang="en-US" dirty="0" smtClean="0"/>
              <a:t>Google+ API</a:t>
            </a:r>
          </a:p>
          <a:p>
            <a:pPr marL="790576" lvl="1" indent="-442913">
              <a:lnSpc>
                <a:spcPts val="4500"/>
              </a:lnSpc>
              <a:buFontTx/>
              <a:buAutoNum type="arabicPeriod"/>
            </a:pPr>
            <a:r>
              <a:rPr lang="en-US" dirty="0" smtClean="0"/>
              <a:t>Additional APIs</a:t>
            </a:r>
          </a:p>
          <a:p>
            <a:pPr marL="442913" indent="-442913">
              <a:lnSpc>
                <a:spcPts val="4500"/>
              </a:lnSpc>
              <a:buFontTx/>
              <a:buAutoNum type="arabicPeriod"/>
            </a:pPr>
            <a:r>
              <a:rPr lang="en-US" dirty="0" smtClean="0"/>
              <a:t>Facebook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77826" name="Picture 2" descr="http://headrush.typepad.com/photos/uncategorized/book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3443" y="3810000"/>
            <a:ext cx="4019418" cy="2667000"/>
          </a:xfrm>
          <a:prstGeom prst="roundRect">
            <a:avLst>
              <a:gd name="adj" fmla="val 6048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41726352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600200"/>
            <a:ext cx="7924800" cy="685800"/>
          </a:xfrm>
        </p:spPr>
        <p:txBody>
          <a:bodyPr/>
          <a:lstStyle/>
          <a:p>
            <a:r>
              <a:rPr lang="en-US" dirty="0" smtClean="0"/>
              <a:t>What is API?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42925" y="2514600"/>
            <a:ext cx="8058150" cy="569120"/>
          </a:xfrm>
        </p:spPr>
        <p:txBody>
          <a:bodyPr/>
          <a:lstStyle/>
          <a:p>
            <a:r>
              <a:rPr lang="en-US" dirty="0" smtClean="0"/>
              <a:t>Pleasures from beyond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352800"/>
            <a:ext cx="3277034" cy="273086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8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API? (1)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43000"/>
            <a:ext cx="8305800" cy="54102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Application Control Interface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Provides ready functionality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Usually from a remote server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Tools for easy developing 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Normally is divided by blocks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Programmers creates new application by combining these blocks</a:t>
            </a:r>
          </a:p>
          <a:p>
            <a:pPr lvl="1"/>
            <a:endParaRPr lang="en-US" dirty="0" smtClean="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800" y="5334000"/>
            <a:ext cx="3966263" cy="122112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9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API? (2)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43000"/>
            <a:ext cx="8305800" cy="54102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How to use it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Include a script into the HTML containing the URL to the API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Done! You are ready to use all the functionality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Example for Google Maps</a:t>
            </a:r>
          </a:p>
          <a:p>
            <a:pPr lvl="1"/>
            <a:endParaRPr lang="en-US" dirty="0" smtClean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" y="4800600"/>
            <a:ext cx="8153400" cy="158197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&lt;script src="https://maps.googleapis.com/maps/api/js?v=3.exp&amp;sensor=false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script&gt;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704" y="2514600"/>
            <a:ext cx="2366827" cy="182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7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708" y="1905000"/>
            <a:ext cx="7924800" cy="685800"/>
          </a:xfrm>
        </p:spPr>
        <p:txBody>
          <a:bodyPr/>
          <a:lstStyle/>
          <a:p>
            <a:r>
              <a:rPr lang="en-US" dirty="0" smtClean="0"/>
              <a:t>Google APIs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617033" y="2514600"/>
            <a:ext cx="8058150" cy="569120"/>
          </a:xfrm>
        </p:spPr>
        <p:txBody>
          <a:bodyPr/>
          <a:lstStyle/>
          <a:p>
            <a:r>
              <a:rPr lang="en-US" dirty="0" smtClean="0"/>
              <a:t>Thousands!</a:t>
            </a:r>
          </a:p>
        </p:txBody>
      </p:sp>
      <p:pic>
        <p:nvPicPr>
          <p:cNvPr id="5122" name="Picture 2" descr="C:\Telerik\Training\8. JavaScript API\Images\Google-tv-logo3-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276600"/>
            <a:ext cx="3124200" cy="238281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6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Google+ APIs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305800" cy="57150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Go to </a:t>
            </a:r>
            <a:r>
              <a:rPr lang="en-US" dirty="0">
                <a:hlinkClick r:id="rId2"/>
              </a:rPr>
              <a:t>https://developers.google.com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 lvl="1"/>
            <a:r>
              <a:rPr lang="en-US" dirty="0" smtClean="0"/>
              <a:t>YouTube</a:t>
            </a:r>
          </a:p>
          <a:p>
            <a:pPr lvl="1"/>
            <a:r>
              <a:rPr lang="en-US" dirty="0" smtClean="0"/>
              <a:t>Google+</a:t>
            </a:r>
          </a:p>
          <a:p>
            <a:pPr lvl="1"/>
            <a:r>
              <a:rPr lang="en-US" dirty="0" smtClean="0"/>
              <a:t>Google Maps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Android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Google Places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Chrome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Google TV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Games</a:t>
            </a:r>
          </a:p>
          <a:p>
            <a:pPr lvl="1"/>
            <a:endParaRPr lang="en-US" dirty="0" smtClean="0">
              <a:solidFill>
                <a:srgbClr val="FFFFFF"/>
              </a:solidFill>
            </a:endParaRPr>
          </a:p>
        </p:txBody>
      </p:sp>
      <p:pic>
        <p:nvPicPr>
          <p:cNvPr id="6146" name="Picture 2" descr="C:\Telerik\Training\8. JavaScript API\Images\sonos-blown-away-android-maxe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837" y="2438400"/>
            <a:ext cx="4148272" cy="22193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37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7924800" cy="685800"/>
          </a:xfrm>
        </p:spPr>
        <p:txBody>
          <a:bodyPr/>
          <a:lstStyle/>
          <a:p>
            <a:r>
              <a:rPr lang="en-US" dirty="0" smtClean="0"/>
              <a:t>Google Maps API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33400" y="2286000"/>
            <a:ext cx="8058150" cy="569120"/>
          </a:xfrm>
        </p:spPr>
        <p:txBody>
          <a:bodyPr/>
          <a:lstStyle/>
          <a:p>
            <a:r>
              <a:rPr lang="en-US" dirty="0" smtClean="0"/>
              <a:t>The globe is yours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265" y="3200400"/>
            <a:ext cx="3810000" cy="23622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map (1)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43000"/>
            <a:ext cx="8305800" cy="54102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Simple map</a:t>
            </a:r>
            <a:endParaRPr lang="en-US" dirty="0">
              <a:solidFill>
                <a:srgbClr val="FFFFFF"/>
              </a:solidFill>
            </a:endParaRP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The most basic map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Can get coordinates with zoom and display them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API link</a:t>
            </a:r>
          </a:p>
          <a:p>
            <a:pPr marL="0" indent="0">
              <a:buNone/>
            </a:pP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rgbClr val="FAF8C8"/>
              </a:solidFill>
            </a:endParaRP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57200" y="4209245"/>
            <a:ext cx="8153400" cy="158197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&lt;script src="https://maps.googleapis.com/maps/api/js?v=3.exp&amp;sensor=false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script&gt;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51" y="3200400"/>
            <a:ext cx="1838875" cy="13906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1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map (1)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305800" cy="54102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Coordinates are objects with two arguments: Latitude and Longitude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Options for the map: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Type – ROADMAP and SATELLITE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Center – where to initialize the map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Zoom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Methods</a:t>
            </a:r>
          </a:p>
          <a:p>
            <a:pPr lvl="1"/>
            <a:r>
              <a:rPr lang="en-US" dirty="0" err="1" smtClean="0">
                <a:solidFill>
                  <a:srgbClr val="FFFFFF"/>
                </a:solidFill>
              </a:rPr>
              <a:t>panTo</a:t>
            </a:r>
            <a:r>
              <a:rPr lang="en-US" dirty="0" smtClean="0">
                <a:solidFill>
                  <a:srgbClr val="FFFFFF"/>
                </a:solidFill>
              </a:rPr>
              <a:t>(coordinates) – moves the map</a:t>
            </a:r>
          </a:p>
          <a:p>
            <a:pPr lvl="1"/>
            <a:r>
              <a:rPr lang="en-US" dirty="0" err="1" smtClean="0">
                <a:solidFill>
                  <a:srgbClr val="FFFFFF"/>
                </a:solidFill>
              </a:rPr>
              <a:t>setZoom</a:t>
            </a:r>
            <a:r>
              <a:rPr lang="en-US" dirty="0" smtClean="0">
                <a:solidFill>
                  <a:srgbClr val="FFFFFF"/>
                </a:solidFill>
              </a:rPr>
              <a:t>(number) , </a:t>
            </a:r>
            <a:r>
              <a:rPr lang="en-US" dirty="0" err="1" smtClean="0">
                <a:solidFill>
                  <a:srgbClr val="FFFFFF"/>
                </a:solidFill>
              </a:rPr>
              <a:t>setCenter</a:t>
            </a:r>
            <a:r>
              <a:rPr lang="en-US" dirty="0" smtClean="0">
                <a:solidFill>
                  <a:srgbClr val="FFFFFF"/>
                </a:solidFill>
              </a:rPr>
              <a:t>(coordinates)</a:t>
            </a: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rgbClr val="FAF8C8"/>
              </a:solidFill>
            </a:endParaRP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990600"/>
            <a:ext cx="1314782" cy="131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9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743200"/>
            <a:ext cx="7924800" cy="685800"/>
          </a:xfrm>
        </p:spPr>
        <p:txBody>
          <a:bodyPr/>
          <a:lstStyle/>
          <a:p>
            <a:r>
              <a:rPr lang="en-US" dirty="0" smtClean="0"/>
              <a:t>Simple Map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33400" y="3505200"/>
            <a:ext cx="805815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85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options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43000"/>
            <a:ext cx="8305800" cy="5410200"/>
          </a:xfrm>
        </p:spPr>
        <p:txBody>
          <a:bodyPr/>
          <a:lstStyle/>
          <a:p>
            <a:r>
              <a:rPr lang="en-US" dirty="0" err="1" smtClean="0">
                <a:solidFill>
                  <a:srgbClr val="FFFFFF"/>
                </a:solidFill>
              </a:rPr>
              <a:t>Geolocation</a:t>
            </a:r>
            <a:endParaRPr lang="en-US" dirty="0" smtClean="0">
              <a:solidFill>
                <a:srgbClr val="FFFFFF"/>
              </a:solidFill>
            </a:endParaRP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Get it with HTML5 functionality and pass the coordinates to the map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Information window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Shows custom content on a particular position and map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Language option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Displays the map in preset language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rgbClr val="FAF8C8"/>
              </a:solidFill>
            </a:endParaRP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074" name="Picture 2" descr="C:\Telerik\Training\8. JavaScript API\Images\geolocation-notification-icon-0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410200"/>
            <a:ext cx="1074433" cy="124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22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743200"/>
            <a:ext cx="7924800" cy="685800"/>
          </a:xfrm>
        </p:spPr>
        <p:txBody>
          <a:bodyPr/>
          <a:lstStyle/>
          <a:p>
            <a:r>
              <a:rPr lang="en-US" dirty="0" smtClean="0"/>
              <a:t>Advanced options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33400" y="3505200"/>
            <a:ext cx="805815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2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Markers and Events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43000"/>
            <a:ext cx="8305800" cy="54102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Marker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Mark a special position on your map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Has properties for map, position and title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Events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On the map </a:t>
            </a:r>
            <a:r>
              <a:rPr lang="en-US" dirty="0">
                <a:solidFill>
                  <a:srgbClr val="FFFFFF"/>
                </a:solidFill>
              </a:rPr>
              <a:t>- </a:t>
            </a:r>
            <a:r>
              <a:rPr lang="en-US" dirty="0" err="1" smtClean="0">
                <a:solidFill>
                  <a:srgbClr val="FFFFFF"/>
                </a:solidFill>
              </a:rPr>
              <a:t>center_changed</a:t>
            </a:r>
            <a:r>
              <a:rPr lang="en-US" dirty="0" smtClean="0">
                <a:solidFill>
                  <a:srgbClr val="FFFFFF"/>
                </a:solidFill>
              </a:rPr>
              <a:t>, </a:t>
            </a:r>
            <a:r>
              <a:rPr lang="en-US" dirty="0" err="1" smtClean="0">
                <a:solidFill>
                  <a:srgbClr val="FFFFFF"/>
                </a:solidFill>
              </a:rPr>
              <a:t>zoom_changed</a:t>
            </a:r>
            <a:r>
              <a:rPr lang="en-US" dirty="0" smtClean="0">
                <a:solidFill>
                  <a:srgbClr val="FFFFFF"/>
                </a:solidFill>
              </a:rPr>
              <a:t>, etc.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On the marker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On other DOM elements</a:t>
            </a:r>
          </a:p>
          <a:p>
            <a:endParaRPr lang="en-US" dirty="0" smtClean="0">
              <a:solidFill>
                <a:srgbClr val="FAF8C8"/>
              </a:solidFill>
            </a:endParaRP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4343400"/>
            <a:ext cx="2152951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0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743200"/>
            <a:ext cx="7924800" cy="685800"/>
          </a:xfrm>
        </p:spPr>
        <p:txBody>
          <a:bodyPr/>
          <a:lstStyle/>
          <a:p>
            <a:r>
              <a:rPr lang="en-US" dirty="0" smtClean="0"/>
              <a:t>Markers and Events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33400" y="3505200"/>
            <a:ext cx="805815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22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map options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43000"/>
            <a:ext cx="8305800" cy="54102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Styles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Layers</a:t>
            </a:r>
          </a:p>
          <a:p>
            <a:r>
              <a:rPr lang="en-US" dirty="0" smtClean="0">
                <a:solidFill>
                  <a:srgbClr val="FAF8C8"/>
                </a:solidFill>
              </a:rPr>
              <a:t>Controls</a:t>
            </a:r>
          </a:p>
          <a:p>
            <a:r>
              <a:rPr lang="en-US" dirty="0" smtClean="0">
                <a:solidFill>
                  <a:srgbClr val="FAF8C8"/>
                </a:solidFill>
              </a:rPr>
              <a:t>Map types</a:t>
            </a:r>
          </a:p>
          <a:p>
            <a:r>
              <a:rPr lang="en-US" dirty="0" smtClean="0">
                <a:solidFill>
                  <a:srgbClr val="FAF8C8"/>
                </a:solidFill>
              </a:rPr>
              <a:t>Services</a:t>
            </a:r>
          </a:p>
          <a:p>
            <a:r>
              <a:rPr lang="en-US" dirty="0" smtClean="0">
                <a:solidFill>
                  <a:srgbClr val="FAF8C8"/>
                </a:solidFill>
              </a:rPr>
              <a:t>Find more at:</a:t>
            </a:r>
          </a:p>
          <a:p>
            <a:pPr lvl="1"/>
            <a:r>
              <a:rPr lang="en-US" dirty="0">
                <a:hlinkClick r:id="rId2"/>
              </a:rPr>
              <a:t>https://developers.google.com/maps/documentation/javascript/</a:t>
            </a:r>
            <a:endParaRPr lang="en-US" dirty="0" smtClean="0">
              <a:solidFill>
                <a:srgbClr val="FAF8C8"/>
              </a:solidFill>
            </a:endParaRPr>
          </a:p>
          <a:p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600200"/>
            <a:ext cx="4381500" cy="26955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4689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708" y="1905000"/>
            <a:ext cx="7924800" cy="685800"/>
          </a:xfrm>
        </p:spPr>
        <p:txBody>
          <a:bodyPr/>
          <a:lstStyle/>
          <a:p>
            <a:r>
              <a:rPr lang="en-US" dirty="0" smtClean="0"/>
              <a:t>YouTube API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617033" y="2514600"/>
            <a:ext cx="8058150" cy="569120"/>
          </a:xfrm>
        </p:spPr>
        <p:txBody>
          <a:bodyPr/>
          <a:lstStyle/>
          <a:p>
            <a:r>
              <a:rPr lang="en-US" dirty="0" smtClean="0"/>
              <a:t>Streaming videos from beyond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581399"/>
            <a:ext cx="3101788" cy="194458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8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YouTube API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43000"/>
            <a:ext cx="8305800" cy="54102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Embed the player in your page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Functionality for various controls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.</a:t>
            </a:r>
            <a:r>
              <a:rPr lang="en-US" dirty="0" err="1" smtClean="0">
                <a:solidFill>
                  <a:srgbClr val="FFFFFF"/>
                </a:solidFill>
              </a:rPr>
              <a:t>playVideo</a:t>
            </a:r>
            <a:r>
              <a:rPr lang="en-US" dirty="0" smtClean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.</a:t>
            </a:r>
            <a:r>
              <a:rPr lang="en-US" dirty="0" err="1" smtClean="0">
                <a:solidFill>
                  <a:srgbClr val="FFFFFF"/>
                </a:solidFill>
              </a:rPr>
              <a:t>pauseVideo</a:t>
            </a:r>
            <a:r>
              <a:rPr lang="en-US" dirty="0" smtClean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.</a:t>
            </a:r>
            <a:r>
              <a:rPr lang="en-US" dirty="0" err="1" smtClean="0">
                <a:solidFill>
                  <a:srgbClr val="FFFFFF"/>
                </a:solidFill>
              </a:rPr>
              <a:t>loadVideoById</a:t>
            </a:r>
            <a:r>
              <a:rPr lang="en-US" dirty="0" smtClean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.</a:t>
            </a:r>
            <a:r>
              <a:rPr lang="en-US" dirty="0" err="1" smtClean="0">
                <a:solidFill>
                  <a:srgbClr val="FFFFFF"/>
                </a:solidFill>
              </a:rPr>
              <a:t>loadPlaylist</a:t>
            </a:r>
            <a:r>
              <a:rPr lang="en-US" dirty="0" smtClean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.</a:t>
            </a:r>
            <a:r>
              <a:rPr lang="en-US" dirty="0" err="1" smtClean="0">
                <a:solidFill>
                  <a:srgbClr val="FFFFFF"/>
                </a:solidFill>
              </a:rPr>
              <a:t>nextVideo</a:t>
            </a:r>
            <a:r>
              <a:rPr lang="en-US" dirty="0" smtClean="0">
                <a:solidFill>
                  <a:srgbClr val="FFFFFF"/>
                </a:solidFill>
              </a:rPr>
              <a:t>()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.</a:t>
            </a:r>
            <a:r>
              <a:rPr lang="en-US" dirty="0" err="1" smtClean="0">
                <a:solidFill>
                  <a:srgbClr val="FFFFFF"/>
                </a:solidFill>
              </a:rPr>
              <a:t>previousVideo</a:t>
            </a:r>
            <a:r>
              <a:rPr lang="en-US" dirty="0" smtClean="0">
                <a:solidFill>
                  <a:srgbClr val="FFFFFF"/>
                </a:solidFill>
              </a:rPr>
              <a:t>()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038600"/>
            <a:ext cx="3711004" cy="208597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8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743200"/>
            <a:ext cx="7924800" cy="685800"/>
          </a:xfrm>
        </p:spPr>
        <p:txBody>
          <a:bodyPr/>
          <a:lstStyle/>
          <a:p>
            <a:r>
              <a:rPr lang="en-US" dirty="0" smtClean="0"/>
              <a:t>YouTube API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33400" y="3505200"/>
            <a:ext cx="805815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49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708" y="1905000"/>
            <a:ext cx="7924800" cy="685800"/>
          </a:xfrm>
        </p:spPr>
        <p:txBody>
          <a:bodyPr/>
          <a:lstStyle/>
          <a:p>
            <a:r>
              <a:rPr lang="en-US" dirty="0" smtClean="0"/>
              <a:t>Google+ API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617033" y="2514600"/>
            <a:ext cx="8058150" cy="569120"/>
          </a:xfrm>
        </p:spPr>
        <p:txBody>
          <a:bodyPr/>
          <a:lstStyle/>
          <a:p>
            <a:r>
              <a:rPr lang="en-US" dirty="0" smtClean="0"/>
              <a:t>Share, +1, Login, Profiles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352800"/>
            <a:ext cx="2762582" cy="276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7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Google+ API (1)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305800" cy="57150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To use Google+ you need Client ID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Go to </a:t>
            </a:r>
            <a:r>
              <a:rPr lang="en-US" dirty="0">
                <a:solidFill>
                  <a:srgbClr val="FFFFFF"/>
                </a:solidFill>
                <a:hlinkClick r:id="rId2"/>
              </a:rPr>
              <a:t>https://developers.google.com/console</a:t>
            </a:r>
            <a:endParaRPr lang="en-US" dirty="0" smtClean="0">
              <a:solidFill>
                <a:srgbClr val="FFFFFF"/>
              </a:solidFill>
            </a:endParaRP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Create new project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In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Services </a:t>
            </a:r>
            <a:r>
              <a:rPr lang="en-US" dirty="0" smtClean="0">
                <a:solidFill>
                  <a:srgbClr val="FFFFFF"/>
                </a:solidFill>
              </a:rPr>
              <a:t>enable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Google+ API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In API Access create </a:t>
            </a:r>
            <a:r>
              <a:rPr lang="en-US" dirty="0">
                <a:solidFill>
                  <a:srgbClr val="FFFFFF"/>
                </a:solidFill>
              </a:rPr>
              <a:t>an </a:t>
            </a:r>
            <a:r>
              <a:rPr lang="en-US" dirty="0" err="1">
                <a:solidFill>
                  <a:srgbClr val="FFFFFF"/>
                </a:solidFill>
              </a:rPr>
              <a:t>OAuth</a:t>
            </a:r>
            <a:r>
              <a:rPr lang="en-US" dirty="0">
                <a:solidFill>
                  <a:srgbClr val="FFFFFF"/>
                </a:solidFill>
              </a:rPr>
              <a:t> 2.0 Client </a:t>
            </a:r>
            <a:r>
              <a:rPr lang="en-US" dirty="0" smtClean="0">
                <a:solidFill>
                  <a:srgbClr val="FFFFFF"/>
                </a:solidFill>
              </a:rPr>
              <a:t>ID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Select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Web Application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In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more options </a:t>
            </a:r>
            <a:r>
              <a:rPr lang="en-US" dirty="0" smtClean="0">
                <a:solidFill>
                  <a:srgbClr val="FFFFFF"/>
                </a:solidFill>
              </a:rPr>
              <a:t>delete all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URL</a:t>
            </a:r>
            <a:r>
              <a:rPr lang="en-US" dirty="0" smtClean="0">
                <a:solidFill>
                  <a:srgbClr val="FFFFFF"/>
                </a:solidFill>
              </a:rPr>
              <a:t>s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Enter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URL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in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Authorized JavaScript Origins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lvl="1"/>
            <a:endParaRPr lang="en-US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74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Google+ API (2)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305800" cy="5715000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Share button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Lets you share predefined URL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+1 Button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Lets you like a page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Sign In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Use Google+ login in your page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Fetch information about a profile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Get profile picture, information and more</a:t>
            </a:r>
          </a:p>
          <a:p>
            <a:pPr lvl="1"/>
            <a:endParaRPr lang="en-US" dirty="0" smtClean="0">
              <a:solidFill>
                <a:srgbClr val="FFFFFF"/>
              </a:solidFill>
            </a:endParaRPr>
          </a:p>
          <a:p>
            <a:pPr lvl="1"/>
            <a:endParaRPr lang="en-US" dirty="0" smtClean="0"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09800"/>
            <a:ext cx="2857899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5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743200"/>
            <a:ext cx="7924800" cy="685800"/>
          </a:xfrm>
        </p:spPr>
        <p:txBody>
          <a:bodyPr/>
          <a:lstStyle/>
          <a:p>
            <a:r>
              <a:rPr lang="en-US" dirty="0" smtClean="0"/>
              <a:t>Google+ API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33400" y="3505200"/>
            <a:ext cx="805815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4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684772" y="6400800"/>
            <a:ext cx="3340915" cy="369332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http://algoacademy.telerik.com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9545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867400"/>
          </a:xfrm>
        </p:spPr>
        <p:txBody>
          <a:bodyPr/>
          <a:lstStyle/>
          <a:p>
            <a:pPr marL="447675" indent="-447675">
              <a:lnSpc>
                <a:spcPct val="100000"/>
              </a:lnSpc>
              <a:buFontTx/>
              <a:buAutoNum type="arabicPeriod"/>
            </a:pPr>
            <a:r>
              <a:rPr lang="en-US" sz="2800" dirty="0" smtClean="0"/>
              <a:t>Create an “Online Map Tourism” application using Google maps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/>
              <a:t>Choose 10 capital cities from the world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/>
              <a:t>Make two buttons for “Next” and “Previous” which should iterate through the cities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/>
              <a:t>When one of the buttons is clicked, map should pan to the new location of the new city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/>
              <a:t>Each city should have </a:t>
            </a:r>
            <a:r>
              <a:rPr lang="en-US" sz="2600" dirty="0" err="1" smtClean="0"/>
              <a:t>Infobox</a:t>
            </a:r>
            <a:r>
              <a:rPr lang="en-US" sz="2600" dirty="0" smtClean="0"/>
              <a:t> with more information about it on the map</a:t>
            </a:r>
          </a:p>
          <a:p>
            <a:pPr marL="804863" lvl="1" indent="-457200">
              <a:lnSpc>
                <a:spcPct val="100000"/>
              </a:lnSpc>
            </a:pPr>
            <a:r>
              <a:rPr lang="en-US" sz="2600" dirty="0" smtClean="0"/>
              <a:t>Show lists of the cities on the page. If the user chooses a city, the map should pan directly to it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 smtClean="0"/>
          </a:p>
          <a:p>
            <a:pPr marL="795338" lvl="1" indent="-447675">
              <a:lnSpc>
                <a:spcPct val="100000"/>
              </a:lnSpc>
              <a:buFontTx/>
              <a:buAutoNum type="arabicPeriod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5009178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 (2)</a:t>
            </a:r>
            <a:endParaRPr lang="en-US" dirty="0"/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867400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2"/>
            </a:pPr>
            <a:r>
              <a:rPr lang="en-US" sz="2800" dirty="0" smtClean="0"/>
              <a:t>Combine Google+ and YouTube APIs</a:t>
            </a:r>
          </a:p>
          <a:p>
            <a:pPr marL="862013" lvl="1" indent="-514350">
              <a:lnSpc>
                <a:spcPct val="100000"/>
              </a:lnSpc>
            </a:pPr>
            <a:r>
              <a:rPr lang="en-US" sz="2600" dirty="0" smtClean="0"/>
              <a:t>If the user logins with Google+ the player should show, otherwise it should be hidden</a:t>
            </a:r>
          </a:p>
          <a:p>
            <a:pPr marL="862013" lvl="1" indent="-514350">
              <a:lnSpc>
                <a:spcPct val="100000"/>
              </a:lnSpc>
            </a:pPr>
            <a:r>
              <a:rPr lang="en-US" sz="2600" dirty="0" smtClean="0"/>
              <a:t>When the user logs, his profile picture should be shown</a:t>
            </a:r>
          </a:p>
          <a:p>
            <a:pPr marL="862013" lvl="1" indent="-514350">
              <a:lnSpc>
                <a:spcPct val="100000"/>
              </a:lnSpc>
            </a:pPr>
            <a:r>
              <a:rPr lang="en-US" sz="2600" dirty="0" smtClean="0"/>
              <a:t>Create custom controls for the video – pause, stop, load by id, load playlist, next, previous, mute, unmute, set volume, playback quality options</a:t>
            </a:r>
          </a:p>
          <a:p>
            <a:pPr marL="862013" lvl="1" indent="-514350">
              <a:lnSpc>
                <a:spcPct val="100000"/>
              </a:lnSpc>
            </a:pPr>
            <a:r>
              <a:rPr lang="en-US" sz="2600" dirty="0" smtClean="0"/>
              <a:t>Add options to share the current video on Google+</a:t>
            </a:r>
          </a:p>
          <a:p>
            <a:pPr marL="862013" lvl="1" indent="-514350">
              <a:lnSpc>
                <a:spcPct val="100000"/>
              </a:lnSpc>
            </a:pPr>
            <a:endParaRPr lang="en-US" sz="2600" dirty="0" smtClean="0"/>
          </a:p>
          <a:p>
            <a:pPr marL="795338" lvl="1" indent="-447675">
              <a:lnSpc>
                <a:spcPct val="100000"/>
              </a:lnSpc>
              <a:buFontTx/>
              <a:buAutoNum type="arabicPeriod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87841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2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5c0ed1f3aaa5b921b3638c123e4eb489bc123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4995</TotalTime>
  <Words>722</Words>
  <Application>Microsoft Office PowerPoint</Application>
  <PresentationFormat>On-screen Show (4:3)</PresentationFormat>
  <Paragraphs>156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Telerik Academy</vt:lpstr>
      <vt:lpstr>Third Party APIs</vt:lpstr>
      <vt:lpstr>Table of Contents</vt:lpstr>
      <vt:lpstr>What is API?</vt:lpstr>
      <vt:lpstr>What is API? (1)</vt:lpstr>
      <vt:lpstr>What is API? (2)</vt:lpstr>
      <vt:lpstr>Google APIs</vt:lpstr>
      <vt:lpstr>Google+ APIs</vt:lpstr>
      <vt:lpstr>Google Maps API</vt:lpstr>
      <vt:lpstr>Simple map (1)</vt:lpstr>
      <vt:lpstr>Simple map (1)</vt:lpstr>
      <vt:lpstr>Simple Map</vt:lpstr>
      <vt:lpstr>Advanced options</vt:lpstr>
      <vt:lpstr>Advanced options</vt:lpstr>
      <vt:lpstr>Markers and Events</vt:lpstr>
      <vt:lpstr>Markers and Events</vt:lpstr>
      <vt:lpstr>Other map options</vt:lpstr>
      <vt:lpstr>YouTube API</vt:lpstr>
      <vt:lpstr>YouTube API</vt:lpstr>
      <vt:lpstr>YouTube API</vt:lpstr>
      <vt:lpstr>Google+ API</vt:lpstr>
      <vt:lpstr>Google+ API (1)</vt:lpstr>
      <vt:lpstr>Google+ API (2)</vt:lpstr>
      <vt:lpstr>Google+ API</vt:lpstr>
      <vt:lpstr>PowerPoint Presentation</vt:lpstr>
      <vt:lpstr>Exercises</vt:lpstr>
      <vt:lpstr>Exercises (2)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- Defining Classes</dc:title>
  <dc:subject>Telerik Software Academy</dc:subject>
  <dc:creator>Svetlin Nakov</dc:creator>
  <cp:keywords>C#, course, telerik software academy, free courses for developers, OOP, object-oriented programming</cp:keywords>
  <cp:lastModifiedBy>Ivaylo Kenov</cp:lastModifiedBy>
  <cp:revision>1093</cp:revision>
  <dcterms:created xsi:type="dcterms:W3CDTF">2007-12-08T16:03:35Z</dcterms:created>
  <dcterms:modified xsi:type="dcterms:W3CDTF">2014-03-18T16:22:34Z</dcterms:modified>
  <cp:category>software engineering</cp:category>
</cp:coreProperties>
</file>