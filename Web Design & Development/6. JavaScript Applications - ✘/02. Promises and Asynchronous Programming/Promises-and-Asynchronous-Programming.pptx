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7"/>
  </p:notesMasterIdLst>
  <p:handoutMasterIdLst>
    <p:handoutMasterId r:id="rId48"/>
  </p:handoutMasterIdLst>
  <p:sldIdLst>
    <p:sldId id="320" r:id="rId2"/>
    <p:sldId id="322" r:id="rId3"/>
    <p:sldId id="384" r:id="rId4"/>
    <p:sldId id="385" r:id="rId5"/>
    <p:sldId id="386" r:id="rId6"/>
    <p:sldId id="387" r:id="rId7"/>
    <p:sldId id="388" r:id="rId8"/>
    <p:sldId id="389" r:id="rId9"/>
    <p:sldId id="390" r:id="rId10"/>
    <p:sldId id="391" r:id="rId11"/>
    <p:sldId id="393" r:id="rId12"/>
    <p:sldId id="392" r:id="rId13"/>
    <p:sldId id="395" r:id="rId14"/>
    <p:sldId id="394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  <p:sldId id="415" r:id="rId35"/>
    <p:sldId id="418" r:id="rId36"/>
    <p:sldId id="419" r:id="rId37"/>
    <p:sldId id="417" r:id="rId38"/>
    <p:sldId id="416" r:id="rId39"/>
    <p:sldId id="420" r:id="rId40"/>
    <p:sldId id="421" r:id="rId41"/>
    <p:sldId id="422" r:id="rId42"/>
    <p:sldId id="423" r:id="rId43"/>
    <p:sldId id="424" r:id="rId44"/>
    <p:sldId id="358" r:id="rId45"/>
    <p:sldId id="363" r:id="rId46"/>
  </p:sldIdLst>
  <p:sldSz cx="9144000" cy="6858000" type="screen4x3"/>
  <p:notesSz cx="6881813" cy="9296400"/>
  <p:custDataLst>
    <p:tags r:id="rId5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79" autoAdjust="0"/>
    <p:restoredTop sz="94565" autoAdjust="0"/>
  </p:normalViewPr>
  <p:slideViewPr>
    <p:cSldViewPr>
      <p:cViewPr varScale="1">
        <p:scale>
          <a:sx n="112" d="100"/>
          <a:sy n="112" d="100"/>
        </p:scale>
        <p:origin x="-832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tags" Target="tags/tag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2/14/14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2/14/14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776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hyperlink" Target="http://clouddevcourse.telerik.com/" TargetMode="External"/><Relationship Id="rId20" Type="http://schemas.openxmlformats.org/officeDocument/2006/relationships/hyperlink" Target="http://csharpfundamentals.telerik.com/" TargetMode="External"/><Relationship Id="rId10" Type="http://schemas.openxmlformats.org/officeDocument/2006/relationships/hyperlink" Target="http://www.bgcoder.com/" TargetMode="External"/><Relationship Id="rId11" Type="http://schemas.openxmlformats.org/officeDocument/2006/relationships/hyperlink" Target="http://www.nakov.com/" TargetMode="External"/><Relationship Id="rId12" Type="http://schemas.openxmlformats.org/officeDocument/2006/relationships/hyperlink" Target="http://codecourse.telerik.com/" TargetMode="External"/><Relationship Id="rId13" Type="http://schemas.openxmlformats.org/officeDocument/2006/relationships/hyperlink" Target="http://algoacademy.telerik.com/" TargetMode="External"/><Relationship Id="rId14" Type="http://schemas.openxmlformats.org/officeDocument/2006/relationships/hyperlink" Target="http://aspnetcourse.telerik.com/" TargetMode="External"/><Relationship Id="rId15" Type="http://schemas.openxmlformats.org/officeDocument/2006/relationships/hyperlink" Target="http://academy.telerik.com/" TargetMode="External"/><Relationship Id="rId16" Type="http://schemas.openxmlformats.org/officeDocument/2006/relationships/hyperlink" Target="http://mobiledevcourse.telerik.com/" TargetMode="External"/><Relationship Id="rId17" Type="http://schemas.openxmlformats.org/officeDocument/2006/relationships/hyperlink" Target="http://www.introprogramming.info/" TargetMode="External"/><Relationship Id="rId18" Type="http://schemas.openxmlformats.org/officeDocument/2006/relationships/hyperlink" Target="http://www.minkov.it/" TargetMode="External"/><Relationship Id="rId19" Type="http://schemas.openxmlformats.org/officeDocument/2006/relationships/hyperlink" Target="http://www.nikolay.it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forums.academy.telerik.com/" TargetMode="External"/><Relationship Id="rId3" Type="http://schemas.openxmlformats.org/officeDocument/2006/relationships/hyperlink" Target="http://kursove-uroci-knigi-obuchenie-programirane-web-design-csharp.info/" TargetMode="External"/><Relationship Id="rId4" Type="http://schemas.openxmlformats.org/officeDocument/2006/relationships/hyperlink" Target="http://www.telerik-kids.com/" TargetMode="External"/><Relationship Id="rId5" Type="http://schemas.openxmlformats.org/officeDocument/2006/relationships/hyperlink" Target="http://seocourse.telerik.com/" TargetMode="External"/><Relationship Id="rId6" Type="http://schemas.openxmlformats.org/officeDocument/2006/relationships/hyperlink" Target="http://html5course.telerik.com/" TargetMode="External"/><Relationship Id="rId7" Type="http://schemas.openxmlformats.org/officeDocument/2006/relationships/hyperlink" Target="http://schoolacademy.telerik.com/" TargetMode="External"/><Relationship Id="rId8" Type="http://schemas.openxmlformats.org/officeDocument/2006/relationships/hyperlink" Target="http://mvc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microsoft.com/office/2007/relationships/hdphoto" Target="../media/hdphoto1.wdp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academy.telerik.com/" TargetMode="External"/><Relationship Id="rId4" Type="http://schemas.openxmlformats.org/officeDocument/2006/relationships/hyperlink" Target="http://itgeorge.net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iki.commonjs.org/wiki/Promises/A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promises-aplus.github.io/promises-spec/" TargetMode="External"/><Relationship Id="rId3" Type="http://schemas.openxmlformats.org/officeDocument/2006/relationships/hyperlink" Target="https://github.com/kriskowal/q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kriskowal/q/wiki/API-Reference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st.github.com/domenic/3889970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academy.telerik.com/" TargetMode="External"/><Relationship Id="rId4" Type="http://schemas.openxmlformats.org/officeDocument/2006/relationships/hyperlink" Target="http://www.facebook.com/telerikacademy" TargetMode="External"/><Relationship Id="rId5" Type="http://schemas.openxmlformats.org/officeDocument/2006/relationships/hyperlink" Target="http://forums.academy.telerik.com/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hyperlink" Target="http://facebook.com/TelerikAcademy" TargetMode="External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html5course.telerik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600200"/>
            <a:ext cx="8686800" cy="1524000"/>
          </a:xfrm>
        </p:spPr>
        <p:txBody>
          <a:bodyPr/>
          <a:lstStyle/>
          <a:p>
            <a:r>
              <a:rPr lang="en-US" dirty="0" smtClean="0"/>
              <a:t>Promises and Asynchronous Programming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294530"/>
            <a:ext cx="8229600" cy="569120"/>
          </a:xfrm>
        </p:spPr>
        <p:txBody>
          <a:bodyPr/>
          <a:lstStyle/>
          <a:p>
            <a:r>
              <a:rPr lang="en-US" dirty="0" smtClean="0"/>
              <a:t>Callback-oriented asynchrony, </a:t>
            </a:r>
            <a:r>
              <a:rPr lang="en-US" dirty="0" err="1" smtClean="0"/>
              <a:t>CommonJS</a:t>
            </a:r>
            <a:r>
              <a:rPr lang="en-US" dirty="0" smtClean="0"/>
              <a:t> Promise/A, Promises in Q, Promises in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9099" y="4572000"/>
            <a:ext cx="3853295" cy="533400"/>
          </a:xfrm>
        </p:spPr>
        <p:txBody>
          <a:bodyPr/>
          <a:lstStyle/>
          <a:p>
            <a:r>
              <a:rPr lang="en-US" dirty="0" smtClean="0"/>
              <a:t>George Georgiev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833646"/>
            <a:ext cx="3810000" cy="369332"/>
          </a:xfrm>
        </p:spPr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6138446"/>
            <a:ext cx="3810000" cy="338554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academy.telerik.com</a:t>
            </a: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1800" y="5029200"/>
            <a:ext cx="3838864" cy="461665"/>
          </a:xfrm>
        </p:spPr>
        <p:txBody>
          <a:bodyPr/>
          <a:lstStyle/>
          <a:p>
            <a:r>
              <a:rPr lang="en-US" dirty="0" smtClean="0"/>
              <a:t>Technical Trainer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57200" y="5405735"/>
            <a:ext cx="3810000" cy="369332"/>
          </a:xfrm>
        </p:spPr>
        <p:txBody>
          <a:bodyPr/>
          <a:lstStyle/>
          <a:p>
            <a:r>
              <a:rPr lang="en-US" sz="1800" dirty="0" smtClean="0">
                <a:hlinkClick r:id="rId4"/>
              </a:rPr>
              <a:t>http://itgeorge.net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Asynchrony in JavaScript</a:t>
            </a:r>
          </a:p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Callback-oriented programming</a:t>
            </a:r>
          </a:p>
          <a:p>
            <a:pPr marL="652448" lvl="1" indent="-304785" eaLnBrk="1" hangingPunct="1">
              <a:lnSpc>
                <a:spcPct val="95000"/>
              </a:lnSpc>
            </a:pPr>
            <a:r>
              <a:rPr lang="en-US" dirty="0" smtClean="0"/>
              <a:t>Simple callbacks</a:t>
            </a:r>
          </a:p>
          <a:p>
            <a:pPr marL="652448" lvl="1" indent="-304785" eaLnBrk="1" hangingPunct="1">
              <a:lnSpc>
                <a:spcPct val="95000"/>
              </a:lnSpc>
            </a:pPr>
            <a:r>
              <a:rPr lang="en-US" dirty="0" smtClean="0"/>
              <a:t>"Passing values" in callbacks</a:t>
            </a:r>
          </a:p>
          <a:p>
            <a:pPr marL="652448" lvl="1" indent="-304785" eaLnBrk="1" hangingPunct="1">
              <a:lnSpc>
                <a:spcPct val="95000"/>
              </a:lnSpc>
            </a:pPr>
            <a:r>
              <a:rPr lang="en-US" dirty="0" smtClean="0"/>
              <a:t>Example: Geolocation</a:t>
            </a:r>
          </a:p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Promises</a:t>
            </a:r>
          </a:p>
          <a:p>
            <a:pPr marL="652448" lvl="1" indent="-304785" eaLnBrk="1" hangingPunct="1">
              <a:lnSpc>
                <a:spcPct val="95000"/>
              </a:lnSpc>
            </a:pPr>
            <a:r>
              <a:rPr lang="en-US" dirty="0" smtClean="0"/>
              <a:t>Overview</a:t>
            </a:r>
          </a:p>
          <a:p>
            <a:pPr marL="652448" lvl="1" indent="-304785" eaLnBrk="1" hangingPunct="1">
              <a:lnSpc>
                <a:spcPct val="95000"/>
              </a:lnSpc>
            </a:pPr>
            <a:r>
              <a:rPr lang="en-US" dirty="0" err="1" smtClean="0"/>
              <a:t>CommonJS</a:t>
            </a:r>
            <a:r>
              <a:rPr lang="en-US" dirty="0" smtClean="0"/>
              <a:t> Promise/A and A+</a:t>
            </a:r>
          </a:p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Using the Q Promise Library</a:t>
            </a:r>
          </a:p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Promises in </a:t>
            </a:r>
            <a:r>
              <a:rPr lang="en-US" dirty="0" err="1" smtClean="0"/>
              <a:t>jQuery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2050" name="Picture 2" descr="http://t0.gstatic.com/images?q=tbn:ANd9GcSOhIpLZpMVyaj2216C0pf5moi79kSzxAquFn4kzUbsGIi_pm2DOQ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514600"/>
            <a:ext cx="2590800" cy="2237509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025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990598"/>
            <a:ext cx="8229600" cy="1295402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/>
              <a:t>Asynchrony in JavaScript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2209800"/>
            <a:ext cx="8229600" cy="533400"/>
          </a:xfrm>
        </p:spPr>
        <p:txBody>
          <a:bodyPr/>
          <a:lstStyle/>
          <a:p>
            <a:r>
              <a:rPr lang="en-US" dirty="0" smtClean="0"/>
              <a:t>How to do it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352800"/>
            <a:ext cx="3051928" cy="228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352800"/>
            <a:ext cx="3435246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22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838200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/>
              <a:t>Asynchrony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JavaScript is single-threaded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Long-running operations block other operations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Asynchronous operations in </a:t>
            </a:r>
            <a:r>
              <a:rPr lang="en-US" dirty="0" smtClean="0"/>
              <a:t>Java</a:t>
            </a:r>
            <a:r>
              <a:rPr lang="en-US" dirty="0"/>
              <a:t>S</a:t>
            </a:r>
            <a:r>
              <a:rPr lang="en-US" dirty="0" smtClean="0"/>
              <a:t>cript</a:t>
            </a:r>
            <a:endParaRPr lang="en-US" dirty="0" smtClean="0"/>
          </a:p>
          <a:p>
            <a:pPr lvl="1">
              <a:lnSpc>
                <a:spcPct val="100000"/>
              </a:lnSpc>
            </a:pPr>
            <a:r>
              <a:rPr lang="en-US" dirty="0" smtClean="0"/>
              <a:t>Break up long operations into shorter ones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So other operations can "squeeze in"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Delayed execution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Postpone heavy operations to the end of the event loop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To give event handlers the ability to respond</a:t>
            </a:r>
          </a:p>
          <a:p>
            <a:pPr lvl="1">
              <a:lnSpc>
                <a:spcPct val="100000"/>
              </a:lnSpc>
            </a:pPr>
            <a:endParaRPr lang="en-US" dirty="0" smtClean="0"/>
          </a:p>
          <a:p>
            <a:pPr lvl="2"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8014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Asynchrony in </a:t>
            </a:r>
            <a:r>
              <a:rPr lang="en-US" dirty="0" smtClean="0"/>
              <a:t>JavaScript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Browsers provide some asynchronous APIs</a:t>
            </a:r>
          </a:p>
          <a:p>
            <a:pPr lvl="1"/>
            <a:r>
              <a:rPr lang="en-US" dirty="0" smtClean="0"/>
              <a:t>Web workers</a:t>
            </a:r>
          </a:p>
          <a:p>
            <a:pPr lvl="1"/>
            <a:r>
              <a:rPr lang="en-US" dirty="0" smtClean="0"/>
              <a:t>AJAX</a:t>
            </a:r>
          </a:p>
          <a:p>
            <a:pPr lvl="1"/>
            <a:r>
              <a:rPr lang="en-US" dirty="0" smtClean="0"/>
              <a:t>Geolocation</a:t>
            </a:r>
          </a:p>
          <a:p>
            <a:pPr lvl="1"/>
            <a:r>
              <a:rPr lang="en-US" dirty="0" smtClean="0"/>
              <a:t>CSS3 animations, etc.</a:t>
            </a:r>
          </a:p>
          <a:p>
            <a:r>
              <a:rPr lang="en-US" dirty="0" smtClean="0"/>
              <a:t>All of the above require callbacks</a:t>
            </a:r>
          </a:p>
          <a:p>
            <a:pPr lvl="1"/>
            <a:r>
              <a:rPr lang="en-US" dirty="0" smtClean="0"/>
              <a:t>Functions to call at some point</a:t>
            </a:r>
          </a:p>
          <a:p>
            <a:pPr lvl="2"/>
            <a:r>
              <a:rPr lang="en-US" dirty="0" smtClean="0"/>
              <a:t>When beginning to do work</a:t>
            </a:r>
          </a:p>
          <a:p>
            <a:pPr lvl="2"/>
            <a:r>
              <a:rPr lang="en-US" dirty="0" smtClean="0"/>
              <a:t>After the work is done to transmit values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5319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28600" y="1904998"/>
            <a:ext cx="8763000" cy="1295402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Callback-oriented Programming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3505202"/>
            <a:ext cx="8229600" cy="533400"/>
          </a:xfrm>
        </p:spPr>
        <p:txBody>
          <a:bodyPr/>
          <a:lstStyle/>
          <a:p>
            <a:r>
              <a:rPr lang="en-US" dirty="0" smtClean="0"/>
              <a:t>with JavaScript</a:t>
            </a:r>
          </a:p>
        </p:txBody>
      </p:sp>
    </p:spTree>
    <p:extLst>
      <p:ext uri="{BB962C8B-B14F-4D97-AF65-F5344CB8AC3E}">
        <p14:creationId xmlns:p14="http://schemas.microsoft.com/office/powerpoint/2010/main" val="4124469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838200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Callback-oriented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334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Callback function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 function </a:t>
            </a:r>
            <a:r>
              <a:rPr lang="en-US" dirty="0" smtClean="0"/>
              <a:t>object passed </a:t>
            </a:r>
            <a:r>
              <a:rPr lang="en-US" dirty="0" smtClean="0"/>
              <a:t>to another function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The other function can call the passed one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The other function can give arguments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Examples of callbacks: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Event handlers are sort-of callbacks</a:t>
            </a:r>
          </a:p>
          <a:p>
            <a:pPr lvl="1">
              <a:lnSpc>
                <a:spcPct val="100000"/>
              </a:lnSpc>
            </a:pPr>
            <a:r>
              <a:rPr lang="en-US" dirty="0" err="1" smtClean="0"/>
              <a:t>setTimeout</a:t>
            </a:r>
            <a:r>
              <a:rPr lang="en-US" dirty="0" smtClean="0"/>
              <a:t> and </a:t>
            </a:r>
            <a:r>
              <a:rPr lang="en-US" dirty="0" err="1" smtClean="0"/>
              <a:t>setInterval</a:t>
            </a:r>
            <a:r>
              <a:rPr lang="en-US" dirty="0" smtClean="0"/>
              <a:t> take a callback argument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Some OOP patterns use callbacks for _super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8795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Simple Callback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47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838200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Callback-oriented Programming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334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Callback-oriented programming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Functions get passed to each other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Each functions calls the passed ones</a:t>
            </a:r>
            <a:endParaRPr lang="en-US" dirty="0"/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To continue the work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To process values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Inversion of control principle ("don't call us, we'll call you")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Problems: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"Return" values by passing to other functions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Heavily nested functions are hard to understand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Errors and exceptions are a nightmare to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6665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Callback with Value Needed by Other Method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92668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532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2285998"/>
            <a:ext cx="8229600" cy="1295402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Using Browser-provided </a:t>
            </a:r>
            <a:r>
              <a:rPr lang="en-US" dirty="0" err="1" smtClean="0"/>
              <a:t>Async</a:t>
            </a:r>
            <a:r>
              <a:rPr lang="en-US" dirty="0" smtClean="0"/>
              <a:t> APIs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3733800"/>
            <a:ext cx="8229600" cy="533400"/>
          </a:xfrm>
        </p:spPr>
        <p:txBody>
          <a:bodyPr/>
          <a:lstStyle/>
          <a:p>
            <a:r>
              <a:rPr lang="en-US" dirty="0" smtClean="0"/>
              <a:t>How to access browser APIs asynchronously</a:t>
            </a:r>
          </a:p>
        </p:txBody>
      </p:sp>
    </p:spTree>
    <p:extLst>
      <p:ext uri="{BB962C8B-B14F-4D97-AF65-F5344CB8AC3E}">
        <p14:creationId xmlns:p14="http://schemas.microsoft.com/office/powerpoint/2010/main" val="2951163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7239000" cy="838200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/>
              <a:t>Using Browser-provided </a:t>
            </a:r>
            <a:r>
              <a:rPr lang="en-US" dirty="0" smtClean="0"/>
              <a:t>Asynchronous </a:t>
            </a:r>
            <a:r>
              <a:rPr lang="en-US" dirty="0"/>
              <a:t>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334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How do asynchronous browser APIs work?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JavaScript runs in one thread of the browser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The browser can create other threads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For its own needs, including </a:t>
            </a:r>
            <a:r>
              <a:rPr lang="en-US" dirty="0" err="1" smtClean="0"/>
              <a:t>async</a:t>
            </a:r>
            <a:r>
              <a:rPr lang="en-US" dirty="0" smtClean="0"/>
              <a:t> APIs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How do we use asynchronous APIs with JS?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Request some browser API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Pass arguments for what you want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Provide callback methods to execute when the API has processed your 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86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7239000" cy="838200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/>
              <a:t>Using Browser-provided </a:t>
            </a:r>
            <a:r>
              <a:rPr lang="en-US" dirty="0" smtClean="0"/>
              <a:t>Asynchronous </a:t>
            </a:r>
            <a:r>
              <a:rPr lang="en-US" dirty="0"/>
              <a:t>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334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Using the Geolocation API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Locating the device takes time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To request the current position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Call </a:t>
            </a:r>
            <a:r>
              <a:rPr lang="en-US" dirty="0" err="1" smtClean="0"/>
              <a:t>navigator.geolocation.getCurrentPosition</a:t>
            </a:r>
            <a:endParaRPr lang="en-US" dirty="0" smtClean="0"/>
          </a:p>
          <a:p>
            <a:pPr lvl="2">
              <a:lnSpc>
                <a:spcPct val="100000"/>
              </a:lnSpc>
            </a:pPr>
            <a:r>
              <a:rPr lang="en-US" dirty="0" smtClean="0"/>
              <a:t>Pass in a success and error handler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i.e. pass in callback functions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Process the data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Visualize it accordingly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9351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Callback-based usage of the Geolocation API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937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7239000" cy="838200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Summary on callback-based usage of Geolocation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334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We need some function nesting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We want to have good function cohesion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</a:t>
            </a:r>
            <a:r>
              <a:rPr lang="en-US" dirty="0" smtClean="0"/>
              <a:t>rovide separate functions for different operations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What will happen with a larger application?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Lots of levels of nesting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Nightmarish error-handling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Errors are easy to get lost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Handling needs to happen in inappropriate places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4741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2362198"/>
            <a:ext cx="8229600" cy="1295402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Promises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3733800"/>
            <a:ext cx="8229600" cy="533400"/>
          </a:xfrm>
        </p:spPr>
        <p:txBody>
          <a:bodyPr/>
          <a:lstStyle/>
          <a:p>
            <a:r>
              <a:rPr lang="en-US" dirty="0" smtClean="0"/>
              <a:t>The evolution of Callback-oriented programming</a:t>
            </a:r>
          </a:p>
          <a:p>
            <a:r>
              <a:rPr lang="en-US" dirty="0" smtClean="0"/>
              <a:t>(switch on your imagination)</a:t>
            </a:r>
          </a:p>
        </p:txBody>
      </p:sp>
    </p:spTree>
    <p:extLst>
      <p:ext uri="{BB962C8B-B14F-4D97-AF65-F5344CB8AC3E}">
        <p14:creationId xmlns:p14="http://schemas.microsoft.com/office/powerpoint/2010/main" val="19215158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7239000" cy="838200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Promises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334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A promise is an object which represents an eventual (future) value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Methods "promise" they will return a value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Correct or representing an error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A Promises can be in one of three states: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Fulfilled (resolved, </a:t>
            </a:r>
            <a:r>
              <a:rPr lang="en-US" dirty="0" err="1" smtClean="0"/>
              <a:t>succeded</a:t>
            </a:r>
            <a:r>
              <a:rPr lang="en-US" dirty="0" smtClean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Rejected (an error happened)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Pending (unfulfilled yet, still being computed)</a:t>
            </a:r>
          </a:p>
          <a:p>
            <a:pPr lvl="1">
              <a:lnSpc>
                <a:spcPct val="100000"/>
              </a:lnSpc>
            </a:pPr>
            <a:endParaRPr lang="en-US" dirty="0" smtClean="0"/>
          </a:p>
          <a:p>
            <a:pPr lvl="1">
              <a:lnSpc>
                <a:spcPct val="100000"/>
              </a:lnSpc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370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Promise objects can be used in code as if their value is known</a:t>
            </a:r>
          </a:p>
          <a:p>
            <a:pPr lvl="1"/>
            <a:r>
              <a:rPr lang="en-US" dirty="0" smtClean="0"/>
              <a:t>Actually we attach code which executes</a:t>
            </a:r>
          </a:p>
          <a:p>
            <a:pPr lvl="2"/>
            <a:r>
              <a:rPr lang="en-US" dirty="0" smtClean="0"/>
              <a:t>When the promise is fulfilled</a:t>
            </a:r>
          </a:p>
          <a:p>
            <a:pPr lvl="2"/>
            <a:r>
              <a:rPr lang="en-US" dirty="0" smtClean="0"/>
              <a:t>When the promise is rejected</a:t>
            </a:r>
          </a:p>
          <a:p>
            <a:pPr lvl="2"/>
            <a:r>
              <a:rPr lang="en-US" dirty="0" smtClean="0"/>
              <a:t>When the promise reports progress (optionally)</a:t>
            </a:r>
          </a:p>
          <a:p>
            <a:r>
              <a:rPr lang="en-US" dirty="0" smtClean="0"/>
              <a:t>Promises are a pattern </a:t>
            </a:r>
          </a:p>
          <a:p>
            <a:pPr lvl="1"/>
            <a:r>
              <a:rPr lang="en-US" dirty="0" smtClean="0"/>
              <a:t>No defined implementation, but strict requirements</a:t>
            </a:r>
          </a:p>
          <a:p>
            <a:pPr lvl="1"/>
            <a:r>
              <a:rPr lang="en-US" dirty="0" smtClean="0"/>
              <a:t>Initially described in </a:t>
            </a:r>
            <a:r>
              <a:rPr lang="en-US" dirty="0" err="1" smtClean="0">
                <a:hlinkClick r:id="rId2"/>
              </a:rPr>
              <a:t>CommonJS</a:t>
            </a:r>
            <a:r>
              <a:rPr lang="en-US" dirty="0" smtClean="0">
                <a:hlinkClick r:id="rId2"/>
              </a:rPr>
              <a:t> Promises/A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91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specifically:</a:t>
            </a:r>
          </a:p>
          <a:p>
            <a:pPr lvl="1"/>
            <a:r>
              <a:rPr lang="en-US" dirty="0" smtClean="0"/>
              <a:t>Each promise has a .then() method accepting 3 parameters:</a:t>
            </a:r>
          </a:p>
          <a:p>
            <a:pPr lvl="2"/>
            <a:r>
              <a:rPr lang="en-US" dirty="0" smtClean="0"/>
              <a:t>Success, Error and Progress function</a:t>
            </a:r>
          </a:p>
          <a:p>
            <a:pPr lvl="2"/>
            <a:r>
              <a:rPr lang="en-US" dirty="0" smtClean="0"/>
              <a:t>All parameters are optional</a:t>
            </a:r>
          </a:p>
          <a:p>
            <a:pPr lvl="1"/>
            <a:r>
              <a:rPr lang="en-US" dirty="0" smtClean="0"/>
              <a:t>So we can write: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sz="1600" dirty="0" smtClean="0"/>
              <a:t>* Provided  </a:t>
            </a:r>
            <a:r>
              <a:rPr lang="en-US" sz="1600" dirty="0" err="1" smtClean="0"/>
              <a:t>promiseMeSomething</a:t>
            </a:r>
            <a:r>
              <a:rPr lang="en-US" sz="1600" dirty="0" smtClean="0"/>
              <a:t> returns a promise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38200" y="4419600"/>
            <a:ext cx="75438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err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promiseMeSomething</a:t>
            </a: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.then(function (value) 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//handle success here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}, function (reason) 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//handle error here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});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410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.then() method returns a promise in turn</a:t>
            </a:r>
          </a:p>
          <a:p>
            <a:pPr lvl="1"/>
            <a:r>
              <a:rPr lang="en-US" dirty="0" smtClean="0"/>
              <a:t>Meaning promises can be chained:</a:t>
            </a:r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Promises enable us to:</a:t>
            </a:r>
          </a:p>
          <a:p>
            <a:pPr lvl="1"/>
            <a:r>
              <a:rPr lang="en-US" dirty="0" smtClean="0"/>
              <a:t>Remove the callback functions from the parameters and attach them to the "result"</a:t>
            </a:r>
          </a:p>
          <a:p>
            <a:pPr lvl="1"/>
            <a:r>
              <a:rPr lang="en-US" dirty="0" smtClean="0"/>
              <a:t>Make a sequence of operations happen</a:t>
            </a:r>
          </a:p>
          <a:p>
            <a:pPr lvl="1"/>
            <a:r>
              <a:rPr lang="en-US" dirty="0" smtClean="0"/>
              <a:t>Catch errors when we can process them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29235" y="2286000"/>
            <a:ext cx="7543800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err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asyncComputeTheAnswerToEverything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.then(</a:t>
            </a: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addTwo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.then(</a:t>
            </a: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printResult</a:t>
            </a: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, </a:t>
            </a:r>
            <a:r>
              <a:rPr lang="en-US" sz="2000" b="1" dirty="0" err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onError</a:t>
            </a: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45524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full and modern description of Promises:</a:t>
            </a:r>
          </a:p>
          <a:p>
            <a:pPr lvl="1"/>
            <a:r>
              <a:rPr lang="en-US" dirty="0" err="1" smtClean="0"/>
              <a:t>CommonJS</a:t>
            </a:r>
            <a:r>
              <a:rPr lang="en-US" dirty="0" smtClean="0"/>
              <a:t> Promises/A+</a:t>
            </a:r>
            <a:br>
              <a:rPr lang="en-US" dirty="0" smtClean="0"/>
            </a:br>
            <a:r>
              <a:rPr lang="en-US" dirty="0">
                <a:hlinkClick r:id="rId2"/>
              </a:rPr>
              <a:t>http://promises-aplus.github.io/promises-spec/</a:t>
            </a:r>
            <a:endParaRPr lang="en-US" dirty="0" smtClean="0"/>
          </a:p>
          <a:p>
            <a:pPr lvl="1"/>
            <a:r>
              <a:rPr lang="en-US" dirty="0" smtClean="0"/>
              <a:t>An improvement of the Promises/A description</a:t>
            </a:r>
          </a:p>
          <a:p>
            <a:pPr lvl="1"/>
            <a:r>
              <a:rPr lang="en-US" dirty="0" smtClean="0"/>
              <a:t>Better explanation of border cases</a:t>
            </a:r>
          </a:p>
          <a:p>
            <a:pPr lvl="1"/>
            <a:r>
              <a:rPr lang="en-US" dirty="0" smtClean="0"/>
              <a:t>Several libraries fulfill the A+ spec:</a:t>
            </a:r>
          </a:p>
          <a:p>
            <a:pPr lvl="2"/>
            <a:r>
              <a:rPr lang="en-US" dirty="0" smtClean="0"/>
              <a:t>A notable example is Kris </a:t>
            </a:r>
            <a:r>
              <a:rPr lang="en-US" dirty="0" err="1" smtClean="0"/>
              <a:t>Kowal's</a:t>
            </a:r>
            <a:r>
              <a:rPr lang="en-US" dirty="0" smtClean="0"/>
              <a:t> Q library</a:t>
            </a:r>
            <a:br>
              <a:rPr lang="en-US" dirty="0" smtClean="0"/>
            </a:b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github.com/kriskowal/q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937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2362198"/>
            <a:ext cx="8229600" cy="1295402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The Q Promise Library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3581400"/>
            <a:ext cx="8229600" cy="533400"/>
          </a:xfrm>
        </p:spPr>
        <p:txBody>
          <a:bodyPr/>
          <a:lstStyle/>
          <a:p>
            <a:r>
              <a:rPr lang="en-US" dirty="0" smtClean="0"/>
              <a:t>A rich </a:t>
            </a:r>
            <a:r>
              <a:rPr lang="en-US" dirty="0" err="1" smtClean="0"/>
              <a:t>CommonJS</a:t>
            </a:r>
            <a:r>
              <a:rPr lang="en-US" dirty="0"/>
              <a:t> </a:t>
            </a:r>
            <a:r>
              <a:rPr lang="en-US" dirty="0" smtClean="0"/>
              <a:t>Promises/A+ library</a:t>
            </a:r>
          </a:p>
        </p:txBody>
      </p:sp>
    </p:spTree>
    <p:extLst>
      <p:ext uri="{BB962C8B-B14F-4D97-AF65-F5344CB8AC3E}">
        <p14:creationId xmlns:p14="http://schemas.microsoft.com/office/powerpoint/2010/main" val="7288724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Q Promise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ways of using the Q module:</a:t>
            </a:r>
          </a:p>
          <a:p>
            <a:pPr lvl="1"/>
            <a:r>
              <a:rPr lang="en-US" dirty="0" smtClean="0"/>
              <a:t>Option 1: Download it from the Q repository</a:t>
            </a:r>
          </a:p>
          <a:p>
            <a:pPr marL="1163638" lvl="2" indent="-514350">
              <a:buFont typeface="+mj-lt"/>
              <a:buAutoNum type="arabicPeriod"/>
            </a:pPr>
            <a:r>
              <a:rPr lang="en-US" dirty="0" smtClean="0"/>
              <a:t>Add the q.js or q.min.js file to your project</a:t>
            </a:r>
          </a:p>
          <a:p>
            <a:pPr marL="1163638" lvl="2" indent="-514350">
              <a:buFont typeface="+mj-lt"/>
              <a:buAutoNum type="arabicPeriod"/>
            </a:pPr>
            <a:r>
              <a:rPr lang="en-US" dirty="0" smtClean="0"/>
              <a:t>Reference it with a &lt;script&gt; tag</a:t>
            </a:r>
          </a:p>
          <a:p>
            <a:pPr marL="1163638" lvl="2" indent="-514350">
              <a:buFont typeface="+mj-lt"/>
              <a:buAutoNum type="arabicPeriod"/>
            </a:pPr>
            <a:r>
              <a:rPr lang="en-US" dirty="0" smtClean="0"/>
              <a:t>The Q library will create a global Q object you can use</a:t>
            </a:r>
          </a:p>
          <a:p>
            <a:pPr lvl="1"/>
            <a:r>
              <a:rPr lang="en-US" dirty="0" smtClean="0"/>
              <a:t>Option 2: Using </a:t>
            </a:r>
            <a:r>
              <a:rPr lang="en-US" dirty="0" err="1" smtClean="0"/>
              <a:t>NuGet</a:t>
            </a:r>
            <a:r>
              <a:rPr lang="en-US" dirty="0" smtClean="0"/>
              <a:t> in Visual Studio</a:t>
            </a:r>
          </a:p>
          <a:p>
            <a:pPr marL="1163638" lvl="2" indent="-514350">
              <a:buFont typeface="+mj-lt"/>
              <a:buAutoNum type="arabicPeriod"/>
            </a:pPr>
            <a:r>
              <a:rPr lang="en-US" dirty="0" smtClean="0"/>
              <a:t>Open the Package Manager Console</a:t>
            </a:r>
          </a:p>
          <a:p>
            <a:pPr marL="1163638" lvl="2" indent="-514350">
              <a:buFont typeface="+mj-lt"/>
              <a:buAutoNum type="arabicPeriod"/>
            </a:pPr>
            <a:r>
              <a:rPr lang="en-US" dirty="0" smtClean="0"/>
              <a:t>Type </a:t>
            </a:r>
          </a:p>
          <a:p>
            <a:pPr marL="1163638" lvl="2" indent="-514350">
              <a:buFont typeface="+mj-lt"/>
              <a:buAutoNum type="arabicPeriod"/>
            </a:pPr>
            <a:r>
              <a:rPr lang="en-US" dirty="0" smtClean="0"/>
              <a:t>Go to step 2 in the previous option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09800" y="5762655"/>
            <a:ext cx="26670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Install-Package Q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250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Getting Started with Q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58140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290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Q Promise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Creating Promises with Q</a:t>
            </a:r>
          </a:p>
          <a:p>
            <a:pPr lvl="1"/>
            <a:r>
              <a:rPr lang="en-US" dirty="0" smtClean="0"/>
              <a:t>We can make a regular function into a Promise</a:t>
            </a:r>
          </a:p>
          <a:p>
            <a:pPr lvl="1"/>
            <a:r>
              <a:rPr lang="en-US" dirty="0" smtClean="0"/>
              <a:t>i.e. we take the return value as the value of the function</a:t>
            </a:r>
          </a:p>
          <a:p>
            <a:pPr lvl="1"/>
            <a:r>
              <a:rPr lang="en-US" dirty="0" smtClean="0"/>
              <a:t>Using the function </a:t>
            </a:r>
          </a:p>
          <a:p>
            <a:pPr lvl="1"/>
            <a:r>
              <a:rPr lang="en-US" dirty="0" smtClean="0"/>
              <a:t>First parameter is the function to call</a:t>
            </a:r>
          </a:p>
          <a:p>
            <a:pPr lvl="1"/>
            <a:r>
              <a:rPr lang="en-US" dirty="0" smtClean="0"/>
              <a:t>The following parameters are passed into the called function</a:t>
            </a:r>
          </a:p>
          <a:p>
            <a:pPr lvl="1"/>
            <a:r>
              <a:rPr lang="en-US" dirty="0" smtClean="0"/>
              <a:t>The return value of .</a:t>
            </a:r>
            <a:r>
              <a:rPr lang="en-US" dirty="0" err="1" smtClean="0"/>
              <a:t>fcall</a:t>
            </a:r>
            <a:r>
              <a:rPr lang="en-US" dirty="0" smtClean="0"/>
              <a:t>() is a promise with the function's return value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14800" y="3429000"/>
            <a:ext cx="17526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Q.fcall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5769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Creating Promises from Function Values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92668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0107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Q Promise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dirty="0" smtClean="0"/>
              <a:t>Promises from callback-based functions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Often we need to wrap a callback in a promise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We can use the Deferred object in Q</a:t>
            </a:r>
          </a:p>
          <a:p>
            <a:pPr lvl="2">
              <a:spcAft>
                <a:spcPts val="0"/>
              </a:spcAft>
            </a:pPr>
            <a:endParaRPr lang="en-US" dirty="0" smtClean="0"/>
          </a:p>
          <a:p>
            <a:pPr lvl="1">
              <a:spcAft>
                <a:spcPts val="0"/>
              </a:spcAft>
            </a:pPr>
            <a:r>
              <a:rPr lang="en-US" dirty="0" smtClean="0"/>
              <a:t>Deferred is an object which can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self-fulfill itself with some argument: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Or self-reject itself with an error: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Get the promise which will be fulfilled/rejected: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90600" y="2649089"/>
            <a:ext cx="44958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</a:t>
            </a:r>
            <a:r>
              <a:rPr lang="en-US" sz="24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deferred = </a:t>
            </a: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Q.defer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19200" y="4113112"/>
            <a:ext cx="4267200" cy="3815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deferred.resolve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(result)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19200" y="5060575"/>
            <a:ext cx="4267200" cy="3815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deferred.reject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(reason)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0" y="5970232"/>
            <a:ext cx="4267200" cy="3815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deferred.promise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3078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Creating Promises from Callback-based Functions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92668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577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 Promise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.then() method in the Q library</a:t>
            </a:r>
          </a:p>
          <a:p>
            <a:pPr lvl="1"/>
            <a:r>
              <a:rPr lang="en-US" dirty="0" smtClean="0"/>
              <a:t>Follows the specification</a:t>
            </a:r>
          </a:p>
          <a:p>
            <a:pPr lvl="1"/>
            <a:r>
              <a:rPr lang="en-US" dirty="0" smtClean="0"/>
              <a:t>Success, error and progress handlers</a:t>
            </a:r>
          </a:p>
          <a:p>
            <a:pPr lvl="1"/>
            <a:r>
              <a:rPr lang="en-US" dirty="0" smtClean="0"/>
              <a:t>Value returned from the promise is passed to the success handler</a:t>
            </a:r>
          </a:p>
          <a:p>
            <a:pPr lvl="1"/>
            <a:r>
              <a:rPr lang="en-US" dirty="0" smtClean="0"/>
              <a:t>Errors in the promise are passed to the error handler</a:t>
            </a:r>
          </a:p>
          <a:p>
            <a:pPr lvl="1"/>
            <a:r>
              <a:rPr lang="en-US" dirty="0" smtClean="0"/>
              <a:t>Any progress data the promise reports is passed to the progress handler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258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Full-featured .then() in Q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65760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001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 Promise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Chaining promises</a:t>
            </a:r>
          </a:p>
          <a:p>
            <a:pPr lvl="1"/>
            <a:r>
              <a:rPr lang="en-US" dirty="0" smtClean="0"/>
              <a:t>Each .then() method returns a new promise</a:t>
            </a:r>
          </a:p>
          <a:p>
            <a:pPr lvl="1"/>
            <a:r>
              <a:rPr lang="en-US" dirty="0" smtClean="0"/>
              <a:t>The value of the promise is:</a:t>
            </a:r>
          </a:p>
          <a:p>
            <a:pPr lvl="2"/>
            <a:r>
              <a:rPr lang="en-US" dirty="0" smtClean="0"/>
              <a:t>The return value of the success handler, if the previous promise is fulfilled</a:t>
            </a:r>
          </a:p>
          <a:p>
            <a:pPr lvl="2"/>
            <a:r>
              <a:rPr lang="en-US" dirty="0" smtClean="0"/>
              <a:t>The error data if the previous promise failed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034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Promise Chaining in Q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65760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978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 Promise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Error propagation</a:t>
            </a:r>
          </a:p>
          <a:p>
            <a:pPr lvl="1"/>
            <a:r>
              <a:rPr lang="en-US" dirty="0" smtClean="0"/>
              <a:t>Errors are propagated  up the promise chain</a:t>
            </a:r>
          </a:p>
          <a:p>
            <a:pPr lvl="1"/>
            <a:r>
              <a:rPr lang="en-US" dirty="0" smtClean="0"/>
              <a:t>The first error handler processes the error</a:t>
            </a:r>
          </a:p>
          <a:p>
            <a:pPr lvl="2"/>
            <a:r>
              <a:rPr lang="en-US" dirty="0" smtClean="0"/>
              <a:t>All promises after the error are in the rejected state</a:t>
            </a:r>
          </a:p>
          <a:p>
            <a:pPr lvl="2"/>
            <a:r>
              <a:rPr lang="en-US" dirty="0" smtClean="0"/>
              <a:t>No success handler will be called</a:t>
            </a:r>
          </a:p>
          <a:p>
            <a:r>
              <a:rPr lang="en-US" dirty="0" smtClean="0"/>
              <a:t>.done() function</a:t>
            </a:r>
          </a:p>
          <a:p>
            <a:pPr lvl="1"/>
            <a:r>
              <a:rPr lang="en-US" dirty="0" smtClean="0"/>
              <a:t>Good practice to place at the end of chain</a:t>
            </a:r>
          </a:p>
          <a:p>
            <a:pPr lvl="1"/>
            <a:r>
              <a:rPr lang="en-US" dirty="0" smtClean="0"/>
              <a:t>If no error handler is triggered, done will throw an exception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325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Error Propagation in Q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65760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8420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 Promise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br>
              <a:rPr lang="en-US" dirty="0" smtClean="0"/>
            </a:br>
            <a:r>
              <a:rPr lang="en-US" dirty="0" smtClean="0"/>
              <a:t>to get a promise for a collection of promises:</a:t>
            </a:r>
          </a:p>
          <a:p>
            <a:pPr lvl="1"/>
            <a:r>
              <a:rPr lang="en-US" dirty="0" smtClean="0"/>
              <a:t>Fulfilled when all promises are fulfilled</a:t>
            </a:r>
          </a:p>
          <a:p>
            <a:pPr lvl="2"/>
            <a:r>
              <a:rPr lang="en-US" dirty="0" smtClean="0"/>
              <a:t>Success handler gets the results as an array</a:t>
            </a:r>
          </a:p>
          <a:p>
            <a:pPr lvl="1"/>
            <a:r>
              <a:rPr lang="en-US" dirty="0" smtClean="0"/>
              <a:t>Rejected if any promise is rejected</a:t>
            </a:r>
          </a:p>
          <a:p>
            <a:pPr lvl="2"/>
            <a:r>
              <a:rPr lang="en-US" dirty="0" smtClean="0"/>
              <a:t>Error handler gets the error of the first rejected</a:t>
            </a:r>
          </a:p>
          <a:p>
            <a:r>
              <a:rPr lang="en-US" dirty="0" smtClean="0"/>
              <a:t>Use                        instead of                   to spread the array of results into                       of success handler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447800" y="990600"/>
            <a:ext cx="52578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Q.all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([promise1, promise2, …)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1940" y="4642327"/>
            <a:ext cx="1752600" cy="4196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spread()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50225" y="4642327"/>
            <a:ext cx="1371600" cy="4196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.then()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23014" y="5162260"/>
            <a:ext cx="1698811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arguments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4449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Collections of Promises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65760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170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 Promise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now know the basics of the Q library and Promises</a:t>
            </a:r>
          </a:p>
          <a:p>
            <a:pPr lvl="1"/>
            <a:r>
              <a:rPr lang="en-US" dirty="0" smtClean="0"/>
              <a:t>There's a lot more functionality in Q</a:t>
            </a:r>
          </a:p>
          <a:p>
            <a:pPr lvl="2"/>
            <a:r>
              <a:rPr lang="en-US" dirty="0" smtClean="0"/>
              <a:t>E.g. each promise instance method has a 'static' counterpart:</a:t>
            </a:r>
          </a:p>
          <a:p>
            <a:pPr lvl="2"/>
            <a:r>
              <a:rPr lang="en-US" dirty="0" smtClean="0"/>
              <a:t>                                         and  </a:t>
            </a:r>
          </a:p>
          <a:p>
            <a:pPr lvl="1"/>
            <a:r>
              <a:rPr lang="en-US" dirty="0" smtClean="0"/>
              <a:t>Read the </a:t>
            </a:r>
            <a:r>
              <a:rPr lang="en-US" dirty="0" smtClean="0">
                <a:hlinkClick r:id="rId2"/>
              </a:rPr>
              <a:t>documentation</a:t>
            </a:r>
            <a:endParaRPr lang="en-US" dirty="0" smtClean="0"/>
          </a:p>
          <a:p>
            <a:r>
              <a:rPr lang="en-US" dirty="0" smtClean="0"/>
              <a:t>We will re-write the Geolocation example</a:t>
            </a:r>
          </a:p>
          <a:p>
            <a:pPr lvl="1"/>
            <a:r>
              <a:rPr lang="en-US" dirty="0" smtClean="0"/>
              <a:t>Without callbacks</a:t>
            </a:r>
            <a:endParaRPr lang="en-US" dirty="0"/>
          </a:p>
          <a:p>
            <a:pPr lvl="1"/>
            <a:r>
              <a:rPr lang="en-US" dirty="0" smtClean="0"/>
              <a:t>With promises and promise chains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95400" y="3814465"/>
            <a:ext cx="27432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promise.then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(…)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0" y="3814465"/>
            <a:ext cx="32766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4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Q.then</a:t>
            </a: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(promise, …)</a:t>
            </a:r>
            <a:endParaRPr lang="en-US" sz="24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767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Geolocation with Q Promises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5048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3112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2362198"/>
            <a:ext cx="8229600" cy="1295402"/>
          </a:xfrm>
        </p:spPr>
        <p:txBody>
          <a:bodyPr/>
          <a:lstStyle/>
          <a:p>
            <a:pPr marL="304785" indent="-304785" eaLnBrk="1" hangingPunct="1">
              <a:lnSpc>
                <a:spcPct val="95000"/>
              </a:lnSpc>
            </a:pPr>
            <a:r>
              <a:rPr lang="en-US" dirty="0" smtClean="0"/>
              <a:t>Promises in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3581400"/>
            <a:ext cx="8229600" cy="533400"/>
          </a:xfrm>
        </p:spPr>
        <p:txBody>
          <a:bodyPr/>
          <a:lstStyle/>
          <a:p>
            <a:r>
              <a:rPr lang="en-US" dirty="0" smtClean="0"/>
              <a:t>Creation, Usage, Specifics</a:t>
            </a:r>
          </a:p>
        </p:txBody>
      </p:sp>
    </p:spTree>
    <p:extLst>
      <p:ext uri="{BB962C8B-B14F-4D97-AF65-F5344CB8AC3E}">
        <p14:creationId xmlns:p14="http://schemas.microsoft.com/office/powerpoint/2010/main" val="33951819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Promises in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r>
              <a:rPr lang="en-US" dirty="0" smtClean="0"/>
              <a:t> supports </a:t>
            </a:r>
            <a:r>
              <a:rPr lang="en-US" dirty="0" err="1" smtClean="0"/>
              <a:t>CommonJS</a:t>
            </a:r>
            <a:r>
              <a:rPr lang="en-US" dirty="0" smtClean="0"/>
              <a:t> Promises/A</a:t>
            </a:r>
          </a:p>
          <a:p>
            <a:pPr lvl="1"/>
            <a:r>
              <a:rPr lang="en-US" dirty="0" smtClean="0"/>
              <a:t>Since </a:t>
            </a:r>
            <a:r>
              <a:rPr lang="en-US" dirty="0" err="1" smtClean="0"/>
              <a:t>jQuery</a:t>
            </a:r>
            <a:r>
              <a:rPr lang="en-US" dirty="0" smtClean="0"/>
              <a:t> 1.5</a:t>
            </a:r>
          </a:p>
          <a:p>
            <a:pPr lvl="1"/>
            <a:r>
              <a:rPr lang="en-US" dirty="0" smtClean="0"/>
              <a:t>* almost (details </a:t>
            </a:r>
            <a:r>
              <a:rPr lang="en-US" dirty="0" smtClean="0">
                <a:hlinkClick r:id="rId2"/>
              </a:rPr>
              <a:t>here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.then() didn't return a promise until </a:t>
            </a:r>
            <a:r>
              <a:rPr lang="en-US" dirty="0" err="1" smtClean="0"/>
              <a:t>jQuery</a:t>
            </a:r>
            <a:r>
              <a:rPr lang="en-US" dirty="0" smtClean="0"/>
              <a:t> 1.8</a:t>
            </a:r>
          </a:p>
          <a:p>
            <a:pPr lvl="3"/>
            <a:r>
              <a:rPr lang="en-US" dirty="0" smtClean="0"/>
              <a:t>.pipe() was used</a:t>
            </a:r>
          </a:p>
          <a:p>
            <a:pPr lvl="2"/>
            <a:r>
              <a:rPr lang="en-US" dirty="0" smtClean="0"/>
              <a:t>Errors in handlers don't propagate up</a:t>
            </a:r>
          </a:p>
          <a:p>
            <a:r>
              <a:rPr lang="en-US" dirty="0" smtClean="0"/>
              <a:t>Generally, </a:t>
            </a:r>
            <a:r>
              <a:rPr lang="en-US" dirty="0" err="1" smtClean="0"/>
              <a:t>jQuery</a:t>
            </a:r>
            <a:r>
              <a:rPr lang="en-US" dirty="0" smtClean="0"/>
              <a:t> promises look and feel the same as Q promises</a:t>
            </a:r>
          </a:p>
          <a:p>
            <a:pPr lvl="1"/>
            <a:r>
              <a:rPr lang="en-US" dirty="0" smtClean="0"/>
              <a:t>Use them the same way, but be cautious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5165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Promises in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jQuery.Deferred</a:t>
            </a:r>
            <a:r>
              <a:rPr lang="en-US" dirty="0" smtClean="0"/>
              <a:t> object</a:t>
            </a:r>
          </a:p>
          <a:p>
            <a:pPr lvl="1"/>
            <a:r>
              <a:rPr lang="en-US" dirty="0" smtClean="0"/>
              <a:t>Extended, mutable promise</a:t>
            </a:r>
          </a:p>
          <a:p>
            <a:pPr lvl="2"/>
            <a:r>
              <a:rPr lang="en-US" dirty="0" smtClean="0"/>
              <a:t>Just like in Q</a:t>
            </a:r>
          </a:p>
          <a:p>
            <a:pPr lvl="1"/>
            <a:r>
              <a:rPr lang="en-US" dirty="0" smtClean="0"/>
              <a:t>Can resolve and reject itself with arguments</a:t>
            </a:r>
          </a:p>
          <a:p>
            <a:pPr lvl="1"/>
            <a:r>
              <a:rPr lang="en-US" dirty="0" smtClean="0"/>
              <a:t>Can retrieve an immutable promise object</a:t>
            </a:r>
          </a:p>
          <a:p>
            <a:pPr lvl="2"/>
            <a:r>
              <a:rPr lang="en-US" dirty="0" smtClean="0"/>
              <a:t>Which in fact will be resolved/rejected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66800" y="4648200"/>
            <a:ext cx="70104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d = </a:t>
            </a: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jQuery.Deferred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 //$.Deferred()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d.resolve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(result); //resolves the deferred, calling success handlers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d.reject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(reason); // rejects the deferred, calling error handlers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d.promise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 //note: here promise is a function</a:t>
            </a:r>
          </a:p>
        </p:txBody>
      </p:sp>
    </p:spTree>
    <p:extLst>
      <p:ext uri="{BB962C8B-B14F-4D97-AF65-F5344CB8AC3E}">
        <p14:creationId xmlns:p14="http://schemas.microsoft.com/office/powerpoint/2010/main" val="4047488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Creating and Using Promises in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5048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5409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Promises in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Specifics of error propagation in </a:t>
            </a:r>
            <a:r>
              <a:rPr lang="en-US" dirty="0" err="1" smtClean="0"/>
              <a:t>jQuery</a:t>
            </a:r>
            <a:endParaRPr lang="en-US" dirty="0" smtClean="0"/>
          </a:p>
          <a:p>
            <a:pPr lvl="1"/>
            <a:r>
              <a:rPr lang="en-US" dirty="0" smtClean="0"/>
              <a:t>Calling reject (from deferred) works as expected</a:t>
            </a:r>
          </a:p>
          <a:p>
            <a:pPr lvl="2"/>
            <a:r>
              <a:rPr lang="en-US" dirty="0" smtClean="0"/>
              <a:t>Only error handlers are called</a:t>
            </a:r>
          </a:p>
          <a:p>
            <a:pPr lvl="1"/>
            <a:r>
              <a:rPr lang="en-US" dirty="0" smtClean="0"/>
              <a:t>Errors in success/error handlers are not propagated</a:t>
            </a:r>
          </a:p>
          <a:p>
            <a:pPr lvl="2"/>
            <a:r>
              <a:rPr lang="en-US" dirty="0" smtClean="0"/>
              <a:t>Thrown exceptions will not be processed by error handlers in the chain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95400" y="4953000"/>
            <a:ext cx="7010400" cy="163121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promiseMeSomething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().then(function(){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invalid code //throws an exception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}).then(function(){}, function(err){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//this error handler will not be called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4594532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r>
              <a:rPr lang="en-US" dirty="0" smtClean="0"/>
              <a:t>Promises and Asynchronous Programming</a:t>
            </a:r>
            <a:endParaRPr lang="bg-B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748416" y="2971799"/>
            <a:ext cx="5642984" cy="1219201"/>
          </a:xfrm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 smtClean="0"/>
              <a:t>Questions?</a:t>
            </a:r>
            <a:endParaRPr lang="en-US" sz="7200" dirty="0"/>
          </a:p>
        </p:txBody>
      </p:sp>
      <p:sp>
        <p:nvSpPr>
          <p:cNvPr id="6" name="TextBox 5"/>
          <p:cNvSpPr txBox="1"/>
          <p:nvPr/>
        </p:nvSpPr>
        <p:spPr>
          <a:xfrm rot="12041701" flipH="1">
            <a:off x="7298514" y="4376807"/>
            <a:ext cx="949687" cy="18039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115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 rot="2456848" flipH="1">
            <a:off x="968763" y="4574331"/>
            <a:ext cx="859648" cy="2404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4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4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9535351" flipH="1">
            <a:off x="793612" y="1974335"/>
            <a:ext cx="949687" cy="14014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 rot="16938170" flipH="1">
            <a:off x="4905823" y="1007426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 rot="19836951" flipH="1">
            <a:off x="7434275" y="1104110"/>
            <a:ext cx="949687" cy="24929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5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56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 rot="2233443" flipH="1">
            <a:off x="2277485" y="1202946"/>
            <a:ext cx="584096" cy="9243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 rot="8530737" flipH="1">
            <a:off x="4871755" y="4604327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 rot="12627025" flipH="1">
            <a:off x="2726518" y="4222010"/>
            <a:ext cx="584096" cy="62616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 rot="1186146" flipH="1">
            <a:off x="6185957" y="4166602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 rot="19460650" flipH="1">
            <a:off x="3142397" y="2204058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 rot="18277140" flipH="1">
            <a:off x="438513" y="3116670"/>
            <a:ext cx="891282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45559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"Web Design with HTML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5</a:t>
            </a:r>
            <a:r>
              <a:rPr lang="en-US" dirty="0" smtClean="0"/>
              <a:t>, CSS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3</a:t>
            </a:r>
            <a:r>
              <a:rPr lang="en-US" dirty="0" smtClean="0"/>
              <a:t> and JavaScript" course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2" tooltip="&quot;Web Design with HTML 5, CSS 3 and JavaScript&quot; course @ Telerik Academy"/>
              </a:rPr>
              <a:t>html5course.telerik.com</a:t>
            </a:r>
            <a:endParaRPr lang="en-US" noProof="1" smtClean="0"/>
          </a:p>
          <a:p>
            <a:pPr marL="282575" lvl="1" indent="-282575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 descr="http://academy.telerik.com" title="Telerik Software Academy - free Training for Ninja Developers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49" y="5029200"/>
            <a:ext cx="1466851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http://academy.telerik.com/" title="Telerik Software Academy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8194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http://facebook.com/TelerikAcademy" title="Telerik Software Academy @ Facebook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00" y="4228275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http://html5course.telerik.com" title="Web Design with HTML5, CSS and JavaScript Free Course">
            <a:hlinkClick r:id="rId2" tooltip="&quot;Web Design with HTML 5, CSS 3 and JavaScript&quot; course @ Telerik Academy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99" y="1026915"/>
            <a:ext cx="1230302" cy="97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380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5c0ed1f3aaa5b921b3638c123e4eb489bc123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2791</TotalTime>
  <Words>1592</Words>
  <Application>Microsoft Macintosh PowerPoint</Application>
  <PresentationFormat>On-screen Show (4:3)</PresentationFormat>
  <Paragraphs>331</Paragraphs>
  <Slides>45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Telerik Academy</vt:lpstr>
      <vt:lpstr>Promises and Asynchronous Programming </vt:lpstr>
      <vt:lpstr>Table of Contents</vt:lpstr>
      <vt:lpstr>Asynchrony in JavaScript</vt:lpstr>
      <vt:lpstr>Asynchrony in JavaScript</vt:lpstr>
      <vt:lpstr>Asynchrony in JavaScript (2)</vt:lpstr>
      <vt:lpstr>Callback-oriented Programming</vt:lpstr>
      <vt:lpstr>Callback-oriented Programming</vt:lpstr>
      <vt:lpstr>Simple Callback</vt:lpstr>
      <vt:lpstr>Callback-oriented Programming (2)</vt:lpstr>
      <vt:lpstr>Callback with Value Needed by Other Method</vt:lpstr>
      <vt:lpstr>Using Browser-provided Async APIs</vt:lpstr>
      <vt:lpstr>Using Browser-provided Asynchronous APIs</vt:lpstr>
      <vt:lpstr>Using Browser-provided Asynchronous APIs</vt:lpstr>
      <vt:lpstr>Callback-based usage of the Geolocation API</vt:lpstr>
      <vt:lpstr>Summary on callback-based usage of Geolocation</vt:lpstr>
      <vt:lpstr>Promises</vt:lpstr>
      <vt:lpstr>Promises</vt:lpstr>
      <vt:lpstr>Promises</vt:lpstr>
      <vt:lpstr>Promises</vt:lpstr>
      <vt:lpstr>Promises</vt:lpstr>
      <vt:lpstr>Promises</vt:lpstr>
      <vt:lpstr>The Q Promise Library</vt:lpstr>
      <vt:lpstr>The Q Promise Library</vt:lpstr>
      <vt:lpstr>Getting Started with Q</vt:lpstr>
      <vt:lpstr>The Q Promise Library</vt:lpstr>
      <vt:lpstr>Creating Promises from Function Values</vt:lpstr>
      <vt:lpstr>The Q Promise Library</vt:lpstr>
      <vt:lpstr>Creating Promises from Callback-based Functions</vt:lpstr>
      <vt:lpstr>The Q Promise Library</vt:lpstr>
      <vt:lpstr>Full-featured .then() in Q</vt:lpstr>
      <vt:lpstr>The Q Promise Library</vt:lpstr>
      <vt:lpstr>Promise Chaining in Q</vt:lpstr>
      <vt:lpstr>The Q Promise Library</vt:lpstr>
      <vt:lpstr>Error Propagation in Q</vt:lpstr>
      <vt:lpstr>The Q Promise Library</vt:lpstr>
      <vt:lpstr>Collections of Promises</vt:lpstr>
      <vt:lpstr>The Q Promise Library</vt:lpstr>
      <vt:lpstr>Geolocation with Q Promises</vt:lpstr>
      <vt:lpstr>Promises in jQuery</vt:lpstr>
      <vt:lpstr>Promises in jQuery</vt:lpstr>
      <vt:lpstr>Promises in jQuery</vt:lpstr>
      <vt:lpstr>Creating and Using Promises in jQuery</vt:lpstr>
      <vt:lpstr>Promises in jQuery</vt:lpstr>
      <vt:lpstr>Promises and Asynchronous Programming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- Course Intro</dc:title>
  <dc:subject>Telerik Software Academy</dc:subject>
  <dc:creator>Svetlin Nakov</dc:creator>
  <cp:keywords>C#, course, telerik software academy, free courses for developers, OOP, object-oriented programming</cp:keywords>
  <cp:lastModifiedBy>Doncho Minkov</cp:lastModifiedBy>
  <cp:revision>907</cp:revision>
  <dcterms:created xsi:type="dcterms:W3CDTF">2007-12-08T16:03:35Z</dcterms:created>
  <dcterms:modified xsi:type="dcterms:W3CDTF">2014-02-14T08:53:42Z</dcterms:modified>
  <cp:category>software engineering</cp:category>
</cp:coreProperties>
</file>