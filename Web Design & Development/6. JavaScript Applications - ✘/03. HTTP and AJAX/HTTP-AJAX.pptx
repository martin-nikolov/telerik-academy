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8"/>
  </p:notesMasterIdLst>
  <p:handoutMasterIdLst>
    <p:handoutMasterId r:id="rId59"/>
  </p:handout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16" r:id="rId35"/>
    <p:sldId id="317" r:id="rId36"/>
    <p:sldId id="313" r:id="rId37"/>
    <p:sldId id="314" r:id="rId38"/>
    <p:sldId id="315" r:id="rId39"/>
    <p:sldId id="292" r:id="rId40"/>
    <p:sldId id="293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294" r:id="rId54"/>
    <p:sldId id="295" r:id="rId55"/>
    <p:sldId id="298" r:id="rId56"/>
    <p:sldId id="299" r:id="rId57"/>
  </p:sldIdLst>
  <p:sldSz cx="9144000" cy="6858000" type="screen4x3"/>
  <p:notesSz cx="6881813" cy="9296400"/>
  <p:custDataLst>
    <p:tags r:id="rId6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468" autoAdjust="0"/>
  </p:normalViewPr>
  <p:slideViewPr>
    <p:cSldViewPr>
      <p:cViewPr varScale="1">
        <p:scale>
          <a:sx n="88" d="100"/>
          <a:sy n="88" d="100"/>
        </p:scale>
        <p:origin x="13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2/26/2014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2/26/2014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CF989F-2540-4A1F-95BB-19F8DB837FED}" type="slidenum">
              <a:rPr lang="en-US"/>
              <a:pPr/>
              <a:t>19</a:t>
            </a:fld>
            <a:r>
              <a:rPr lang="en-US" dirty="0"/>
              <a:t>##</a:t>
            </a:r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1094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academy.telerik.com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gif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Representational_State_Transfer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mysite.com/docs/Code/RestTalk/pages/3" TargetMode="External"/><Relationship Id="rId2" Type="http://schemas.openxmlformats.org/officeDocument/2006/relationships/hyperlink" Target="http://mysite.com/docs/Code/RestTalk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www.example.com/dir/page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ddler2.com/" TargetMode="External"/><Relationship Id="rId2" Type="http://schemas.openxmlformats.org/officeDocument/2006/relationships/hyperlink" Target="http://www.getfirebu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hyperlink" Target="http://www.fiddler2.com/fiddler2/" TargetMode="Externa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://www.wireshark.org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40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42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HTTP and AJAX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 smtClean="0"/>
              <a:t>WWW,  HTTP, AJAX, JSONP</a:t>
            </a:r>
            <a:endParaRPr lang="en-US" noProof="1"/>
          </a:p>
        </p:txBody>
      </p:sp>
      <p:pic>
        <p:nvPicPr>
          <p:cNvPr id="10" name="Picture 2" descr="http://us.123rf.com/400wm/400/400/kentoh/kentoh0901/kentoh090100047/408147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4531180"/>
            <a:ext cx="3962400" cy="1839686"/>
          </a:xfrm>
          <a:prstGeom prst="roundRect">
            <a:avLst>
              <a:gd name="adj" fmla="val 5096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1" name="Picture 2" descr="http://www.iconarchive.com/icons/babasse/imod/256/html-ico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9478" y="3200400"/>
            <a:ext cx="1378227" cy="1219200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</p:pic>
      <p:pic>
        <p:nvPicPr>
          <p:cNvPr id="12" name="Picture 4" descr="http://section508.gov/docs/gettysburg2008/Web2pt0_2008_NBR_files/images/image28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5498" y="457200"/>
            <a:ext cx="1375102" cy="1565114"/>
          </a:xfrm>
          <a:prstGeom prst="roundRect">
            <a:avLst>
              <a:gd name="adj" fmla="val 642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HeroicExtremeLeftFacing"/>
            <a:lightRig rig="threePt" dir="t"/>
          </a:scene3d>
        </p:spPr>
      </p:pic>
      <p:pic>
        <p:nvPicPr>
          <p:cNvPr id="13" name="Picture 6" descr="http://www.jidesoft.com/icon/macosx/macosx.pn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411243">
            <a:off x="4377293" y="258387"/>
            <a:ext cx="2023902" cy="1806334"/>
          </a:xfrm>
          <a:prstGeom prst="rect">
            <a:avLst/>
          </a:prstGeom>
          <a:noFill/>
        </p:spPr>
      </p:pic>
      <p:pic>
        <p:nvPicPr>
          <p:cNvPr id="14" name="Picture 2" descr="http://dragonartz.files.wordpress.com/2008/10/_vector-http-preview2-by-dragonart.png?w=495&amp;h=495"/>
          <p:cNvPicPr>
            <a:picLocks noChangeAspect="1" noChangeArrowheads="1"/>
          </p:cNvPicPr>
          <p:nvPr/>
        </p:nvPicPr>
        <p:blipFill rotWithShape="1">
          <a:blip r:embed="rId6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21057028">
            <a:off x="765531" y="842215"/>
            <a:ext cx="2902197" cy="106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57198" y="5496290"/>
            <a:ext cx="3990513" cy="400110"/>
          </a:xfr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Learning &amp; Development 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Team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57199" y="5801090"/>
            <a:ext cx="3990513" cy="369332"/>
          </a:xfrm>
          <a:noFill/>
        </p:spPr>
        <p:txBody>
          <a:bodyPr wrap="square" rtlCol="0">
            <a:spAutoFit/>
          </a:bodyPr>
          <a:lstStyle/>
          <a:p>
            <a:pPr marL="319088" indent="-319088">
              <a:spcBef>
                <a:spcPct val="20000"/>
              </a:spcBef>
            </a:pPr>
            <a:r>
              <a:rPr lang="en-US" dirty="0">
                <a:hlinkClick r:id="rId7"/>
              </a:rPr>
              <a:t>http://academy.telerik.com</a:t>
            </a:r>
            <a:r>
              <a:rPr lang="en-US" dirty="0"/>
              <a:t> 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7199" y="5121647"/>
            <a:ext cx="3990513" cy="461665"/>
          </a:xfr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ct val="20000"/>
              </a:spcBef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Telerik Software Academy</a:t>
            </a:r>
          </a:p>
        </p:txBody>
      </p:sp>
    </p:spTree>
    <p:extLst>
      <p:ext uri="{BB962C8B-B14F-4D97-AF65-F5344CB8AC3E}">
        <p14:creationId xmlns:p14="http://schemas.microsoft.com/office/powerpoint/2010/main" val="22818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</a:t>
            </a:r>
            <a:r>
              <a:rPr lang="en-US" smtClean="0"/>
              <a:t>of Contents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686800" cy="6172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WWW and URL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HTML, XML</a:t>
            </a:r>
            <a:r>
              <a:rPr lang="en-US" dirty="0"/>
              <a:t>, JSON, </a:t>
            </a:r>
            <a:r>
              <a:rPr lang="en-US" dirty="0" smtClean="0"/>
              <a:t>RSS, </a:t>
            </a:r>
            <a:r>
              <a:rPr lang="en-US" dirty="0"/>
              <a:t>JSONP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The HTTP Protocol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HTTP Request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HTTP Response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AJAX Requests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Same-Origin Policy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Workarounds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JSONP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Web Developer Tools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288249" y="2110784"/>
            <a:ext cx="4286250" cy="35718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19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://www.isangate.net/services/images/www-host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108950"/>
            <a:ext cx="3181350" cy="2638426"/>
          </a:xfrm>
          <a:prstGeom prst="roundRect">
            <a:avLst>
              <a:gd name="adj" fmla="val 374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2" descr="http://www.jidesoft.com/blog/wp-content/uploads/2008/06/vist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483288">
            <a:off x="5294930" y="1572888"/>
            <a:ext cx="3352800" cy="2992374"/>
          </a:xfrm>
          <a:prstGeom prst="rect">
            <a:avLst/>
          </a:prstGeom>
          <a:noFill/>
        </p:spPr>
      </p:pic>
      <p:pic>
        <p:nvPicPr>
          <p:cNvPr id="29700" name="Picture 4" descr="http://smnet.co.uk/Links/files/www-icon.gif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8" b="12987"/>
          <a:stretch>
            <a:fillRect/>
          </a:stretch>
        </p:blipFill>
        <p:spPr bwMode="auto">
          <a:xfrm rot="20449672">
            <a:off x="393772" y="2014157"/>
            <a:ext cx="2667000" cy="23844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4495800"/>
            <a:ext cx="8229600" cy="685800"/>
          </a:xfrm>
        </p:spPr>
        <p:txBody>
          <a:bodyPr/>
          <a:lstStyle/>
          <a:p>
            <a:r>
              <a:rPr lang="en-US" dirty="0" smtClean="0"/>
              <a:t>WWW and URL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5298279"/>
            <a:ext cx="8229600" cy="569120"/>
          </a:xfrm>
        </p:spPr>
        <p:txBody>
          <a:bodyPr/>
          <a:lstStyle/>
          <a:p>
            <a:r>
              <a:rPr lang="en-US" dirty="0" smtClean="0"/>
              <a:t>What is WWW? What is URL?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90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WWW?</a:t>
            </a:r>
            <a:endParaRPr lang="bg-BG" dirty="0"/>
          </a:p>
        </p:txBody>
      </p:sp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598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WWW =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World Wide Web</a:t>
            </a:r>
            <a:r>
              <a:rPr lang="en-US" dirty="0" smtClean="0"/>
              <a:t> = Web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/>
              <a:t>Global distributed information system </a:t>
            </a:r>
            <a:r>
              <a:rPr lang="en-US" dirty="0"/>
              <a:t>in Internet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A service in Internet (like E-mail, DNS, ...)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Consists of set </a:t>
            </a:r>
            <a:r>
              <a:rPr lang="en-US" dirty="0"/>
              <a:t>of documents (and other resources) located on different Internet servers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Accessed through standard protocols like HTTP, HTTPS and FTP by their URL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Web servers</a:t>
            </a:r>
            <a:r>
              <a:rPr lang="en-US" dirty="0"/>
              <a:t> provide Web content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Web browsers</a:t>
            </a:r>
            <a:r>
              <a:rPr lang="en-US" dirty="0"/>
              <a:t> display the </a:t>
            </a:r>
            <a:r>
              <a:rPr lang="en-US" dirty="0" smtClean="0"/>
              <a:t>Web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590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WWW Components</a:t>
            </a:r>
            <a:endParaRPr lang="bg-BG" dirty="0"/>
          </a:p>
        </p:txBody>
      </p:sp>
      <p:sp>
        <p:nvSpPr>
          <p:cNvPr id="466946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914401"/>
            <a:ext cx="8610600" cy="57546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/>
              <a:t>Structural components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Internet – provides data transfer </a:t>
            </a:r>
            <a:r>
              <a:rPr lang="en-US" sz="2800" dirty="0" smtClean="0"/>
              <a:t>channels over the TCP </a:t>
            </a:r>
            <a:r>
              <a:rPr lang="en-US" sz="2800" dirty="0"/>
              <a:t>and HTTP protocols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Clients (Web browsers) – display Web content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Web servers – </a:t>
            </a:r>
            <a:r>
              <a:rPr lang="en-US" sz="2800" dirty="0" smtClean="0"/>
              <a:t>IIS, Apache</a:t>
            </a:r>
            <a:r>
              <a:rPr lang="en-US" sz="2800" dirty="0"/>
              <a:t>, </a:t>
            </a:r>
            <a:r>
              <a:rPr lang="en-US" sz="2800" dirty="0" smtClean="0"/>
              <a:t>Tomcat, GWS, etc.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000" dirty="0"/>
              <a:t>Semantic components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Hyper Text Transfer Protocol (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HTTP</a:t>
            </a:r>
            <a:r>
              <a:rPr lang="en-US" sz="28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Hyper Text Markup Language (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HTML</a:t>
            </a:r>
            <a:r>
              <a:rPr lang="en-US" sz="28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Uniform Resource Locator (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URL</a:t>
            </a:r>
            <a:r>
              <a:rPr lang="en-US" sz="2800" dirty="0" smtClean="0"/>
              <a:t>)</a:t>
            </a:r>
            <a:endParaRPr lang="en-US" sz="2800" dirty="0"/>
          </a:p>
          <a:p>
            <a:pPr lvl="2">
              <a:lnSpc>
                <a:spcPct val="100000"/>
              </a:lnSpc>
            </a:pPr>
            <a:r>
              <a:rPr lang="en-US" sz="2600" dirty="0"/>
              <a:t>Uniform Resource Identifiers (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URIs</a:t>
            </a:r>
            <a:r>
              <a:rPr lang="en-US" sz="26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79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WWW Infrastructure</a:t>
            </a:r>
            <a:endParaRPr lang="bg-BG" dirty="0"/>
          </a:p>
        </p:txBody>
      </p:sp>
      <p:sp>
        <p:nvSpPr>
          <p:cNvPr id="467970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5340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/>
              <a:t>Clients use Web browser application to request resources from the Web servers via HTTP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Resources have unique URL address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Servers </a:t>
            </a:r>
            <a:r>
              <a:rPr lang="en-US" sz="3000" dirty="0" smtClean="0"/>
              <a:t>send the requested resource as a response</a:t>
            </a:r>
            <a:endParaRPr lang="en-US" sz="30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Or </a:t>
            </a:r>
            <a:r>
              <a:rPr lang="en-US" sz="2800" dirty="0" smtClean="0"/>
              <a:t>reply with an </a:t>
            </a:r>
            <a:r>
              <a:rPr lang="en-US" sz="2800" dirty="0"/>
              <a:t>error message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Web pages are resources in WWW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HTML </a:t>
            </a:r>
            <a:r>
              <a:rPr lang="en-US" sz="2800" dirty="0"/>
              <a:t>text, graphics, </a:t>
            </a:r>
            <a:r>
              <a:rPr lang="en-US" sz="2800" dirty="0" smtClean="0"/>
              <a:t>animations </a:t>
            </a:r>
            <a:r>
              <a:rPr lang="en-US" sz="2800" dirty="0"/>
              <a:t>and other files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Web sites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Web sites are sets of Web pages in WWW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19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WWW Infrastructure (2)</a:t>
            </a:r>
            <a:endParaRPr lang="bg-BG" dirty="0"/>
          </a:p>
        </p:txBody>
      </p:sp>
      <p:sp>
        <p:nvSpPr>
          <p:cNvPr id="468994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066799"/>
            <a:ext cx="8610600" cy="550545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/>
              <a:t>Client’s browser renders Web pages returned by the Web servers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Pages are </a:t>
            </a:r>
            <a:r>
              <a:rPr lang="en-US" sz="2800" dirty="0" smtClean="0"/>
              <a:t>in HTML </a:t>
            </a:r>
            <a:r>
              <a:rPr lang="en-US" sz="2800" dirty="0"/>
              <a:t>(Hyper Text Markup Language)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Browsers </a:t>
            </a:r>
            <a:r>
              <a:rPr lang="en-US" sz="2800" dirty="0" smtClean="0"/>
              <a:t>show </a:t>
            </a:r>
            <a:r>
              <a:rPr lang="en-US" sz="2800" dirty="0"/>
              <a:t>the text, </a:t>
            </a:r>
            <a:r>
              <a:rPr lang="en-US" sz="2800" dirty="0" smtClean="0"/>
              <a:t>graphics, sounds, etc.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HTML pages contain hyperlinks </a:t>
            </a:r>
            <a:r>
              <a:rPr lang="en-US" sz="2800" dirty="0" smtClean="0"/>
              <a:t>to other </a:t>
            </a:r>
            <a:r>
              <a:rPr lang="en-US" sz="2800" dirty="0"/>
              <a:t>pages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The entire WWW system runs over standard networking protocols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TCP, </a:t>
            </a:r>
            <a:r>
              <a:rPr lang="en-US" sz="2800" dirty="0"/>
              <a:t>DNS, HTTP, </a:t>
            </a:r>
            <a:r>
              <a:rPr lang="en-US" sz="2800" dirty="0" smtClean="0"/>
              <a:t>FTP, …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000" dirty="0" smtClean="0"/>
              <a:t>The HTTP </a:t>
            </a:r>
            <a:r>
              <a:rPr lang="en-US" sz="3000" dirty="0"/>
              <a:t>protocol is fundamental for WWW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09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URL</a:t>
            </a:r>
            <a:endParaRPr lang="en-US" sz="3800" dirty="0"/>
          </a:p>
        </p:txBody>
      </p:sp>
      <p:sp>
        <p:nvSpPr>
          <p:cNvPr id="4700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81742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/>
              <a:t>Uniform Resource Locator (URL)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Unique resource location in WWW, e.g.</a:t>
            </a:r>
          </a:p>
          <a:p>
            <a:pPr>
              <a:lnSpc>
                <a:spcPct val="100000"/>
              </a:lnSpc>
            </a:pP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dirty="0"/>
              <a:t>It is just a formatted </a:t>
            </a:r>
            <a:r>
              <a:rPr lang="en-US" sz="3000" dirty="0" smtClean="0"/>
              <a:t>string, consisting of:</a:t>
            </a:r>
            <a:endParaRPr lang="en-US" sz="30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Protocol for communicating with </a:t>
            </a:r>
            <a:r>
              <a:rPr lang="en-US" sz="2800" dirty="0" smtClean="0"/>
              <a:t>the server </a:t>
            </a:r>
            <a:r>
              <a:rPr lang="en-US" sz="2800" dirty="0"/>
              <a:t>(e.g.,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http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ftp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https</a:t>
            </a:r>
            <a:r>
              <a:rPr lang="en-US" sz="2800" dirty="0"/>
              <a:t>, ...)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Name of the server or IP </a:t>
            </a:r>
            <a:r>
              <a:rPr lang="en-US" sz="2800" dirty="0" smtClean="0"/>
              <a:t>address + optional port (e.g. </a:t>
            </a:r>
            <a:r>
              <a:rPr lang="en-US" sz="28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www.telerik.com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mail.bg:8080</a:t>
            </a:r>
            <a:r>
              <a:rPr lang="en-US" sz="2800" dirty="0" smtClean="0"/>
              <a:t>)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Path </a:t>
            </a:r>
            <a:r>
              <a:rPr lang="en-US" sz="2800" dirty="0"/>
              <a:t>and name of the resource (</a:t>
            </a:r>
            <a:r>
              <a:rPr lang="en-US" sz="2800" dirty="0" smtClean="0"/>
              <a:t>e.g. </a:t>
            </a:r>
            <a:r>
              <a:rPr lang="en-US" sz="28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index.php</a:t>
            </a:r>
            <a:r>
              <a:rPr lang="en-US" sz="2800" dirty="0" smtClean="0"/>
              <a:t>)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Parameters (optional, e.g.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?id=27&amp;lang=en</a:t>
            </a:r>
            <a:r>
              <a:rPr lang="en-US" sz="2800" dirty="0"/>
              <a:t>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70020" name="Rectangle 4"/>
          <p:cNvSpPr>
            <a:spLocks noChangeArrowheads="1"/>
          </p:cNvSpPr>
          <p:nvPr/>
        </p:nvSpPr>
        <p:spPr bwMode="auto">
          <a:xfrm>
            <a:off x="763588" y="2133600"/>
            <a:ext cx="7618412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http://yoursite.com:8080/path/index.php?id=27&amp;lang=en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54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Encoding</a:t>
            </a:r>
            <a:endParaRPr lang="bg-BG" dirty="0"/>
          </a:p>
        </p:txBody>
      </p:sp>
      <p:sp>
        <p:nvSpPr>
          <p:cNvPr id="493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URLs are encoded according RFC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1738</a:t>
            </a:r>
            <a:r>
              <a:rPr lang="en-US" dirty="0"/>
              <a:t>: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All other characters are escaped with the </a:t>
            </a:r>
            <a:r>
              <a:rPr lang="en-US" dirty="0" smtClean="0"/>
              <a:t>formula:</a:t>
            </a:r>
          </a:p>
          <a:p>
            <a:pPr lvl="1">
              <a:lnSpc>
                <a:spcPct val="100000"/>
              </a:lnSpc>
              <a:spcBef>
                <a:spcPts val="5400"/>
              </a:spcBef>
            </a:pPr>
            <a:r>
              <a:rPr lang="en-US" dirty="0" smtClean="0"/>
              <a:t>Example</a:t>
            </a:r>
            <a:r>
              <a:rPr lang="en-US" dirty="0"/>
              <a:t>: </a:t>
            </a:r>
            <a:r>
              <a:rPr lang="en-US" dirty="0" smtClean="0"/>
              <a:t>space </a:t>
            </a:r>
            <a:r>
              <a:rPr lang="en-US" dirty="0"/>
              <a:t>has decimal code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32</a:t>
            </a:r>
            <a:r>
              <a:rPr lang="en-US" dirty="0"/>
              <a:t>, in hex –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20</a:t>
            </a:r>
            <a:r>
              <a:rPr lang="en-US" dirty="0"/>
              <a:t>, so space in URL becomes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%20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Space can also be encoded as "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dirty="0"/>
              <a:t>"</a:t>
            </a:r>
            <a:endParaRPr lang="bg-B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93572" name="Rectangle 4"/>
          <p:cNvSpPr>
            <a:spLocks noChangeArrowheads="1"/>
          </p:cNvSpPr>
          <p:nvPr/>
        </p:nvSpPr>
        <p:spPr bwMode="auto">
          <a:xfrm>
            <a:off x="609602" y="1524000"/>
            <a:ext cx="7924798" cy="13788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“... Only alphanumeric [0-9a-zA-Z], the special characters $-_.+!*'() and reserved characters used for their reserved purposes may be used unencoded within an URL.”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2747" y="4191000"/>
            <a:ext cx="7921682" cy="4139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%[character hex code in ISO-Latin character set]</a:t>
            </a:r>
          </a:p>
        </p:txBody>
      </p:sp>
    </p:spTree>
    <p:extLst>
      <p:ext uri="{BB962C8B-B14F-4D97-AF65-F5344CB8AC3E}">
        <p14:creationId xmlns:p14="http://schemas.microsoft.com/office/powerpoint/2010/main" val="35849647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 –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Some valid URLs: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dirty="0" smtClean="0"/>
              <a:t>Some invalid URLs: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2" y="1702814"/>
            <a:ext cx="7924798" cy="7355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http://www.google.bg/search?sourceid=navclient&amp;ie=UTF-8&amp;rlz=1T4GGLL_enBG369BG369&amp;q=http+get+vs+post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2769614"/>
            <a:ext cx="7924798" cy="7355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http://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bg.wikipedia.org:80/wiki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/%D0%A2%D0%B5%D0%BB%D0%B5%D1%80%D0%B8%D0%B3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09600" y="4462841"/>
            <a:ext cx="7924798" cy="4139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http://www.google.bg/search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?&amp;q=C# .NET 4.0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4343400" y="3884793"/>
            <a:ext cx="4410740" cy="425648"/>
          </a:xfrm>
          <a:prstGeom prst="wedgeRoundRectCallout">
            <a:avLst>
              <a:gd name="adj1" fmla="val -40395"/>
              <a:gd name="adj2" fmla="val 10105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lIns="36000" tIns="0" rIns="36000" bIns="0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Should be: </a:t>
            </a: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?q=C%23</a:t>
            </a: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+.</a:t>
            </a: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NET+4.0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5910641"/>
            <a:ext cx="7924798" cy="4139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http://www.google.bg/search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?&amp;q=</a:t>
            </a:r>
            <a:r>
              <a:rPr lang="bg-BG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бира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438400" y="5224841"/>
            <a:ext cx="6315740" cy="425648"/>
          </a:xfrm>
          <a:prstGeom prst="wedgeRoundRectCallout">
            <a:avLst>
              <a:gd name="adj1" fmla="val 3245"/>
              <a:gd name="adj2" fmla="val 13103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lIns="36000" tIns="0" rIns="36000" bIns="0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Should be: </a:t>
            </a: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?q=%D0%B1%D0%B8%D1%80%D0%B0</a:t>
            </a:r>
            <a:endParaRPr lang="en-US" sz="2400" b="1" noProof="1" smtClean="0">
              <a:solidFill>
                <a:srgbClr val="F7FF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30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749801"/>
            <a:ext cx="7924800" cy="685800"/>
          </a:xfrm>
        </p:spPr>
        <p:txBody>
          <a:bodyPr/>
          <a:lstStyle/>
          <a:p>
            <a:r>
              <a:rPr lang="en-US" dirty="0" smtClean="0"/>
              <a:t>HTML, XML</a:t>
            </a:r>
            <a:r>
              <a:rPr lang="en-US" dirty="0"/>
              <a:t>, JSON, RSS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476080"/>
            <a:ext cx="7924800" cy="569120"/>
          </a:xfrm>
        </p:spPr>
        <p:txBody>
          <a:bodyPr/>
          <a:lstStyle/>
          <a:p>
            <a:r>
              <a:rPr lang="en-US" dirty="0"/>
              <a:t>Comparing the Common </a:t>
            </a:r>
            <a:r>
              <a:rPr lang="en-US" dirty="0" smtClean="0"/>
              <a:t>Web Data </a:t>
            </a:r>
            <a:r>
              <a:rPr lang="en-US" dirty="0"/>
              <a:t>Formats</a:t>
            </a:r>
          </a:p>
        </p:txBody>
      </p:sp>
      <p:pic>
        <p:nvPicPr>
          <p:cNvPr id="6146" name="Picture 2" descr="http://themocracy.com/wp-content/uploads/2010/02/json-128x120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2400" y="2819399"/>
            <a:ext cx="1219200" cy="1143001"/>
          </a:xfrm>
          <a:prstGeom prst="roundRect">
            <a:avLst>
              <a:gd name="adj" fmla="val 1758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mitya.co.uk/inc/php/getDBPic.php?id=1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363902">
            <a:off x="2209800" y="3167254"/>
            <a:ext cx="1295400" cy="1182757"/>
          </a:xfrm>
          <a:prstGeom prst="roundRect">
            <a:avLst>
              <a:gd name="adj" fmla="val 1758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goessner.net/img/xml_json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27312">
            <a:off x="5638800" y="3086298"/>
            <a:ext cx="1475538" cy="1209676"/>
          </a:xfrm>
          <a:prstGeom prst="roundRect">
            <a:avLst>
              <a:gd name="adj" fmla="val 1758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http://www.unorth.k12.in.us/podcasts/technology/media/RSS_Icon.jp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377748">
            <a:off x="7472592" y="2520192"/>
            <a:ext cx="1165746" cy="1732723"/>
          </a:xfrm>
          <a:prstGeom prst="roundRect">
            <a:avLst>
              <a:gd name="adj" fmla="val 21515"/>
            </a:avLst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http://2.bp.blogspot.com/_QV9RKqorUnA/SgrmO97WlqI/AAAAAAAAAHk/HOTxj28vCy4/s320/doc_xml_icon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06926">
            <a:off x="233592" y="2553345"/>
            <a:ext cx="1747608" cy="174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http://www.theredelephant.org/html/images/rss_xml_atom_feeds_news_icon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44675">
            <a:off x="2011979" y="1054098"/>
            <a:ext cx="1638300" cy="1638301"/>
          </a:xfrm>
          <a:prstGeom prst="roundRect">
            <a:avLst>
              <a:gd name="adj" fmla="val 968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http://t2.gstatic.com/images?q=tbn:ANd9GcShadj_5yg4hbTbADlULlHD_Fg6WVORCDnaLBrjw-0J_nyZ4A6x&amp;t=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083765">
            <a:off x="5501221" y="1069583"/>
            <a:ext cx="2057400" cy="1371601"/>
          </a:xfrm>
          <a:prstGeom prst="roundRect">
            <a:avLst>
              <a:gd name="adj" fmla="val 459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http://www.bloggingtips.com/wp-content/uploads/2008/11/rss_by_hopka.png"/>
          <p:cNvPicPr>
            <a:picLocks noChangeAspect="1" noChangeArrowheads="1"/>
          </p:cNvPicPr>
          <p:nvPr/>
        </p:nvPicPr>
        <p:blipFill>
          <a:blip r:embed="rId9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224319">
            <a:off x="3902384" y="1349667"/>
            <a:ext cx="1357026" cy="101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88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HTML</a:t>
            </a:r>
            <a:endParaRPr lang="en-US" sz="3600" dirty="0"/>
          </a:p>
        </p:txBody>
      </p:sp>
      <p:sp>
        <p:nvSpPr>
          <p:cNvPr id="471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</a:t>
            </a:r>
            <a:r>
              <a:rPr lang="en-US" dirty="0"/>
              <a:t>yper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</a:t>
            </a:r>
            <a:r>
              <a:rPr lang="en-US" dirty="0"/>
              <a:t>ext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M</a:t>
            </a:r>
            <a:r>
              <a:rPr lang="en-US" dirty="0"/>
              <a:t>arkup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</a:t>
            </a:r>
            <a:r>
              <a:rPr lang="en-US" dirty="0"/>
              <a:t>anguage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HTML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Notation for describing formatted </a:t>
            </a:r>
            <a:r>
              <a:rPr lang="en-US" dirty="0"/>
              <a:t>text with images and hyperlinks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Interpreted and displayed by </a:t>
            </a:r>
            <a:r>
              <a:rPr lang="en-US" dirty="0" smtClean="0"/>
              <a:t>the Web </a:t>
            </a:r>
            <a:r>
              <a:rPr lang="en-US" dirty="0"/>
              <a:t>browsers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 Web 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HTML</a:t>
            </a:r>
            <a:r>
              <a:rPr lang="en-US" dirty="0" smtClean="0"/>
              <a:t>) page consists of: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HTML </a:t>
            </a:r>
            <a:r>
              <a:rPr lang="en-US" dirty="0" smtClean="0"/>
              <a:t>file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CSS stylesheet file (optional)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 bunch </a:t>
            </a:r>
            <a:r>
              <a:rPr lang="en-US" dirty="0"/>
              <a:t>of </a:t>
            </a:r>
            <a:r>
              <a:rPr lang="en-US" dirty="0" smtClean="0"/>
              <a:t>images (optional)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Other </a:t>
            </a:r>
            <a:r>
              <a:rPr lang="en-US" dirty="0"/>
              <a:t>resources (optional)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28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HTML</a:t>
            </a:r>
            <a:endParaRPr lang="en-US" sz="3600" dirty="0"/>
          </a:p>
        </p:txBody>
      </p:sp>
      <p:sp>
        <p:nvSpPr>
          <p:cNvPr id="4710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HTML is straight-forward and easy to learn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HTML documents are plain text files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Easy to add formatting, hyperlinks, bullets, etc.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Images can be added as separate files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Can be automatically generated by authoring programs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Tools to help users creating HTML pages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E.g. FrontPage, Dreamweaver, Visual Studio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WYSIWYG HTML editors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5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Example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72067" name="Rectangle 3"/>
          <p:cNvSpPr>
            <a:spLocks noChangeArrowheads="1"/>
          </p:cNvSpPr>
          <p:nvPr/>
        </p:nvSpPr>
        <p:spPr bwMode="auto">
          <a:xfrm>
            <a:off x="612775" y="1171689"/>
            <a:ext cx="7920038" cy="50767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&lt;head&gt;&lt;title&gt;HTML Example&lt;/title&gt;&lt;/head&gt;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&lt;h1&gt;Heading 1&lt;/h1&gt;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&lt;h2&gt;Sub heading 2&lt;/h2&gt;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&lt;h3&gt;Sub heading 3&lt;/h3&gt;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&lt;p&gt;This is my first paragraph&lt;/p&gt;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&lt;p&gt;This is my second paragraph&lt;/p&gt;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&lt;div align="center"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style="background:skyblue"&gt;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This is a div&lt;/div&gt;	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31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r>
              <a:rPr lang="en-US" dirty="0" smtClean="0"/>
              <a:t>XML </a:t>
            </a:r>
            <a:r>
              <a:rPr lang="en-US" dirty="0"/>
              <a:t>is </a:t>
            </a:r>
            <a:r>
              <a:rPr lang="en-US" dirty="0" smtClean="0"/>
              <a:t>markup-language for </a:t>
            </a:r>
            <a:r>
              <a:rPr lang="en-US" dirty="0"/>
              <a:t>encoding documents in machine-readable </a:t>
            </a:r>
            <a:r>
              <a:rPr lang="en-US" dirty="0" smtClean="0"/>
              <a:t>form</a:t>
            </a:r>
          </a:p>
          <a:p>
            <a:pPr lvl="1"/>
            <a:r>
              <a:rPr lang="en-US" dirty="0" smtClean="0"/>
              <a:t>Text-based format</a:t>
            </a:r>
          </a:p>
          <a:p>
            <a:pPr lvl="1"/>
            <a:r>
              <a:rPr lang="en-US" dirty="0" smtClean="0"/>
              <a:t>Consists of tags, attributes and content</a:t>
            </a:r>
          </a:p>
          <a:p>
            <a:pPr lvl="1"/>
            <a:r>
              <a:rPr lang="en-US" dirty="0" smtClean="0"/>
              <a:t>Provide data and meta-data in the same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299997">
            <a:off x="7625234" y="1099421"/>
            <a:ext cx="995378" cy="1232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woPt" dir="t"/>
          </a:scene3d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4099375"/>
            <a:ext cx="7924800" cy="22252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&lt;?xml version="1.0"?&gt;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&lt;library&gt;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&lt;book&gt;&lt;title&gt;HTML 5&lt;/title&gt;&lt;author&gt;Bay Ivan&lt;/author&gt;&lt;/book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&lt;book&gt;&lt;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title&gt;WPF 4&lt;/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title&gt;&lt;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author&gt;Microsoft&lt;/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author&gt;&lt;/book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&lt;book&gt;&lt;title&gt;WCF 4&lt;/title&gt;&lt;author&gt;Kaka Mara&lt;/author&gt;&lt;/book&gt;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&lt;book&gt;&lt;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title&gt;UML 2.0&lt;/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title&gt;&lt;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author&gt;Bay Ali&lt;/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author&gt;&lt;/book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&lt;/library&gt;</a:t>
            </a:r>
          </a:p>
        </p:txBody>
      </p:sp>
    </p:spTree>
    <p:extLst>
      <p:ext uri="{BB962C8B-B14F-4D97-AF65-F5344CB8AC3E}">
        <p14:creationId xmlns:p14="http://schemas.microsoft.com/office/powerpoint/2010/main" val="321592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/>
          <a:lstStyle/>
          <a:p>
            <a:r>
              <a:rPr lang="en-US" dirty="0"/>
              <a:t>RSS </a:t>
            </a:r>
            <a:r>
              <a:rPr lang="en-US" dirty="0" smtClean="0"/>
              <a:t>(Really </a:t>
            </a:r>
            <a:r>
              <a:rPr lang="en-US" dirty="0"/>
              <a:t>Simple </a:t>
            </a:r>
            <a:r>
              <a:rPr lang="en-US" dirty="0" smtClean="0"/>
              <a:t>Syndication)</a:t>
            </a:r>
          </a:p>
          <a:p>
            <a:pPr lvl="1"/>
            <a:r>
              <a:rPr lang="en-US" dirty="0" smtClean="0"/>
              <a:t>Family </a:t>
            </a:r>
            <a:r>
              <a:rPr lang="en-US" dirty="0"/>
              <a:t>of </a:t>
            </a:r>
            <a:r>
              <a:rPr lang="en-US" dirty="0" smtClean="0"/>
              <a:t>Web </a:t>
            </a:r>
            <a:r>
              <a:rPr lang="en-US" dirty="0"/>
              <a:t>feed formats </a:t>
            </a:r>
            <a:r>
              <a:rPr lang="en-US" dirty="0" smtClean="0"/>
              <a:t>for		 publishing </a:t>
            </a:r>
            <a:r>
              <a:rPr lang="en-US" dirty="0"/>
              <a:t>frequently updated </a:t>
            </a:r>
            <a:r>
              <a:rPr lang="en-US" dirty="0" smtClean="0"/>
              <a:t>works</a:t>
            </a:r>
          </a:p>
          <a:p>
            <a:pPr lvl="2"/>
            <a:r>
              <a:rPr lang="en-US" dirty="0" smtClean="0"/>
              <a:t>E.g. </a:t>
            </a:r>
            <a:r>
              <a:rPr lang="en-US" dirty="0"/>
              <a:t>blog entries, news headlines, </a:t>
            </a:r>
            <a:r>
              <a:rPr lang="en-US" dirty="0" smtClean="0"/>
              <a:t>videos, etc.</a:t>
            </a:r>
          </a:p>
          <a:p>
            <a:pPr lvl="1"/>
            <a:r>
              <a:rPr lang="en-US" dirty="0" smtClean="0"/>
              <a:t>Based on XML, with standardized XSD schema</a:t>
            </a:r>
          </a:p>
          <a:p>
            <a:r>
              <a:rPr lang="en-US" dirty="0" smtClean="0"/>
              <a:t>RSS documents (feeds) are list of items</a:t>
            </a:r>
          </a:p>
          <a:p>
            <a:pPr lvl="1"/>
            <a:r>
              <a:rPr lang="en-US" dirty="0" smtClean="0"/>
              <a:t>Each containing title, author, publish date, summarized text, and metadata</a:t>
            </a:r>
          </a:p>
          <a:p>
            <a:r>
              <a:rPr lang="en-US" dirty="0" smtClean="0"/>
              <a:t>Atom protocol aimed to enhance / replace RSS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170" name="Picture 2" descr="http://www.bloggingtips.com/wp-content/uploads/2008/11/rss_by_hopka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6600" y="1085850"/>
            <a:ext cx="19050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20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RSS –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1086525"/>
            <a:ext cx="7924800" cy="53142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&lt;?xml version="1.0" encoding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="utf-8"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?&gt;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&lt;rss version="2.0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&lt;channel&gt;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&lt;title&gt;W3Schools Home Page&lt;/title&gt;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&lt;link&gt;http://www.w3schools.com&lt;/link&gt;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&lt;description&gt;Free web building tutorials&lt;/description&gt;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&lt;item&gt;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&lt;title&gt;RSS Tutorial&lt;/title&gt;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&lt;link&gt;http://www.w3schools.com/rss&lt;/link&gt;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&lt;description&gt;New RSS tutorial on W3Schools&lt;/description&gt;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&lt;/item&gt;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&lt;item&gt;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&lt;title&gt;XML Tutorial&lt;/title&gt;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&lt;link&gt;http://www.w3schools.com/xml&lt;/link&gt;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&lt;description&gt;New XML tutorial on W3Schools&lt;/description&gt;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&lt;/item&gt;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&lt;/channel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&lt;/rss&gt;</a:t>
            </a:r>
            <a:endParaRPr lang="en-US" sz="18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6056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JSON (</a:t>
            </a:r>
            <a:r>
              <a:rPr lang="en-US" dirty="0"/>
              <a:t>JavaScript Object Notation</a:t>
            </a:r>
            <a:r>
              <a:rPr lang="en-US" dirty="0" smtClean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Standard for representing </a:t>
            </a:r>
            <a:r>
              <a:rPr lang="en-US" dirty="0"/>
              <a:t>simple data </a:t>
            </a:r>
            <a:r>
              <a:rPr lang="en-US" smtClean="0"/>
              <a:t>structures and </a:t>
            </a:r>
            <a:r>
              <a:rPr lang="en-US" dirty="0"/>
              <a:t>associative </a:t>
            </a:r>
            <a:r>
              <a:rPr lang="en-US" dirty="0" smtClean="0"/>
              <a:t>arrays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Lightweight text-based open standard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Derived </a:t>
            </a:r>
            <a:r>
              <a:rPr lang="en-US" dirty="0"/>
              <a:t>from the </a:t>
            </a:r>
            <a:r>
              <a:rPr lang="en-US" dirty="0" smtClean="0"/>
              <a:t>JavaScript</a:t>
            </a:r>
            <a:r>
              <a:rPr lang="en-US" dirty="0"/>
              <a:t> </a:t>
            </a:r>
            <a:r>
              <a:rPr lang="en-US" dirty="0" smtClean="0"/>
              <a:t>language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3400" y="3886200"/>
            <a:ext cx="8077200" cy="252992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"firstName": "John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",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"lastName": "Smith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",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"age": 25,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"address":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"streetAddress":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"33 Alex. Malinov Blvd.",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"city":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"Sofia", "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postalCode": "10021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},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"phoneNumber":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[{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"type": "home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", "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number": "212 555-1234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"},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{ "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type": "fax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", "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number": "646 555-4567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 }]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},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"firstName":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"Bay",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"lastName":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"Ivan",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"age":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79 }</a:t>
            </a:r>
          </a:p>
        </p:txBody>
      </p:sp>
      <p:pic>
        <p:nvPicPr>
          <p:cNvPr id="6" name="Picture 2" descr="http://themocracy.com/wp-content/uploads/2010/02/json-128x120.gif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08" r="3125"/>
          <a:stretch/>
        </p:blipFill>
        <p:spPr bwMode="auto">
          <a:xfrm>
            <a:off x="7543800" y="1142999"/>
            <a:ext cx="1117600" cy="1143001"/>
          </a:xfrm>
          <a:prstGeom prst="roundRect">
            <a:avLst>
              <a:gd name="adj" fmla="val 1758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90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0" y="1331632"/>
            <a:ext cx="5761038" cy="716524"/>
          </a:xfrm>
        </p:spPr>
        <p:txBody>
          <a:bodyPr/>
          <a:lstStyle/>
          <a:p>
            <a:r>
              <a:rPr lang="en-US" dirty="0"/>
              <a:t>The HTTP Protocol</a:t>
            </a:r>
            <a:endParaRPr lang="bg-BG" dirty="0"/>
          </a:p>
        </p:txBody>
      </p:sp>
      <p:sp>
        <p:nvSpPr>
          <p:cNvPr id="474115" name="Rectangle 3"/>
          <p:cNvSpPr>
            <a:spLocks noChangeArrowheads="1"/>
          </p:cNvSpPr>
          <p:nvPr/>
        </p:nvSpPr>
        <p:spPr bwMode="auto">
          <a:xfrm>
            <a:off x="2370138" y="2209800"/>
            <a:ext cx="4259262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 smtClean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How HTTP Works?</a:t>
            </a:r>
            <a:endParaRPr lang="bg-BG" sz="2800" b="1" dirty="0" smtClean="0">
              <a:solidFill>
                <a:srgbClr val="FAF7C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8434" name="Picture 2" descr="http://www.wolfescape.com/Humour/NonMedThumbs/BeforeWorkAfterWork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3114674"/>
            <a:ext cx="4495800" cy="3057526"/>
          </a:xfrm>
          <a:prstGeom prst="roundRect">
            <a:avLst>
              <a:gd name="adj" fmla="val 560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2" descr="http://dragonartz.files.wordpress.com/2008/10/_vector-http-preview2-by-dragonart.png?w=495&amp;h=495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073461">
            <a:off x="401071" y="2290675"/>
            <a:ext cx="1675666" cy="1057450"/>
          </a:xfrm>
          <a:prstGeom prst="roundRect">
            <a:avLst>
              <a:gd name="adj" fmla="val 523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5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436" name="Picture 4" descr="http://www.iconarchive.com/icons/rimshotdesign/milkanodised/128/HTTP-icon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20947282">
            <a:off x="7284111" y="2169466"/>
            <a:ext cx="1420846" cy="142084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TextBox 2"/>
          <p:cNvSpPr txBox="1"/>
          <p:nvPr/>
        </p:nvSpPr>
        <p:spPr>
          <a:xfrm rot="20804666">
            <a:off x="3001357" y="4158669"/>
            <a:ext cx="249459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6000" b="1" dirty="0" smtClean="0">
                <a:solidFill>
                  <a:schemeClr val="accent5">
                    <a:lumMod val="50000"/>
                    <a:alpha val="50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rial Black" pitchFamily="34" charset="0"/>
              </a:rPr>
              <a:t>HTTP</a:t>
            </a:r>
            <a:endParaRPr lang="en-US" sz="6000" b="1" dirty="0">
              <a:solidFill>
                <a:schemeClr val="accent5">
                  <a:lumMod val="50000"/>
                  <a:alpha val="50000"/>
                </a:schemeClr>
              </a:solidFill>
              <a:effectLst>
                <a:innerShdw blurRad="114300">
                  <a:prstClr val="black"/>
                </a:inn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7577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HTTP</a:t>
            </a:r>
            <a:endParaRPr lang="en-US" sz="3600" dirty="0"/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Hyper Text Transfer Protocol (HTTP)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Client-server protocol for transferring Web </a:t>
            </a:r>
            <a:r>
              <a:rPr lang="en-US" dirty="0" smtClean="0"/>
              <a:t>resources (HTML files, images, styles, etc.)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Important properties of HTTP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Request-response </a:t>
            </a:r>
            <a:r>
              <a:rPr lang="en-US" dirty="0" smtClean="0"/>
              <a:t>model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Text-based format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Relies </a:t>
            </a:r>
            <a:r>
              <a:rPr lang="en-US" dirty="0"/>
              <a:t>on </a:t>
            </a:r>
            <a:r>
              <a:rPr lang="en-US" dirty="0" smtClean="0"/>
              <a:t>unique resource URLs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/>
              <a:t>Provides resource metadata (e.g. encoding)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/>
              <a:t>Stateless (cookies can overcome this)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87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HTTP: Request-Response Protocol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4092575" cy="24241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Client program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Running on end host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/>
              <a:t>E.g. </a:t>
            </a:r>
            <a:r>
              <a:rPr lang="en-US" sz="2800" dirty="0"/>
              <a:t>Web </a:t>
            </a:r>
            <a:r>
              <a:rPr lang="en-US" sz="2800" dirty="0" smtClean="0"/>
              <a:t>browser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Requests a </a:t>
            </a:r>
            <a:r>
              <a:rPr lang="en-US" sz="2800" dirty="0" smtClean="0"/>
              <a:t>resource</a:t>
            </a:r>
            <a:endParaRPr lang="en-US" dirty="0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4648201" y="1066800"/>
            <a:ext cx="4191000" cy="2424112"/>
          </a:xfrm>
          <a:prstGeom prst="rect">
            <a:avLst/>
          </a:prstGeom>
        </p:spPr>
        <p:txBody>
          <a:bodyPr/>
          <a:lstStyle>
            <a:lvl1pPr marL="319088" indent="-319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defRPr sz="32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EBFFD2"/>
                </a:solidFill>
              </a:rPr>
              <a:t>Server program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EBFFD2"/>
                </a:solidFill>
              </a:rPr>
              <a:t>Running </a:t>
            </a:r>
            <a:r>
              <a:rPr lang="en-US" sz="2800" dirty="0" smtClean="0">
                <a:solidFill>
                  <a:srgbClr val="EBFFD2"/>
                </a:solidFill>
              </a:rPr>
              <a:t>at the server</a:t>
            </a:r>
            <a:endParaRPr lang="en-US" sz="2800" dirty="0">
              <a:solidFill>
                <a:srgbClr val="EBFFD2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EBFFD2"/>
                </a:solidFill>
              </a:rPr>
              <a:t>E.g. </a:t>
            </a:r>
            <a:r>
              <a:rPr lang="en-US" sz="2800" dirty="0">
                <a:solidFill>
                  <a:srgbClr val="EBFFD2"/>
                </a:solidFill>
              </a:rPr>
              <a:t>Web </a:t>
            </a:r>
            <a:r>
              <a:rPr lang="en-US" sz="2800" dirty="0" smtClean="0">
                <a:solidFill>
                  <a:srgbClr val="EBFFD2"/>
                </a:solidFill>
              </a:rPr>
              <a:t>server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EBFFD2"/>
                </a:solidFill>
              </a:rPr>
              <a:t>Provides </a:t>
            </a:r>
            <a:r>
              <a:rPr lang="en-US" sz="2800" dirty="0" smtClean="0">
                <a:solidFill>
                  <a:srgbClr val="EBFFD2"/>
                </a:solidFill>
              </a:rPr>
              <a:t>resources</a:t>
            </a:r>
            <a:endParaRPr lang="en-US" sz="2800" dirty="0">
              <a:solidFill>
                <a:srgbClr val="EBFFD2"/>
              </a:solidFill>
            </a:endParaRPr>
          </a:p>
        </p:txBody>
      </p:sp>
      <p:pic>
        <p:nvPicPr>
          <p:cNvPr id="9" name="Picture 5" descr="j0292020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4059238"/>
            <a:ext cx="1868488" cy="1773237"/>
          </a:xfrm>
          <a:prstGeom prst="rect">
            <a:avLst/>
          </a:prstGeom>
          <a:noFill/>
        </p:spPr>
      </p:pic>
      <p:pic>
        <p:nvPicPr>
          <p:cNvPr id="10" name="Picture 6" descr="j0285750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6613" y="4191000"/>
            <a:ext cx="2497137" cy="1535112"/>
          </a:xfrm>
          <a:prstGeom prst="rect">
            <a:avLst/>
          </a:prstGeom>
          <a:noFill/>
        </p:spPr>
      </p:pic>
      <p:sp>
        <p:nvSpPr>
          <p:cNvPr id="11" name="Freeform 7"/>
          <p:cNvSpPr>
            <a:spLocks/>
          </p:cNvSpPr>
          <p:nvPr/>
        </p:nvSpPr>
        <p:spPr bwMode="auto">
          <a:xfrm>
            <a:off x="2789257" y="3810000"/>
            <a:ext cx="3314699" cy="7747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089" y="4"/>
              </a:cxn>
              <a:cxn ang="0">
                <a:pos x="2250" y="464"/>
              </a:cxn>
            </a:cxnLst>
            <a:rect l="0" t="0" r="r" b="b"/>
            <a:pathLst>
              <a:path w="2250" h="488">
                <a:moveTo>
                  <a:pt x="0" y="488"/>
                </a:moveTo>
                <a:cubicBezTo>
                  <a:pt x="357" y="248"/>
                  <a:pt x="714" y="8"/>
                  <a:pt x="1089" y="4"/>
                </a:cubicBezTo>
                <a:cubicBezTo>
                  <a:pt x="1464" y="0"/>
                  <a:pt x="1857" y="232"/>
                  <a:pt x="2250" y="464"/>
                </a:cubicBezTo>
              </a:path>
            </a:pathLst>
          </a:custGeom>
          <a:noFill/>
          <a:ln w="381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flipH="1" flipV="1">
            <a:off x="2789255" y="5594350"/>
            <a:ext cx="3314701" cy="7747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089" y="4"/>
              </a:cxn>
              <a:cxn ang="0">
                <a:pos x="2250" y="464"/>
              </a:cxn>
            </a:cxnLst>
            <a:rect l="0" t="0" r="r" b="b"/>
            <a:pathLst>
              <a:path w="2250" h="488">
                <a:moveTo>
                  <a:pt x="0" y="488"/>
                </a:moveTo>
                <a:cubicBezTo>
                  <a:pt x="357" y="248"/>
                  <a:pt x="714" y="8"/>
                  <a:pt x="1089" y="4"/>
                </a:cubicBezTo>
                <a:cubicBezTo>
                  <a:pt x="1464" y="0"/>
                  <a:pt x="1857" y="232"/>
                  <a:pt x="2250" y="464"/>
                </a:cubicBezTo>
              </a:path>
            </a:pathLst>
          </a:custGeom>
          <a:noFill/>
          <a:ln w="381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268239" y="4168914"/>
            <a:ext cx="230063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kumimoji="0" lang="en-US" sz="2000" b="1" noProof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/</a:t>
            </a:r>
            <a:r>
              <a:rPr kumimoji="0" lang="en-US" sz="20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index.html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20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HTTP/1.0</a:t>
            </a:r>
            <a:endParaRPr kumimoji="0" lang="en-US" sz="2000" b="1" noProof="1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347073" y="5105400"/>
            <a:ext cx="230063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HTTP/1.0 200 OK</a:t>
            </a:r>
          </a:p>
          <a:p>
            <a:pPr algn="ctr" eaLnBrk="1" hangingPunct="1">
              <a:lnSpc>
                <a:spcPct val="100000"/>
              </a:lnSpc>
            </a:pPr>
            <a:r>
              <a:rPr kumimoji="0" lang="en-US" sz="2000" b="1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Welcome to </a:t>
            </a:r>
            <a:r>
              <a:rPr kumimoji="0" lang="en-US" sz="2000" b="1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our</a:t>
            </a:r>
            <a:endParaRPr kumimoji="0" lang="en-US"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1" hangingPunct="1">
              <a:lnSpc>
                <a:spcPct val="100000"/>
              </a:lnSpc>
            </a:pPr>
            <a:r>
              <a:rPr kumimoji="0"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Web site!"</a:t>
            </a: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452FF4-89E3-4D1B-9927-2DBDC00E58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EBFFC2"/>
                </a:solidFill>
                <a:effectLst/>
                <a:uLnTx/>
                <a:uFillTx/>
                <a:latin typeface="Corbe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BFFC2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98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ChangeArrowheads="1"/>
          </p:cNvSpPr>
          <p:nvPr/>
        </p:nvSpPr>
        <p:spPr bwMode="auto">
          <a:xfrm>
            <a:off x="646113" y="1600200"/>
            <a:ext cx="7886700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/academy/about.aspx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HTTP/1.1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Host: www.telerik.com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User-Agent: Mozilla/5.0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&lt;CRLF&gt;</a:t>
            </a: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title"/>
          </p:nvPr>
        </p:nvSpPr>
        <p:spPr>
          <a:xfrm>
            <a:off x="3276600" y="152400"/>
            <a:ext cx="5638800" cy="914400"/>
          </a:xfrm>
        </p:spPr>
        <p:txBody>
          <a:bodyPr/>
          <a:lstStyle/>
          <a:p>
            <a:r>
              <a:rPr lang="en-US" dirty="0"/>
              <a:t>Example: Hyper Text Transfer Protocol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477188" name="Text Box 4"/>
          <p:cNvSpPr txBox="1">
            <a:spLocks noChangeArrowheads="1"/>
          </p:cNvSpPr>
          <p:nvPr/>
        </p:nvSpPr>
        <p:spPr bwMode="auto">
          <a:xfrm>
            <a:off x="684213" y="3735455"/>
            <a:ext cx="7848600" cy="280076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HTTP/1.1 200 OK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Date: Mon, 5 Jul 2010 13:09:03 GMT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Server: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Microsoft-HTTPAPI/2.0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Last-Modified: </a:t>
            </a:r>
            <a:r>
              <a:rPr lang="sv-SE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Mon, 12 Jul 2010 15:33:23 GMT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Content-Length: 54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&lt;html&gt;&lt;title&gt;Hello&lt;/title&gt;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Welcome to our site&lt;/html&gt;</a:t>
            </a:r>
          </a:p>
        </p:txBody>
      </p:sp>
      <p:sp>
        <p:nvSpPr>
          <p:cNvPr id="477189" name="Text Box 5"/>
          <p:cNvSpPr txBox="1">
            <a:spLocks noChangeArrowheads="1"/>
          </p:cNvSpPr>
          <p:nvPr/>
        </p:nvSpPr>
        <p:spPr bwMode="auto">
          <a:xfrm>
            <a:off x="601662" y="939225"/>
            <a:ext cx="3132138" cy="584775"/>
          </a:xfrm>
          <a:prstGeom prst="rect">
            <a:avLst/>
          </a:prstGeom>
        </p:spPr>
        <p:txBody>
          <a:bodyPr/>
          <a:lstStyle/>
          <a:p>
            <a:pPr marL="319088" indent="-319088" eaLnBrk="0" hangingPunct="0">
              <a:spcBef>
                <a:spcPct val="200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</a:pPr>
            <a:r>
              <a:rPr lang="en-US" sz="32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HTTP </a:t>
            </a:r>
            <a:r>
              <a:rPr lang="en-US" sz="3200" b="1" dirty="0" smtClean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request:</a:t>
            </a:r>
            <a:endParaRPr lang="bg-BG" sz="3200" b="1" dirty="0">
              <a:solidFill>
                <a:schemeClr val="tx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4589463" y="2434649"/>
            <a:ext cx="3289300" cy="1379101"/>
          </a:xfrm>
          <a:prstGeom prst="wedgeRoundRectCallout">
            <a:avLst>
              <a:gd name="adj1" fmla="val -137420"/>
              <a:gd name="adj2" fmla="val -24732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empty line denotes the end of the request header</a:t>
            </a: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5029200" y="5171552"/>
            <a:ext cx="3297237" cy="1379101"/>
          </a:xfrm>
          <a:prstGeom prst="wedgeRoundRectCallout">
            <a:avLst>
              <a:gd name="adj1" fmla="val -149785"/>
              <a:gd name="adj2" fmla="val -23547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empty line denotes the end of the response header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01662" y="3048000"/>
            <a:ext cx="3360738" cy="584775"/>
          </a:xfrm>
          <a:prstGeom prst="rect">
            <a:avLst/>
          </a:prstGeom>
        </p:spPr>
        <p:txBody>
          <a:bodyPr/>
          <a:lstStyle/>
          <a:p>
            <a:pPr marL="319088" indent="-319088" eaLnBrk="0" hangingPunct="0">
              <a:spcBef>
                <a:spcPct val="200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</a:pPr>
            <a:r>
              <a:rPr lang="en-US" sz="32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HTTP </a:t>
            </a:r>
            <a:r>
              <a:rPr lang="en-US" sz="3200" b="1" dirty="0" smtClean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response:</a:t>
            </a:r>
            <a:endParaRPr lang="bg-BG" sz="3200" b="1" dirty="0">
              <a:solidFill>
                <a:schemeClr val="tx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787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Message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66801"/>
            <a:ext cx="8496300" cy="33527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Request message sent by a client consists of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Request </a:t>
            </a:r>
            <a:r>
              <a:rPr lang="en-US" sz="2800" dirty="0" smtClean="0"/>
              <a:t>line – request </a:t>
            </a:r>
            <a:r>
              <a:rPr lang="en-US" sz="2800" dirty="0"/>
              <a:t>method (GET, </a:t>
            </a:r>
            <a:r>
              <a:rPr lang="en-US" sz="2800" dirty="0" smtClean="0"/>
              <a:t>POST, HEAD</a:t>
            </a:r>
            <a:r>
              <a:rPr lang="en-US" sz="2800" dirty="0"/>
              <a:t>, </a:t>
            </a:r>
            <a:r>
              <a:rPr lang="en-US" sz="2800" dirty="0" smtClean="0"/>
              <a:t>...), resource URI, </a:t>
            </a:r>
            <a:r>
              <a:rPr lang="en-US" sz="2800" dirty="0"/>
              <a:t>and protocol version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Request </a:t>
            </a:r>
            <a:r>
              <a:rPr lang="en-US" sz="2800" dirty="0" smtClean="0"/>
              <a:t>headers – additional parameters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Body – optional data</a:t>
            </a:r>
          </a:p>
          <a:p>
            <a:pPr lvl="2">
              <a:lnSpc>
                <a:spcPct val="100000"/>
              </a:lnSpc>
            </a:pPr>
            <a:r>
              <a:rPr lang="en-US" sz="2600" dirty="0" smtClean="0"/>
              <a:t>E.g. posted form data, files, etc.</a:t>
            </a:r>
            <a:endParaRPr lang="en-US" sz="26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478212" name="Rectangle 4"/>
          <p:cNvSpPr>
            <a:spLocks noChangeArrowheads="1"/>
          </p:cNvSpPr>
          <p:nvPr/>
        </p:nvSpPr>
        <p:spPr bwMode="auto">
          <a:xfrm>
            <a:off x="873126" y="4724400"/>
            <a:ext cx="7432674" cy="13788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&lt;request method&gt; &lt;resource&gt; HTTP/&lt;version&gt;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&lt;headers&gt;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&lt;empty line&gt;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</p:txBody>
      </p:sp>
    </p:spTree>
    <p:extLst>
      <p:ext uri="{BB962C8B-B14F-4D97-AF65-F5344CB8AC3E}">
        <p14:creationId xmlns:p14="http://schemas.microsoft.com/office/powerpoint/2010/main" val="87814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Request – Example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479235" name="Rectangle 3"/>
          <p:cNvSpPr>
            <a:spLocks noChangeArrowheads="1"/>
          </p:cNvSpPr>
          <p:nvPr/>
        </p:nvSpPr>
        <p:spPr bwMode="auto">
          <a:xfrm>
            <a:off x="722313" y="1929348"/>
            <a:ext cx="7659687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/academy/winter-2009-2010.aspx HTTP/1.1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Host: www.telerik.com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Accept: */*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Accept-Language: bg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Accept-Encoding: gzip, deflate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User-Agent: Mozilla/4.0(compatible;MSIE 6.0; Windows NT 5.0)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Connection: Keep-Alive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Cache-Control: no-cache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&lt;CRLF&gt;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4800" y="1124485"/>
            <a:ext cx="8496300" cy="6096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3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HTTP GET request: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F5FFC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410200" y="2434649"/>
            <a:ext cx="3106737" cy="527804"/>
          </a:xfrm>
          <a:prstGeom prst="wedgeRoundRectCallout">
            <a:avLst>
              <a:gd name="adj1" fmla="val -65207"/>
              <a:gd name="adj2" fmla="val -65022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HTTP request line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468937" y="4419600"/>
            <a:ext cx="2379664" cy="527804"/>
          </a:xfrm>
          <a:prstGeom prst="wedgeRoundRectCallout">
            <a:avLst>
              <a:gd name="adj1" fmla="val -70569"/>
              <a:gd name="adj2" fmla="val -52935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HTTP headers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068726" y="5334000"/>
            <a:ext cx="4114800" cy="527804"/>
          </a:xfrm>
          <a:prstGeom prst="wedgeRoundRectCallout">
            <a:avLst>
              <a:gd name="adj1" fmla="val -71209"/>
              <a:gd name="adj2" fmla="val -13436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request body is empty</a:t>
            </a:r>
          </a:p>
        </p:txBody>
      </p:sp>
    </p:spTree>
    <p:extLst>
      <p:ext uri="{BB962C8B-B14F-4D97-AF65-F5344CB8AC3E}">
        <p14:creationId xmlns:p14="http://schemas.microsoft.com/office/powerpoint/2010/main" val="159776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76200"/>
            <a:ext cx="7086600" cy="914400"/>
          </a:xfrm>
        </p:spPr>
        <p:txBody>
          <a:bodyPr/>
          <a:lstStyle/>
          <a:p>
            <a:r>
              <a:rPr lang="en-US" dirty="0"/>
              <a:t>HTTP POST Request – Example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80259" name="Rectangle 3"/>
          <p:cNvSpPr>
            <a:spLocks noChangeArrowheads="1"/>
          </p:cNvSpPr>
          <p:nvPr/>
        </p:nvSpPr>
        <p:spPr bwMode="auto">
          <a:xfrm>
            <a:off x="685800" y="1524000"/>
            <a:ext cx="7772400" cy="517064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POST /webmail/login.phtml HTTP/1.1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Host: www.abv.bg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Accept: */*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Accept-Language: bg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Accept-Encoding: gzip, deflate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User-Agent: Mozilla/4.0(compatible;MSIE 6.0; Windows NT 5.0)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Connection: Keep-Alive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Cache-Control: no-cache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Content-Length: 59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LOGIN_USER=mente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DOMAIN_NAME=abv.bg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LOGIN_PASS=top*secret!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&lt;CRLF&gt;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4800" y="914400"/>
            <a:ext cx="8496300" cy="6096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3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HTTP POST request: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F5FFC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741864" y="2057400"/>
            <a:ext cx="3106737" cy="527804"/>
          </a:xfrm>
          <a:prstGeom prst="wedgeRoundRectCallout">
            <a:avLst>
              <a:gd name="adj1" fmla="val -62127"/>
              <a:gd name="adj2" fmla="val -6099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HTTP request line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257800" y="4143433"/>
            <a:ext cx="2379664" cy="527804"/>
          </a:xfrm>
          <a:prstGeom prst="wedgeRoundRectCallout">
            <a:avLst>
              <a:gd name="adj1" fmla="val -66548"/>
              <a:gd name="adj2" fmla="val -3279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HTTP headers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390232" y="5029200"/>
            <a:ext cx="4114800" cy="953453"/>
          </a:xfrm>
          <a:prstGeom prst="wedgeRoundRectCallout">
            <a:avLst>
              <a:gd name="adj1" fmla="val -68367"/>
              <a:gd name="adj2" fmla="val -20127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request body contains the submitted form data</a:t>
            </a:r>
          </a:p>
        </p:txBody>
      </p:sp>
    </p:spTree>
    <p:extLst>
      <p:ext uri="{BB962C8B-B14F-4D97-AF65-F5344CB8AC3E}">
        <p14:creationId xmlns:p14="http://schemas.microsoft.com/office/powerpoint/2010/main" val="23846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 smtClean="0"/>
              <a:t>Conditional HTTP GET – </a:t>
            </a:r>
            <a:r>
              <a:rPr lang="en-US" sz="3700" dirty="0"/>
              <a:t>Example</a:t>
            </a:r>
          </a:p>
        </p:txBody>
      </p:sp>
      <p:sp>
        <p:nvSpPr>
          <p:cNvPr id="481285" name="Rectangle 5"/>
          <p:cNvSpPr>
            <a:spLocks noGrp="1" noChangeArrowheads="1"/>
          </p:cNvSpPr>
          <p:nvPr>
            <p:ph idx="1"/>
          </p:nvPr>
        </p:nvSpPr>
        <p:spPr>
          <a:xfrm>
            <a:off x="323850" y="3810000"/>
            <a:ext cx="8496300" cy="2667000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 smtClean="0"/>
              <a:t>Fetches the </a:t>
            </a:r>
            <a:r>
              <a:rPr lang="en-US" sz="3000" dirty="0"/>
              <a:t>resource only if it has been changed at the server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Server replies with “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304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Not Modified</a:t>
            </a:r>
            <a:r>
              <a:rPr lang="en-US" sz="2800" dirty="0"/>
              <a:t>” if </a:t>
            </a:r>
            <a:r>
              <a:rPr lang="en-US" sz="2800" dirty="0" smtClean="0"/>
              <a:t>the resource </a:t>
            </a:r>
            <a:r>
              <a:rPr lang="en-US" sz="2800" dirty="0"/>
              <a:t>has </a:t>
            </a:r>
            <a:r>
              <a:rPr lang="en-US" sz="2800" dirty="0" smtClean="0"/>
              <a:t>not been </a:t>
            </a:r>
            <a:r>
              <a:rPr lang="en-US" sz="2800" dirty="0"/>
              <a:t>changed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Or </a:t>
            </a:r>
            <a:r>
              <a:rPr lang="en-US" sz="2800" dirty="0" smtClean="0"/>
              <a:t>“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200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OK</a:t>
            </a:r>
            <a:r>
              <a:rPr lang="en-US" sz="2800" dirty="0"/>
              <a:t>” with the latest version otherwise</a:t>
            </a:r>
            <a:endParaRPr lang="bg-BG" sz="2800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481283" name="Rectangle 3"/>
          <p:cNvSpPr>
            <a:spLocks noChangeArrowheads="1"/>
          </p:cNvSpPr>
          <p:nvPr/>
        </p:nvSpPr>
        <p:spPr bwMode="auto">
          <a:xfrm>
            <a:off x="728663" y="1804734"/>
            <a:ext cx="7577138" cy="170046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/academy/join.aspx HTTP/1.1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Host: www.telerik.com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User-Agent: Gecko/20100115 Firefox/3.6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If-Modified-Since: Tue, 9 Mar 2010 11:12:23 GMT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&lt;CRLF&gt;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04800" y="990600"/>
            <a:ext cx="8496300" cy="6096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3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HTTP conditional GET request: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F5FFC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536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Message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Response message sent by the server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Status line – protocol version, status code, status phrase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Response headers – provide </a:t>
            </a:r>
            <a:r>
              <a:rPr lang="en-US" dirty="0" smtClean="0"/>
              <a:t>meta </a:t>
            </a:r>
            <a:r>
              <a:rPr lang="en-US" dirty="0"/>
              <a:t>data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Body – the contents of the response (the requested resource)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482308" name="Rectangle 4"/>
          <p:cNvSpPr>
            <a:spLocks noChangeArrowheads="1"/>
          </p:cNvSpPr>
          <p:nvPr/>
        </p:nvSpPr>
        <p:spPr bwMode="auto">
          <a:xfrm>
            <a:off x="796926" y="4800600"/>
            <a:ext cx="7585074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&lt;version&gt;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status code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 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status text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&lt;header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CRLF</a:t>
            </a:r>
            <a:r>
              <a:rPr lang="ru-RU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response body – the requested resource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7152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28600" y="1066800"/>
            <a:ext cx="8686800" cy="6096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30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HTTP response from the Web server: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– Example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83331" name="Rectangle 3"/>
          <p:cNvSpPr>
            <a:spLocks noChangeArrowheads="1"/>
          </p:cNvSpPr>
          <p:nvPr/>
        </p:nvSpPr>
        <p:spPr bwMode="auto">
          <a:xfrm>
            <a:off x="646113" y="2026682"/>
            <a:ext cx="7742237" cy="41549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HTTP/1.1 200 OK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Date: Fri, 17 Jul 2010 16:09:18 GMT+2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Server: Apache/2.2.14 (Linux)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Accept-Ranges: bytes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Content-Length: 84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Content-Type: text/html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</a:t>
            </a:r>
            <a:r>
              <a:rPr lang="en-US" sz="24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  <a:endParaRPr lang="en-US" sz="24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&lt;head&gt;&lt;title&gt;Test&lt;/title&gt;&lt;/head&gt;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&lt;body&gt;Test HTML page.&lt;/body&gt;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3882823" y="1676400"/>
            <a:ext cx="4038600" cy="527804"/>
          </a:xfrm>
          <a:prstGeom prst="wedgeRoundRectCallout">
            <a:avLst>
              <a:gd name="adj1" fmla="val -62574"/>
              <a:gd name="adj2" fmla="val 53832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HTTP response status line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791200" y="3313056"/>
            <a:ext cx="1887536" cy="1379101"/>
          </a:xfrm>
          <a:prstGeom prst="wedgeRoundRectCallout">
            <a:avLst>
              <a:gd name="adj1" fmla="val -84651"/>
              <a:gd name="adj2" fmla="val -2749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HTTP response headers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096000" y="5501806"/>
            <a:ext cx="2427600" cy="953453"/>
          </a:xfrm>
          <a:prstGeom prst="wedgeRoundRectCallout">
            <a:avLst>
              <a:gd name="adj1" fmla="val -63020"/>
              <a:gd name="adj2" fmla="val -3890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HTTP response body</a:t>
            </a:r>
          </a:p>
        </p:txBody>
      </p:sp>
    </p:spTree>
    <p:extLst>
      <p:ext uri="{BB962C8B-B14F-4D97-AF65-F5344CB8AC3E}">
        <p14:creationId xmlns:p14="http://schemas.microsoft.com/office/powerpoint/2010/main" val="77824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– Example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484355" name="Rectangle 3"/>
          <p:cNvSpPr>
            <a:spLocks noChangeArrowheads="1"/>
          </p:cNvSpPr>
          <p:nvPr/>
        </p:nvSpPr>
        <p:spPr bwMode="auto">
          <a:xfrm>
            <a:off x="646113" y="1703360"/>
            <a:ext cx="7742237" cy="49244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HTTP/1.1 404 Not Found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Date: Fri, 17 Jul 2010 16:09:18 GMT+2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Server: Apache/2.2.14 (Linux)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Connection: close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Content-Type: text/html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&lt;CRLF</a:t>
            </a:r>
            <a:r>
              <a:rPr lang="en-US" sz="20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  <a:endParaRPr lang="en-US" sz="21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&lt;HTML&gt;&lt;HEAD&gt;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&lt;TITLE&gt;404 Not Found&lt;/TITLE&gt;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&lt;/HEAD&gt;&lt;BODY&gt;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&lt;H1&gt;Not Found&lt;/H1&gt;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The requested URL /img/telerik-logo.gif was not found on this server.&lt;P&gt;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&lt;HR&gt;&lt;ADDRESS&gt;Apache/2.2.14 Server at Port 80&lt;/ADDRESS&gt;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&lt;/BODY&gt;&lt;/HTML&gt;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8600" y="914400"/>
            <a:ext cx="8686800" cy="6096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30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HTTP response with error result: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876800" y="1524000"/>
            <a:ext cx="3352800" cy="527804"/>
          </a:xfrm>
          <a:prstGeom prst="wedgeRoundRectCallout">
            <a:avLst>
              <a:gd name="adj1" fmla="val -70502"/>
              <a:gd name="adj2" fmla="val 2160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Response status line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609432" y="2587305"/>
            <a:ext cx="1887536" cy="1379101"/>
          </a:xfrm>
          <a:prstGeom prst="wedgeRoundRectCallout">
            <a:avLst>
              <a:gd name="adj1" fmla="val -84651"/>
              <a:gd name="adj2" fmla="val -2749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HTTP response headers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615500" y="5915528"/>
            <a:ext cx="3875400" cy="527804"/>
          </a:xfrm>
          <a:prstGeom prst="wedgeRoundRectCallout">
            <a:avLst>
              <a:gd name="adj1" fmla="val -58905"/>
              <a:gd name="adj2" fmla="val -44946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HTTP response body</a:t>
            </a:r>
          </a:p>
        </p:txBody>
      </p:sp>
    </p:spTree>
    <p:extLst>
      <p:ext uri="{BB962C8B-B14F-4D97-AF65-F5344CB8AC3E}">
        <p14:creationId xmlns:p14="http://schemas.microsoft.com/office/powerpoint/2010/main" val="367854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Content-Type and Disposition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The Content-Type header at the server specifies how the output should be processed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Examples: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46113" y="3319841"/>
            <a:ext cx="7742237" cy="4139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Content-Type: text/html; charset=utf-8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3636334" y="2209800"/>
            <a:ext cx="4517065" cy="953453"/>
          </a:xfrm>
          <a:prstGeom prst="wedgeRoundRectCallout">
            <a:avLst>
              <a:gd name="adj1" fmla="val -62263"/>
              <a:gd name="adj2" fmla="val 5394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UTF-8 encoded HTML page. Will be shown in the browser.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7885" y="4114800"/>
            <a:ext cx="7742237" cy="105721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Content-Type: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application/pdf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Content-Disposition: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attachment;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filename="Financial-Report-April-2010.pdf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2057400" y="5334000"/>
            <a:ext cx="5943598" cy="953453"/>
          </a:xfrm>
          <a:prstGeom prst="wedgeRoundRectCallout">
            <a:avLst>
              <a:gd name="adj1" fmla="val -55211"/>
              <a:gd name="adj2" fmla="val -54231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This will download a PDF file named </a:t>
            </a:r>
            <a:r>
              <a:rPr lang="en-US" sz="26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Financial-Report-April-2010.pdf</a:t>
            </a:r>
            <a:endParaRPr lang="en-US" sz="2600" b="1" noProof="1" smtClean="0">
              <a:solidFill>
                <a:srgbClr val="F7FF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83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Methods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HTTP request </a:t>
            </a:r>
            <a:r>
              <a:rPr lang="en-US" dirty="0" smtClean="0"/>
              <a:t>methods: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GET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Return the specified resource</a:t>
            </a:r>
            <a:r>
              <a:rPr lang="en-US" dirty="0"/>
              <a:t>, run a program at the server</a:t>
            </a:r>
            <a:r>
              <a:rPr lang="en-US" dirty="0" smtClean="0"/>
              <a:t>, or just download file, </a:t>
            </a:r>
            <a:r>
              <a:rPr lang="en-US" dirty="0"/>
              <a:t>…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HEAD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Return </a:t>
            </a:r>
            <a:r>
              <a:rPr lang="en-US" dirty="0"/>
              <a:t>the meta-data associated with a resource (headers only)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POST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Update </a:t>
            </a:r>
            <a:r>
              <a:rPr lang="en-US" dirty="0"/>
              <a:t>a resource, provide input data </a:t>
            </a:r>
            <a:r>
              <a:rPr lang="en-US" dirty="0" smtClean="0"/>
              <a:t>for processing at </a:t>
            </a:r>
            <a:r>
              <a:rPr lang="en-US" dirty="0"/>
              <a:t>the server,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3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Codes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/>
              <a:t>HTTP response code classes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1xx</a:t>
            </a:r>
            <a:r>
              <a:rPr lang="en-US" sz="2800" dirty="0"/>
              <a:t>: informational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100 Continue</a:t>
            </a:r>
            <a:r>
              <a:rPr lang="en-US" sz="2800" dirty="0"/>
              <a:t>”)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2xx</a:t>
            </a:r>
            <a:r>
              <a:rPr lang="en-US" sz="2800" dirty="0"/>
              <a:t>: success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200 OK</a:t>
            </a:r>
            <a:r>
              <a:rPr lang="en-US" sz="2800" dirty="0"/>
              <a:t>”)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3xx</a:t>
            </a:r>
            <a:r>
              <a:rPr lang="en-US" sz="2800" dirty="0"/>
              <a:t>: redirection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304 Not Modified</a:t>
            </a:r>
            <a:r>
              <a:rPr lang="en-US" sz="2800" dirty="0"/>
              <a:t>”, "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302 Found</a:t>
            </a:r>
            <a:r>
              <a:rPr lang="en-US" sz="2800" dirty="0"/>
              <a:t>")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4xx</a:t>
            </a:r>
            <a:r>
              <a:rPr lang="en-US" sz="2800" dirty="0"/>
              <a:t>: client error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404 Not Found</a:t>
            </a:r>
            <a:r>
              <a:rPr lang="en-US" sz="2800" dirty="0"/>
              <a:t>”)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5xx</a:t>
            </a:r>
            <a:r>
              <a:rPr lang="en-US" sz="2800" dirty="0"/>
              <a:t>: server error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503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Service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Unavailable</a:t>
            </a:r>
            <a:r>
              <a:rPr lang="en-US" sz="2800" dirty="0"/>
              <a:t>”)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"</a:t>
            </a:r>
            <a:r>
              <a:rPr lang="bg-BG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302 Found</a:t>
            </a:r>
            <a:r>
              <a:rPr lang="en-US" sz="3000" dirty="0"/>
              <a:t>"</a:t>
            </a:r>
            <a:r>
              <a:rPr lang="bg-BG" sz="3000" dirty="0"/>
              <a:t> </a:t>
            </a:r>
            <a:r>
              <a:rPr lang="en-US" sz="3000" dirty="0"/>
              <a:t>is used for redirecting the Web browser to another URL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18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Browser Redirection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HTTP browser redirection example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HTTP GET requesting a moved URL: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 smtClean="0"/>
          </a:p>
          <a:p>
            <a:pPr lvl="1">
              <a:lnSpc>
                <a:spcPct val="100000"/>
              </a:lnSpc>
              <a:spcBef>
                <a:spcPts val="4800"/>
              </a:spcBef>
            </a:pPr>
            <a:r>
              <a:rPr lang="en-US" dirty="0" smtClean="0"/>
              <a:t>The HTTP response says the browser should request another URL: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28663" y="2286000"/>
            <a:ext cx="7577138" cy="13788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HTTP/1.1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Host: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academy.telerik.com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User-Agent: Gecko/20100115 Firefox/3.6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CRLF&gt;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28662" y="5114988"/>
            <a:ext cx="7577138" cy="105721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HTTP/1.1 301 Moved Permanently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Location: http://www.telerik.com/academy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200" b="1" i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84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7924800" cy="685800"/>
          </a:xfrm>
        </p:spPr>
        <p:txBody>
          <a:bodyPr/>
          <a:lstStyle/>
          <a:p>
            <a:r>
              <a:rPr lang="en-US" dirty="0" smtClean="0"/>
              <a:t>Web Services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09600" y="2174079"/>
            <a:ext cx="7924800" cy="569120"/>
          </a:xfrm>
        </p:spPr>
        <p:txBody>
          <a:bodyPr/>
          <a:lstStyle/>
          <a:p>
            <a:r>
              <a:rPr lang="en-US" dirty="0" smtClean="0"/>
              <a:t>Web Services and SOA Architecture</a:t>
            </a:r>
            <a:endParaRPr lang="en-US" dirty="0"/>
          </a:p>
        </p:txBody>
      </p:sp>
      <p:pic>
        <p:nvPicPr>
          <p:cNvPr id="1026" name="Picture 2" descr="http://upload.wikimedia.org/wikipedia/commons/4/4a/Webservice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33" t="-7339" r="-3333" b="-7339"/>
          <a:stretch/>
        </p:blipFill>
        <p:spPr bwMode="auto">
          <a:xfrm>
            <a:off x="1447800" y="2971800"/>
            <a:ext cx="2438400" cy="2381250"/>
          </a:xfrm>
          <a:prstGeom prst="roundRect">
            <a:avLst>
              <a:gd name="adj" fmla="val 2558"/>
            </a:avLst>
          </a:prstGeom>
          <a:solidFill>
            <a:srgbClr val="FFFFFF"/>
          </a:solidFill>
        </p:spPr>
      </p:pic>
      <p:pic>
        <p:nvPicPr>
          <p:cNvPr id="1028" name="Picture 4" descr="http://upload.wikimedia.org/wikipedia/he/a/aa/SOA_Web_Service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83" t="-3200" r="-1" b="-1"/>
          <a:stretch/>
        </p:blipFill>
        <p:spPr bwMode="auto">
          <a:xfrm>
            <a:off x="4648200" y="2971800"/>
            <a:ext cx="3048000" cy="2381379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extLst/>
        </p:spPr>
      </p:pic>
    </p:spTree>
    <p:extLst>
      <p:ext uri="{BB962C8B-B14F-4D97-AF65-F5344CB8AC3E}">
        <p14:creationId xmlns:p14="http://schemas.microsoft.com/office/powerpoint/2010/main" val="156264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Services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A web service is a method of communication between two devices in WWW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server device exposes services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client consumes these services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Web services are a main part of the SOA architecture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Database and Business logic on the server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The server exposes public services 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UI logic on the client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Consumes these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1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029201"/>
            <a:ext cx="7924800" cy="685800"/>
          </a:xfrm>
        </p:spPr>
        <p:txBody>
          <a:bodyPr/>
          <a:lstStyle/>
          <a:p>
            <a:r>
              <a:rPr lang="en-US" dirty="0" smtClean="0"/>
              <a:t>RESTful Web Services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755480"/>
            <a:ext cx="7924800" cy="569120"/>
          </a:xfrm>
        </p:spPr>
        <p:txBody>
          <a:bodyPr/>
          <a:lstStyle/>
          <a:p>
            <a:r>
              <a:rPr lang="en-US" dirty="0" smtClean="0"/>
              <a:t>Lightweight Architecture for Web Services</a:t>
            </a:r>
            <a:endParaRPr lang="en-US" dirty="0"/>
          </a:p>
        </p:txBody>
      </p:sp>
      <p:pic>
        <p:nvPicPr>
          <p:cNvPr id="6" name="Picture 4" descr="http://ragavanr.files.wordpress.com/2011/02/rest-web-servic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89534" y="939800"/>
            <a:ext cx="5368108" cy="369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17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REST?</a:t>
            </a:r>
            <a:endParaRPr lang="en-US" dirty="0"/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609600" y="1123890"/>
            <a:ext cx="7924800" cy="216059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eaLnBrk="0" hangingPunct="0"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spcBef>
                <a:spcPct val="20000"/>
              </a:spcBef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spcBef>
                <a:spcPct val="20000"/>
              </a:spcBef>
              <a:buClr>
                <a:srgbClr val="F8BD5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spcBef>
                <a:spcPct val="20000"/>
              </a:spcBef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800" dirty="0" smtClean="0"/>
              <a:t>"Representational </a:t>
            </a:r>
            <a:r>
              <a:rPr lang="en-US" sz="2800" dirty="0"/>
              <a:t>state transfer (REST) is a style of software architecture for distributed hypermedia systems such as the World Wide Web</a:t>
            </a:r>
            <a:r>
              <a:rPr lang="en-US" sz="2800" dirty="0" smtClean="0"/>
              <a:t>."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533400" y="3409890"/>
            <a:ext cx="8077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hlinkClick r:id="rId2"/>
              </a:rPr>
              <a:t>http://en.wikipedia.org/wiki/Representational_State_Transfer</a:t>
            </a:r>
            <a:endParaRPr lang="en-US" sz="2000" b="1" dirty="0"/>
          </a:p>
        </p:txBody>
      </p:sp>
      <p:sp>
        <p:nvSpPr>
          <p:cNvPr id="9" name="Text Placeholder 4"/>
          <p:cNvSpPr>
            <a:spLocks noGrp="1"/>
          </p:cNvSpPr>
          <p:nvPr/>
        </p:nvSpPr>
        <p:spPr bwMode="auto">
          <a:xfrm>
            <a:off x="304800" y="3886200"/>
            <a:ext cx="8534400" cy="2743200"/>
          </a:xfrm>
          <a:prstGeom prst="rect">
            <a:avLst/>
          </a:prstGeom>
        </p:spPr>
        <p:txBody>
          <a:bodyPr/>
          <a:lstStyle/>
          <a:p>
            <a:pPr marL="282575" indent="-282575"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Application state and functionality are resources </a:t>
            </a:r>
          </a:p>
          <a:p>
            <a:pPr marL="630238" lvl="1" indent="-273050" eaLnBrk="0" hangingPunct="0"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</a:pPr>
            <a:r>
              <a:rPr lang="en-US" sz="2600" b="1" dirty="0" smtClean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Resources are used as common data files</a:t>
            </a:r>
          </a:p>
          <a:p>
            <a:pPr marL="282575" indent="-282575"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Every </a:t>
            </a:r>
            <a:r>
              <a:rPr lang="en-US" sz="28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resource has an URI</a:t>
            </a:r>
          </a:p>
          <a:p>
            <a:pPr marL="282575" indent="-282575"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28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All resources share a uniform interface</a:t>
            </a:r>
          </a:p>
          <a:p>
            <a:pPr marL="282575" indent="-282575"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sz="28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This natively maps to the HTTP protocol</a:t>
            </a:r>
          </a:p>
        </p:txBody>
      </p:sp>
    </p:spTree>
    <p:extLst>
      <p:ext uri="{BB962C8B-B14F-4D97-AF65-F5344CB8AC3E}">
        <p14:creationId xmlns:p14="http://schemas.microsoft.com/office/powerpoint/2010/main" val="104845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RESTful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One URI for a resource, multiple operations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Add a new </a:t>
            </a:r>
            <a:r>
              <a:rPr lang="en-US" sz="2800" dirty="0" smtClean="0"/>
              <a:t>document "RestTalk" in category "Code"</a:t>
            </a:r>
            <a:endParaRPr lang="en-US" sz="2800" dirty="0"/>
          </a:p>
          <a:p>
            <a:pPr lvl="2">
              <a:lnSpc>
                <a:spcPct val="100000"/>
              </a:lnSpc>
            </a:pPr>
            <a:r>
              <a:rPr lang="en-US" sz="2400" dirty="0" smtClean="0"/>
              <a:t>PUT </a:t>
            </a:r>
            <a:r>
              <a:rPr lang="en-US" sz="2400" dirty="0" smtClean="0">
                <a:hlinkClick r:id="rId2"/>
              </a:rPr>
              <a:t>http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mysite.com/docs/Code/RestTalk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Get the </a:t>
            </a:r>
            <a:r>
              <a:rPr lang="en-US" sz="2800" dirty="0" smtClean="0"/>
              <a:t>document / some page</a:t>
            </a:r>
            <a:endParaRPr lang="en-US" sz="2800" dirty="0"/>
          </a:p>
          <a:p>
            <a:pPr lvl="2">
              <a:lnSpc>
                <a:spcPct val="100000"/>
              </a:lnSpc>
            </a:pPr>
            <a:r>
              <a:rPr lang="en-US" sz="2400" dirty="0" smtClean="0"/>
              <a:t>GET </a:t>
            </a:r>
            <a:r>
              <a:rPr lang="en-US" sz="2400" dirty="0" smtClean="0">
                <a:hlinkClick r:id="rId2"/>
              </a:rPr>
              <a:t>http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mysite.com/docs/Code/RestTalk</a:t>
            </a:r>
            <a:endParaRPr lang="en-US" sz="2400" dirty="0" smtClean="0"/>
          </a:p>
          <a:p>
            <a:pPr lvl="2">
              <a:lnSpc>
                <a:spcPct val="100000"/>
              </a:lnSpc>
            </a:pPr>
            <a:r>
              <a:rPr lang="en-US" sz="2400" dirty="0"/>
              <a:t>GET </a:t>
            </a:r>
            <a:r>
              <a:rPr lang="en-US" sz="2400" dirty="0">
                <a:hlinkClick r:id="rId3"/>
              </a:rPr>
              <a:t>http://</a:t>
            </a:r>
            <a:r>
              <a:rPr lang="en-US" sz="2400" dirty="0" smtClean="0">
                <a:hlinkClick r:id="rId3"/>
              </a:rPr>
              <a:t>mysite.com/docs/Code/RestTalk/pages/3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Remove the </a:t>
            </a:r>
            <a:r>
              <a:rPr lang="en-US" sz="2800" dirty="0" smtClean="0"/>
              <a:t>document</a:t>
            </a:r>
            <a:endParaRPr lang="en-US" sz="2800" dirty="0"/>
          </a:p>
          <a:p>
            <a:pPr lvl="2">
              <a:lnSpc>
                <a:spcPct val="100000"/>
              </a:lnSpc>
            </a:pPr>
            <a:r>
              <a:rPr lang="en-US" sz="2400" dirty="0" smtClean="0"/>
              <a:t>DELETE </a:t>
            </a:r>
            <a:r>
              <a:rPr lang="en-US" sz="2400" dirty="0" smtClean="0">
                <a:hlinkClick r:id="rId2"/>
              </a:rPr>
              <a:t>http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mysite.com/docs/Code/RestTalk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Retrieve metadata</a:t>
            </a:r>
            <a:endParaRPr lang="en-US" sz="2800" dirty="0"/>
          </a:p>
          <a:p>
            <a:pPr lvl="2">
              <a:lnSpc>
                <a:spcPct val="100000"/>
              </a:lnSpc>
            </a:pPr>
            <a:r>
              <a:rPr lang="en-US" sz="2400" dirty="0" smtClean="0"/>
              <a:t>HEAD </a:t>
            </a:r>
            <a:r>
              <a:rPr lang="en-US" sz="2400" dirty="0" smtClean="0">
                <a:hlinkClick r:id="rId2"/>
              </a:rPr>
              <a:t>http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mysite.com/docs/Code/RestTalk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94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7924800" cy="685800"/>
          </a:xfrm>
        </p:spPr>
        <p:txBody>
          <a:bodyPr/>
          <a:lstStyle/>
          <a:p>
            <a:r>
              <a:rPr lang="en-US" dirty="0" smtClean="0"/>
              <a:t>AJAX</a:t>
            </a:r>
            <a:endParaRPr lang="bg-BG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1716879"/>
            <a:ext cx="7924800" cy="569120"/>
          </a:xfrm>
        </p:spPr>
        <p:txBody>
          <a:bodyPr/>
          <a:lstStyle/>
          <a:p>
            <a:r>
              <a:rPr lang="en-US" dirty="0"/>
              <a:t>Asynchronous JavaScript and </a:t>
            </a:r>
            <a:r>
              <a:rPr lang="en-US" dirty="0" smtClean="0"/>
              <a:t>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1710">
            <a:off x="408740" y="2569076"/>
            <a:ext cx="3016768" cy="179100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http://blog.trentkocurek.com/wp-content/uploads/2010/08/JQueryAjaxAS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00488">
            <a:off x="5380679" y="2512076"/>
            <a:ext cx="3175000" cy="1905000"/>
          </a:xfrm>
          <a:prstGeom prst="roundRect">
            <a:avLst>
              <a:gd name="adj" fmla="val 18106"/>
            </a:avLst>
          </a:prstGeom>
          <a:noFill/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155840">
            <a:off x="3525886" y="4042760"/>
            <a:ext cx="1952270" cy="2231166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02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638800"/>
          </a:xfrm>
        </p:spPr>
        <p:txBody>
          <a:bodyPr/>
          <a:lstStyle/>
          <a:p>
            <a:r>
              <a:rPr lang="en-US" dirty="0" smtClean="0"/>
              <a:t>AJAX is acronym of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Asynchronous JavaScript and XML</a:t>
            </a:r>
          </a:p>
          <a:p>
            <a:pPr lvl="1"/>
            <a:r>
              <a:rPr lang="en-US" dirty="0" smtClean="0"/>
              <a:t>Technique for background loading of dynamic content and data from the server side</a:t>
            </a:r>
          </a:p>
          <a:p>
            <a:pPr lvl="1"/>
            <a:r>
              <a:rPr lang="en-US" dirty="0" smtClean="0"/>
              <a:t>Allows dynamic client-side changes</a:t>
            </a:r>
          </a:p>
          <a:p>
            <a:r>
              <a:rPr lang="en-US" dirty="0" smtClean="0"/>
              <a:t>Two </a:t>
            </a:r>
            <a:r>
              <a:rPr lang="en-US" dirty="0" smtClean="0"/>
              <a:t>types of </a:t>
            </a:r>
            <a:r>
              <a:rPr lang="en-US" dirty="0" smtClean="0"/>
              <a:t>AJAX</a:t>
            </a:r>
          </a:p>
          <a:p>
            <a:pPr lvl="1"/>
            <a:r>
              <a:rPr lang="en-US" dirty="0" smtClean="0"/>
              <a:t>Partial page rendering – loading of HTML fragment and showing it in a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&lt;div&gt; </a:t>
            </a:r>
            <a:r>
              <a:rPr lang="en-US" dirty="0"/>
              <a:t>(AHAH)</a:t>
            </a:r>
          </a:p>
          <a:p>
            <a:pPr lvl="1"/>
            <a:r>
              <a:rPr lang="en-US" dirty="0" smtClean="0"/>
              <a:t>JSON service – loading JSON object and client-side processing it with JavaScript / jQuery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00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Technically, AJAX is a group of technologies working together</a:t>
            </a:r>
          </a:p>
          <a:p>
            <a:pPr lvl="1"/>
            <a:r>
              <a:rPr lang="en-US" dirty="0" smtClean="0"/>
              <a:t>HTML &amp; CSS for presentation</a:t>
            </a:r>
          </a:p>
          <a:p>
            <a:pPr lvl="1"/>
            <a:r>
              <a:rPr lang="en-US" dirty="0" smtClean="0"/>
              <a:t>The DOM for data display &amp; interaction</a:t>
            </a:r>
          </a:p>
          <a:p>
            <a:pPr lvl="1"/>
            <a:r>
              <a:rPr lang="en-US" dirty="0" smtClean="0"/>
              <a:t>XML (or JSON) for data interchange</a:t>
            </a:r>
          </a:p>
          <a:p>
            <a:pPr lvl="1"/>
            <a:r>
              <a:rPr lang="en-US" dirty="0" err="1" smtClean="0"/>
              <a:t>XMLHttpRequest</a:t>
            </a:r>
            <a:r>
              <a:rPr lang="en-US" dirty="0" smtClean="0"/>
              <a:t> for </a:t>
            </a:r>
            <a:r>
              <a:rPr lang="en-US" dirty="0" err="1" smtClean="0"/>
              <a:t>async</a:t>
            </a:r>
            <a:r>
              <a:rPr lang="en-US" dirty="0" smtClean="0"/>
              <a:t> communication</a:t>
            </a:r>
          </a:p>
          <a:p>
            <a:pPr lvl="1"/>
            <a:r>
              <a:rPr lang="en-US" dirty="0" smtClean="0"/>
              <a:t>JavaScript to use the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40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AJAX uses HTTP</a:t>
            </a:r>
          </a:p>
          <a:p>
            <a:pPr lvl="1"/>
            <a:r>
              <a:rPr lang="en-US" dirty="0"/>
              <a:t>Requests have </a:t>
            </a:r>
            <a:r>
              <a:rPr lang="en-US" dirty="0" smtClean="0"/>
              <a:t>headers – GET, POST, HEAD, etc.</a:t>
            </a:r>
          </a:p>
          <a:p>
            <a:pPr lvl="1"/>
            <a:r>
              <a:rPr lang="en-US" dirty="0" smtClean="0"/>
              <a:t>Requests have bodies – XML, JSON or plain text</a:t>
            </a:r>
            <a:endParaRPr lang="en-US" dirty="0"/>
          </a:p>
          <a:p>
            <a:pPr lvl="1"/>
            <a:r>
              <a:rPr lang="en-US" dirty="0" smtClean="0"/>
              <a:t>The request must target a resource with a URI</a:t>
            </a:r>
          </a:p>
          <a:p>
            <a:pPr lvl="1"/>
            <a:r>
              <a:rPr lang="en-US" dirty="0" smtClean="0"/>
              <a:t>The resource must understand the request</a:t>
            </a:r>
          </a:p>
          <a:p>
            <a:pPr lvl="2"/>
            <a:r>
              <a:rPr lang="en-US" dirty="0" smtClean="0"/>
              <a:t>Server-side logic</a:t>
            </a:r>
          </a:p>
          <a:p>
            <a:pPr lvl="1"/>
            <a:r>
              <a:rPr lang="en-US" dirty="0" smtClean="0"/>
              <a:t>Requests get a HTTP Response</a:t>
            </a:r>
          </a:p>
          <a:p>
            <a:pPr lvl="2"/>
            <a:r>
              <a:rPr lang="en-US" dirty="0" smtClean="0"/>
              <a:t>Header with a body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16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2362200"/>
            <a:ext cx="7924800" cy="685800"/>
          </a:xfrm>
        </p:spPr>
        <p:txBody>
          <a:bodyPr/>
          <a:lstStyle/>
          <a:p>
            <a:r>
              <a:rPr lang="en-US" dirty="0" smtClean="0"/>
              <a:t>The Same Origin Policy</a:t>
            </a:r>
            <a:endParaRPr lang="bg-BG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3088479"/>
            <a:ext cx="7924800" cy="569120"/>
          </a:xfrm>
        </p:spPr>
        <p:txBody>
          <a:bodyPr/>
          <a:lstStyle/>
          <a:p>
            <a:r>
              <a:rPr lang="en-US" dirty="0" smtClean="0"/>
              <a:t>i.e. Don't talk to strangers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10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Same Origin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concept for browser-side programming languages</a:t>
            </a:r>
          </a:p>
          <a:p>
            <a:r>
              <a:rPr lang="en-US" dirty="0" smtClean="0"/>
              <a:t>Scripts running on pages from the same site</a:t>
            </a:r>
          </a:p>
          <a:p>
            <a:pPr lvl="1"/>
            <a:r>
              <a:rPr lang="en-US" dirty="0" smtClean="0"/>
              <a:t>i.e. the same </a:t>
            </a:r>
            <a:r>
              <a:rPr lang="en-US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origin</a:t>
            </a:r>
            <a:endParaRPr lang="en-US" dirty="0" smtClean="0"/>
          </a:p>
          <a:p>
            <a:pPr lvl="1"/>
            <a:r>
              <a:rPr lang="en-US" dirty="0" smtClean="0"/>
              <a:t>Can access each other without restriction</a:t>
            </a:r>
          </a:p>
          <a:p>
            <a:r>
              <a:rPr lang="en-US" dirty="0" smtClean="0"/>
              <a:t>Scripts cannot access pages on different sites</a:t>
            </a:r>
          </a:p>
          <a:p>
            <a:r>
              <a:rPr lang="en-US" dirty="0" smtClean="0"/>
              <a:t>This also applies to </a:t>
            </a:r>
            <a:r>
              <a:rPr lang="en-US" dirty="0" err="1" smtClean="0"/>
              <a:t>XMLHttpRequest</a:t>
            </a:r>
            <a:endParaRPr lang="en-US" dirty="0" smtClean="0"/>
          </a:p>
          <a:p>
            <a:pPr lvl="1"/>
            <a:r>
              <a:rPr lang="en-US" dirty="0" smtClean="0"/>
              <a:t>Sent only between pages with same </a:t>
            </a:r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origin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47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 Determination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Origin is defined using</a:t>
            </a:r>
          </a:p>
          <a:p>
            <a:pPr lvl="1"/>
            <a:r>
              <a:rPr lang="en-US" dirty="0" smtClean="0"/>
              <a:t>Domain name (e.g. example.com)</a:t>
            </a:r>
          </a:p>
          <a:p>
            <a:pPr lvl="1"/>
            <a:r>
              <a:rPr lang="en-US" dirty="0" smtClean="0"/>
              <a:t>Application layer protocol (e.g. http)</a:t>
            </a:r>
          </a:p>
          <a:p>
            <a:pPr lvl="1"/>
            <a:r>
              <a:rPr lang="en-US" dirty="0" smtClean="0"/>
              <a:t>Port number (not all browsers!)</a:t>
            </a:r>
          </a:p>
          <a:p>
            <a:pPr lvl="1"/>
            <a:r>
              <a:rPr lang="en-US" dirty="0" smtClean="0"/>
              <a:t>Two resources are of the same origin if all of the above match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19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 Determination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Say we have a resource at </a:t>
            </a:r>
            <a:r>
              <a:rPr lang="en-US" b="0" dirty="0">
                <a:effectLst/>
                <a:hlinkClick r:id="rId2"/>
              </a:rPr>
              <a:t>http://</a:t>
            </a:r>
            <a:r>
              <a:rPr lang="en-US" b="0" dirty="0" smtClean="0">
                <a:effectLst/>
                <a:hlinkClick r:id="rId2"/>
              </a:rPr>
              <a:t>www.example.com/dir/page.html</a:t>
            </a:r>
            <a:r>
              <a:rPr lang="en-US" b="0" dirty="0" smtClean="0">
                <a:effectLst/>
              </a:rPr>
              <a:t> </a:t>
            </a:r>
          </a:p>
          <a:p>
            <a:r>
              <a:rPr lang="en-US" dirty="0"/>
              <a:t>The following table shows outcomes of origin checks with resources at similar URLs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339850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77" y="3352800"/>
            <a:ext cx="7910246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7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Relaxing Same Origin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Same origin policy is sometimes too restrictive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Large sites with lots of subdomains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Accessing web services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Ways of "relaxing"</a:t>
            </a:r>
          </a:p>
          <a:p>
            <a:pPr lvl="1">
              <a:spcBef>
                <a:spcPts val="0"/>
              </a:spcBef>
            </a:pPr>
            <a:r>
              <a:rPr lang="en-US" dirty="0" err="1" smtClean="0"/>
              <a:t>document.domain</a:t>
            </a:r>
            <a:r>
              <a:rPr lang="en-US" dirty="0" smtClean="0"/>
              <a:t> – can be set to a </a:t>
            </a:r>
            <a:r>
              <a:rPr lang="en-US" dirty="0" err="1" smtClean="0"/>
              <a:t>superdomain</a:t>
            </a:r>
            <a:r>
              <a:rPr lang="en-US" dirty="0" smtClean="0"/>
              <a:t> when in proper subdomain</a:t>
            </a:r>
          </a:p>
          <a:p>
            <a:pPr lvl="1">
              <a:spcBef>
                <a:spcPts val="0"/>
              </a:spcBef>
            </a:pPr>
            <a:r>
              <a:rPr lang="en-US" dirty="0"/>
              <a:t>Cross document </a:t>
            </a:r>
            <a:r>
              <a:rPr lang="en-US" dirty="0" smtClean="0"/>
              <a:t>messaging – HTML5, </a:t>
            </a:r>
            <a:r>
              <a:rPr lang="en-US" dirty="0" err="1" smtClean="0"/>
              <a:t>postMessage</a:t>
            </a:r>
            <a:r>
              <a:rPr lang="en-US" dirty="0" smtClean="0"/>
              <a:t>() to page in &lt;</a:t>
            </a:r>
            <a:r>
              <a:rPr lang="en-US" dirty="0" err="1" smtClean="0"/>
              <a:t>iframe</a:t>
            </a:r>
            <a:r>
              <a:rPr lang="en-US" dirty="0" smtClean="0"/>
              <a:t>&gt;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Cross Origin Resource Sharing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Workaround – JSONP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2362200"/>
            <a:ext cx="7924800" cy="685800"/>
          </a:xfrm>
        </p:spPr>
        <p:txBody>
          <a:bodyPr/>
          <a:lstStyle/>
          <a:p>
            <a:r>
              <a:rPr lang="en-US" dirty="0" smtClean="0"/>
              <a:t>JSONP</a:t>
            </a:r>
            <a:endParaRPr lang="bg-BG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3088479"/>
            <a:ext cx="7924800" cy="569120"/>
          </a:xfrm>
        </p:spPr>
        <p:txBody>
          <a:bodyPr/>
          <a:lstStyle/>
          <a:p>
            <a:r>
              <a:rPr lang="en-US" dirty="0" smtClean="0"/>
              <a:t>i.e. not listening to mommy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7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JSON with padding (also JSON prefix)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Same origin policy denies cross-origin requests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But not for the &lt;script&gt; tag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The &lt;script&gt; tag can be exploited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Retrieve JS code and the browser executes it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In the case of a service, we get a JSON object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The script tag can have a callback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pPr lvl="1">
              <a:spcBef>
                <a:spcPts val="0"/>
              </a:spcBef>
            </a:pPr>
            <a:endParaRPr lang="en-US" dirty="0" smtClean="0"/>
          </a:p>
          <a:p>
            <a:pPr lvl="1">
              <a:spcBef>
                <a:spcPts val="0"/>
              </a:spcBef>
            </a:pPr>
            <a:r>
              <a:rPr lang="en-US" dirty="0" smtClean="0"/>
              <a:t>We receive </a:t>
            </a:r>
            <a:r>
              <a:rPr lang="en-US" dirty="0" err="1" smtClean="0"/>
              <a:t>parseResponse</a:t>
            </a:r>
            <a:r>
              <a:rPr lang="en-US" dirty="0" smtClean="0"/>
              <a:t>(…)</a:t>
            </a:r>
          </a:p>
          <a:p>
            <a:pPr lvl="1">
              <a:spcBef>
                <a:spcPts val="0"/>
              </a:spcBef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62000" y="4962588"/>
            <a:ext cx="7577138" cy="105721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&lt;script type="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text/javascript"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src="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http://server2.example.com/Users/1234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?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jsonp=parseResponse"&gt;&lt;/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script&gt;</a:t>
            </a:r>
          </a:p>
        </p:txBody>
      </p:sp>
    </p:spTree>
    <p:extLst>
      <p:ext uri="{BB962C8B-B14F-4D97-AF65-F5344CB8AC3E}">
        <p14:creationId xmlns:p14="http://schemas.microsoft.com/office/powerpoint/2010/main" val="175132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JSONP – How it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After the script URL, we add a query parameter ?</a:t>
            </a:r>
            <a:r>
              <a:rPr lang="en-US" dirty="0" err="1" smtClean="0"/>
              <a:t>jsonp</a:t>
            </a:r>
            <a:r>
              <a:rPr lang="en-US" dirty="0" smtClean="0"/>
              <a:t>= (or ?callback=)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This parameter tells the server what to return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The server wraps its return value in the specified callback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Example</a:t>
            </a:r>
          </a:p>
          <a:p>
            <a:pPr lvl="2">
              <a:spcBef>
                <a:spcPts val="0"/>
              </a:spcBef>
            </a:pPr>
            <a:r>
              <a:rPr lang="en-US" dirty="0" smtClean="0"/>
              <a:t>server returns a JSON object {"age":"5"}</a:t>
            </a:r>
            <a:r>
              <a:rPr lang="en-US" dirty="0"/>
              <a:t> </a:t>
            </a:r>
            <a:endParaRPr lang="en-US" dirty="0" smtClean="0"/>
          </a:p>
          <a:p>
            <a:pPr lvl="2">
              <a:spcBef>
                <a:spcPts val="0"/>
              </a:spcBef>
            </a:pPr>
            <a:r>
              <a:rPr lang="en-US" dirty="0" smtClean="0"/>
              <a:t>the query parameter is ?callback=</a:t>
            </a:r>
            <a:r>
              <a:rPr lang="en-US" dirty="0" err="1" smtClean="0"/>
              <a:t>parseResponse</a:t>
            </a:r>
            <a:endParaRPr lang="en-US" dirty="0" smtClean="0"/>
          </a:p>
          <a:p>
            <a:pPr lvl="2">
              <a:spcBef>
                <a:spcPts val="0"/>
              </a:spcBef>
            </a:pPr>
            <a:r>
              <a:rPr lang="en-US" dirty="0" smtClean="0"/>
              <a:t>The browser executes the following JS code: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62062" y="5791200"/>
            <a:ext cx="4986338" cy="47243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parseResponse({"age":"5"})</a:t>
            </a:r>
            <a:endParaRPr lang="en-US" sz="26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70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JSONP – the "Padding"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callback function in the example is called the "padding"</a:t>
            </a:r>
          </a:p>
          <a:p>
            <a:r>
              <a:rPr lang="en-US" dirty="0" smtClean="0"/>
              <a:t>Typically its used to pass the JSON to a function, which acts as a handler, but it can be anything else</a:t>
            </a:r>
          </a:p>
          <a:p>
            <a:pPr lvl="1"/>
            <a:r>
              <a:rPr lang="en-US" dirty="0" smtClean="0"/>
              <a:t>Variable assignment, if statement, etc.</a:t>
            </a:r>
          </a:p>
          <a:p>
            <a:pPr lvl="1"/>
            <a:r>
              <a:rPr lang="en-US" dirty="0" smtClean="0"/>
              <a:t>What we receive is JS code, not JSON</a:t>
            </a:r>
          </a:p>
          <a:p>
            <a:pPr lvl="2"/>
            <a:r>
              <a:rPr lang="en-US" dirty="0" smtClean="0"/>
              <a:t>This is a security concern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9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2895600"/>
            <a:ext cx="8229600" cy="685800"/>
          </a:xfrm>
        </p:spPr>
        <p:txBody>
          <a:bodyPr/>
          <a:lstStyle/>
          <a:p>
            <a:r>
              <a:rPr lang="en-US" dirty="0" smtClean="0"/>
              <a:t>Web Developer Tools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3698079"/>
            <a:ext cx="8229600" cy="569120"/>
          </a:xfrm>
        </p:spPr>
        <p:txBody>
          <a:bodyPr/>
          <a:lstStyle/>
          <a:p>
            <a:r>
              <a:rPr lang="en-US" dirty="0" smtClean="0"/>
              <a:t>Simulating and Tracking Web Traffic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89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Developer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799"/>
            <a:ext cx="8686800" cy="56388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600"/>
              </a:spcBef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Firebug</a:t>
            </a:r>
            <a:r>
              <a:rPr lang="en-US" dirty="0" smtClean="0"/>
              <a:t> plug-in for Firefox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 must have for Web developers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ultimate tool for monitoring, editing and debugging HTTP, HTML, CSS, JavaScript, etc.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Free, open-source – </a:t>
            </a:r>
            <a:r>
              <a:rPr lang="en-US" dirty="0" smtClean="0">
                <a:hlinkClick r:id="rId2"/>
              </a:rPr>
              <a:t>www.getfirebug.com</a:t>
            </a:r>
            <a:endParaRPr lang="en-US" dirty="0" smtClean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Fiddler</a:t>
            </a:r>
            <a:r>
              <a:rPr lang="en-US" dirty="0" smtClean="0"/>
              <a:t> – HTTP proxy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Intercepts the HTTP traffic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Analyzes the HTTP conversation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Free tool (by Telerik) – </a:t>
            </a:r>
            <a:r>
              <a:rPr lang="en-US" dirty="0" smtClean="0">
                <a:hlinkClick r:id="rId3"/>
              </a:rPr>
              <a:t>www.fiddler2.com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84065" y="1066799"/>
            <a:ext cx="1426535" cy="11597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 descr="Fiddler Logo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69934" y="4318559"/>
            <a:ext cx="2845981" cy="8630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43390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</a:t>
            </a:r>
            <a:r>
              <a:rPr lang="en-US" dirty="0"/>
              <a:t>Developer </a:t>
            </a:r>
            <a:r>
              <a:rPr lang="en-US" dirty="0" smtClean="0"/>
              <a:t>Tools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Wireshark</a:t>
            </a:r>
            <a:r>
              <a:rPr lang="en-US" dirty="0"/>
              <a:t> packet </a:t>
            </a:r>
            <a:r>
              <a:rPr lang="en-US" dirty="0" smtClean="0"/>
              <a:t>analyzer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Low-level packet sniffer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Intercepts </a:t>
            </a:r>
            <a:r>
              <a:rPr lang="en-US" dirty="0"/>
              <a:t>the </a:t>
            </a:r>
            <a:r>
              <a:rPr lang="en-US" dirty="0" smtClean="0"/>
              <a:t>entire IP </a:t>
            </a:r>
            <a:r>
              <a:rPr lang="en-US" dirty="0"/>
              <a:t>network </a:t>
            </a:r>
            <a:r>
              <a:rPr lang="en-US" dirty="0" smtClean="0"/>
              <a:t>traffic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Can </a:t>
            </a:r>
            <a:r>
              <a:rPr lang="en-US" dirty="0"/>
              <a:t>reconstruct the HTTP </a:t>
            </a:r>
            <a:r>
              <a:rPr lang="en-US" dirty="0" smtClean="0"/>
              <a:t>conversation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Can intercept any (unencrypted) protocol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IP, ICMP, TCP, UDP, HTTP, DNS, SMTP, POP3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Can intercept passwords sent in </a:t>
            </a:r>
            <a:r>
              <a:rPr lang="en-US" dirty="0"/>
              <a:t>clear-text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Free, open-source project – </a:t>
            </a:r>
            <a:r>
              <a:rPr lang="en-US" dirty="0" smtClean="0">
                <a:hlinkClick r:id="rId2"/>
              </a:rPr>
              <a:t>www.wireshark.org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pic>
        <p:nvPicPr>
          <p:cNvPr id="5" name="Picture 5" descr="http://www.security.org.my/uploads/wireshark-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143000"/>
            <a:ext cx="2438400" cy="8758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9073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HTTP and AJAX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89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8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c71451133cd83ebc4e1af2b24f9363a5b6c9b83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2353</TotalTime>
  <Words>3022</Words>
  <Application>Microsoft Office PowerPoint</Application>
  <PresentationFormat>On-screen Show (4:3)</PresentationFormat>
  <Paragraphs>544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Arial Black</vt:lpstr>
      <vt:lpstr>Calibri</vt:lpstr>
      <vt:lpstr>Cambria</vt:lpstr>
      <vt:lpstr>Consolas</vt:lpstr>
      <vt:lpstr>Corbel</vt:lpstr>
      <vt:lpstr>Wingdings</vt:lpstr>
      <vt:lpstr>Wingdings 2</vt:lpstr>
      <vt:lpstr>Telerik Academy</vt:lpstr>
      <vt:lpstr>HTTP and AJAX</vt:lpstr>
      <vt:lpstr>Table of Contents</vt:lpstr>
      <vt:lpstr>WWW and URL</vt:lpstr>
      <vt:lpstr>What is WWW?</vt:lpstr>
      <vt:lpstr>WWW Components</vt:lpstr>
      <vt:lpstr>WWW Infrastructure</vt:lpstr>
      <vt:lpstr>WWW Infrastructure (2)</vt:lpstr>
      <vt:lpstr>URL</vt:lpstr>
      <vt:lpstr>URL Encoding</vt:lpstr>
      <vt:lpstr>URL – Examples</vt:lpstr>
      <vt:lpstr>HTML, XML, JSON, RSS</vt:lpstr>
      <vt:lpstr>HTML</vt:lpstr>
      <vt:lpstr>HTML</vt:lpstr>
      <vt:lpstr>HTML – Example</vt:lpstr>
      <vt:lpstr>XML</vt:lpstr>
      <vt:lpstr>RSS</vt:lpstr>
      <vt:lpstr>RSS – Example</vt:lpstr>
      <vt:lpstr>JSON</vt:lpstr>
      <vt:lpstr>The HTTP Protocol</vt:lpstr>
      <vt:lpstr>HTTP</vt:lpstr>
      <vt:lpstr>HTTP: Request-Response Protocol</vt:lpstr>
      <vt:lpstr>Example: Hyper Text Transfer Protocol</vt:lpstr>
      <vt:lpstr>HTTP Request Message</vt:lpstr>
      <vt:lpstr>HTTP GET Request – Example</vt:lpstr>
      <vt:lpstr>HTTP POST Request – Example</vt:lpstr>
      <vt:lpstr>Conditional HTTP GET – Example</vt:lpstr>
      <vt:lpstr>HTTP Response Message</vt:lpstr>
      <vt:lpstr>HTTP Response – Example</vt:lpstr>
      <vt:lpstr>HTTP Response – Example</vt:lpstr>
      <vt:lpstr>Content-Type and Disposition</vt:lpstr>
      <vt:lpstr>HTTP Request Methods</vt:lpstr>
      <vt:lpstr>HTTP Response Codes</vt:lpstr>
      <vt:lpstr>Browser Redirection</vt:lpstr>
      <vt:lpstr>Web Services</vt:lpstr>
      <vt:lpstr>Web Services</vt:lpstr>
      <vt:lpstr>RESTful Web Services</vt:lpstr>
      <vt:lpstr>What is REST?</vt:lpstr>
      <vt:lpstr>RESTful Services</vt:lpstr>
      <vt:lpstr>AJAX</vt:lpstr>
      <vt:lpstr>AJAX</vt:lpstr>
      <vt:lpstr>AJAX</vt:lpstr>
      <vt:lpstr>AJAX</vt:lpstr>
      <vt:lpstr>The Same Origin Policy</vt:lpstr>
      <vt:lpstr>Same Origin Policy</vt:lpstr>
      <vt:lpstr>Origin Determination Rules</vt:lpstr>
      <vt:lpstr>Origin Determination Example</vt:lpstr>
      <vt:lpstr>Relaxing Same Origin Policy</vt:lpstr>
      <vt:lpstr>JSONP</vt:lpstr>
      <vt:lpstr>JSONP</vt:lpstr>
      <vt:lpstr>JSONP – How it Works</vt:lpstr>
      <vt:lpstr>JSONP – the "Padding"</vt:lpstr>
      <vt:lpstr>Web Developer Tools</vt:lpstr>
      <vt:lpstr>Web Developer Tools</vt:lpstr>
      <vt:lpstr>Web Developer Tools (2)</vt:lpstr>
      <vt:lpstr>HTTP and AJAX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Svetlin Nakov</dc:creator>
  <cp:keywords>telerik software academy, free courses for developers</cp:keywords>
  <cp:lastModifiedBy>Doncho Minkov</cp:lastModifiedBy>
  <cp:revision>409</cp:revision>
  <dcterms:created xsi:type="dcterms:W3CDTF">2007-12-08T16:03:35Z</dcterms:created>
  <dcterms:modified xsi:type="dcterms:W3CDTF">2014-02-26T11:13:01Z</dcterms:modified>
  <cp:category>software engineering</cp:category>
</cp:coreProperties>
</file>