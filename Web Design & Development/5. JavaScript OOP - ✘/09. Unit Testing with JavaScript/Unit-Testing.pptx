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63" r:id="rId11"/>
    <p:sldId id="258" r:id="rId12"/>
    <p:sldId id="259" r:id="rId13"/>
    <p:sldId id="260" r:id="rId14"/>
    <p:sldId id="261" r:id="rId15"/>
    <p:sldId id="267" r:id="rId16"/>
    <p:sldId id="268" r:id="rId17"/>
    <p:sldId id="285" r:id="rId18"/>
    <p:sldId id="269" r:id="rId19"/>
    <p:sldId id="270" r:id="rId20"/>
    <p:sldId id="271" r:id="rId21"/>
    <p:sldId id="286" r:id="rId22"/>
    <p:sldId id="272" r:id="rId23"/>
    <p:sldId id="273" r:id="rId24"/>
    <p:sldId id="287" r:id="rId25"/>
    <p:sldId id="275" r:id="rId26"/>
    <p:sldId id="276" r:id="rId27"/>
    <p:sldId id="277" r:id="rId28"/>
    <p:sldId id="278" r:id="rId29"/>
    <p:sldId id="282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85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43219-60FF-4BC9-8799-F361A758BEDB}" type="datetimeFigureOut">
              <a:rPr lang="en-US" smtClean="0"/>
              <a:t>14-Feb-14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DEBC3-A3B7-4E22-944A-5C01296CF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770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3C3021-86C9-4B93-94E6-DDA27CADE393}" type="slidenum">
              <a:rPr lang="en-US"/>
              <a:pPr/>
              <a:t>2</a:t>
            </a:fld>
            <a:r>
              <a:rPr lang="en-US" dirty="0"/>
              <a:t>##</a:t>
            </a:r>
          </a:p>
        </p:txBody>
      </p:sp>
      <p:sp>
        <p:nvSpPr>
          <p:cNvPr id="76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63966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3EBF14-37C0-4F84-9E55-75E6239D48DA}" type="slidenum">
              <a:rPr lang="en-US"/>
              <a:pPr/>
              <a:t>4</a:t>
            </a:fld>
            <a:r>
              <a:rPr lang="en-US" dirty="0"/>
              <a:t>##</a:t>
            </a:r>
          </a:p>
        </p:txBody>
      </p:sp>
      <p:sp>
        <p:nvSpPr>
          <p:cNvPr id="576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6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</p:spPr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93049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239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mvccourse.telerik.com/" TargetMode="External"/><Relationship Id="rId13" Type="http://schemas.openxmlformats.org/officeDocument/2006/relationships/hyperlink" Target="http://algoacademy.telerik.com/" TargetMode="External"/><Relationship Id="rId18" Type="http://schemas.openxmlformats.org/officeDocument/2006/relationships/hyperlink" Target="http://www.minkov.it/" TargetMode="External"/><Relationship Id="rId3" Type="http://schemas.openxmlformats.org/officeDocument/2006/relationships/hyperlink" Target="http://kursove-uroci-knigi-obuchenie-programirane-web-design-csharp.info/" TargetMode="External"/><Relationship Id="rId7" Type="http://schemas.openxmlformats.org/officeDocument/2006/relationships/hyperlink" Target="http://schoolacademy.telerik.com/" TargetMode="External"/><Relationship Id="rId12" Type="http://schemas.openxmlformats.org/officeDocument/2006/relationships/hyperlink" Target="http://codecourse.telerik.com/" TargetMode="External"/><Relationship Id="rId17" Type="http://schemas.openxmlformats.org/officeDocument/2006/relationships/hyperlink" Target="http://www.introprogramming.info/" TargetMode="External"/><Relationship Id="rId2" Type="http://schemas.openxmlformats.org/officeDocument/2006/relationships/hyperlink" Target="http://forums.academy.telerik.com/" TargetMode="External"/><Relationship Id="rId16" Type="http://schemas.openxmlformats.org/officeDocument/2006/relationships/hyperlink" Target="http://mobiledevcourse.telerik.com/" TargetMode="External"/><Relationship Id="rId20" Type="http://schemas.openxmlformats.org/officeDocument/2006/relationships/hyperlink" Target="http://csharpfundamentals.telerik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html5course.telerik.com/" TargetMode="External"/><Relationship Id="rId11" Type="http://schemas.openxmlformats.org/officeDocument/2006/relationships/hyperlink" Target="http://www.nakov.com/" TargetMode="External"/><Relationship Id="rId5" Type="http://schemas.openxmlformats.org/officeDocument/2006/relationships/hyperlink" Target="http://seocourse.telerik.com/" TargetMode="External"/><Relationship Id="rId15" Type="http://schemas.openxmlformats.org/officeDocument/2006/relationships/hyperlink" Target="http://academy.telerik.com/" TargetMode="External"/><Relationship Id="rId10" Type="http://schemas.openxmlformats.org/officeDocument/2006/relationships/hyperlink" Target="http://www.bgcoder.com/" TargetMode="External"/><Relationship Id="rId19" Type="http://schemas.openxmlformats.org/officeDocument/2006/relationships/hyperlink" Target="http://www.nikolay.it/" TargetMode="External"/><Relationship Id="rId4" Type="http://schemas.openxmlformats.org/officeDocument/2006/relationships/hyperlink" Target="http://www.telerik-kids.com/" TargetMode="External"/><Relationship Id="rId9" Type="http://schemas.openxmlformats.org/officeDocument/2006/relationships/hyperlink" Target="http://clouddevcourse.telerik.com/" TargetMode="External"/><Relationship Id="rId14" Type="http://schemas.openxmlformats.org/officeDocument/2006/relationships/hyperlink" Target="http://aspnetcourse.teler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6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4572000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833646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marL="319088" lvl="0" indent="-319088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Name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138446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Web Site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029202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405735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Web Site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267200" y="4572000"/>
            <a:ext cx="44196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0441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14400"/>
            <a:ext cx="8686800" cy="57912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fld id="{D4FBE97B-C084-4D34-BD1B-068E2E4B8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646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906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1752602"/>
            <a:ext cx="80772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Enter source code here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fld id="{D4FBE97B-C084-4D34-BD1B-068E2E4B8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1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6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6807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9" name="TextBox 8">
            <a:hlinkClick r:id="rId2" tooltip="Форум за програмиране и уеб дизайн - дискусии, съвети, въпроси и отговори @ Софтуерна академия на Телерик"/>
          </p:cNvPr>
          <p:cNvSpPr txBox="1"/>
          <p:nvPr/>
        </p:nvSpPr>
        <p:spPr>
          <a:xfrm rot="12041701" flipH="1">
            <a:off x="7471619" y="3840481"/>
            <a:ext cx="89035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96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0" name="TextBox 9">
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</p:cNvPr>
          <p:cNvSpPr txBox="1"/>
          <p:nvPr/>
        </p:nvSpPr>
        <p:spPr>
          <a:xfrm rot="2456848" flipH="1">
            <a:off x="968763" y="4970087"/>
            <a:ext cx="859648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lnSpc>
                <a:spcPct val="80000"/>
              </a:lnSpc>
            </a:pPr>
            <a:r>
              <a:rPr lang="en-US" sz="12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2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  <p:sp>
        <p:nvSpPr>
          <p:cNvPr id="11" name="TextBox 10">
            <a:hlinkClick r:id="rId4" tooltip="Програмиране за деца - безплатно в Телерик кидс академия"/>
          </p:cNvPr>
          <p:cNvSpPr txBox="1"/>
          <p:nvPr/>
        </p:nvSpPr>
        <p:spPr>
          <a:xfrm rot="9535351" flipH="1">
            <a:off x="923387" y="1861198"/>
            <a:ext cx="673363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>
            <a:hlinkClick r:id="rId5" tooltip="Безплатен SEO курс - оптимизация за търсачки, уроци по SEO"/>
          </p:cNvPr>
          <p:cNvSpPr txBox="1"/>
          <p:nvPr/>
        </p:nvSpPr>
        <p:spPr>
          <a:xfrm rot="16938170" flipH="1">
            <a:off x="4905823" y="1031967"/>
            <a:ext cx="859648" cy="18620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3" name="TextBox 12">
            <a:hlinkClick r:id="rId6" tooltip="Безплатен курс &quot;Уеб дизайн с HTML, CSS и JavaScript&quot; - уроци по правене на уеб сайтове, HTML, CSS, Photoshop, JavaScript и CMS системи"/>
          </p:cNvPr>
          <p:cNvSpPr txBox="1"/>
          <p:nvPr/>
        </p:nvSpPr>
        <p:spPr>
          <a:xfrm rot="19836951" flipH="1">
            <a:off x="7379011" y="1495156"/>
            <a:ext cx="94968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>
            <a:hlinkClick r:id="rId7" tooltip="Училищна софтуерна академия - безплатни уроци по програмиране и уеб дизайн"/>
          </p:cNvPr>
          <p:cNvSpPr txBox="1"/>
          <p:nvPr/>
        </p:nvSpPr>
        <p:spPr>
          <a:xfrm rot="2233443" flipH="1">
            <a:off x="2139219" y="940067"/>
            <a:ext cx="445351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>
            <a:hlinkClick r:id="rId8" tooltip="Безплатен курс &quot;Програмиране с ASP.NET MVC&quot; - уеб технологии, бази данни, C#, .NET, ASP.NET MVC"/>
          </p:cNvPr>
          <p:cNvSpPr txBox="1"/>
          <p:nvPr/>
        </p:nvSpPr>
        <p:spPr>
          <a:xfrm rot="8530737" flipH="1">
            <a:off x="4757101" y="4722613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6" name="TextBox 15">
            <a:hlinkClick r:id="rId9" tooltip="Безплатен курс &quot;Разработка на софтуер в Cloud среда&quot; - AppEngine, AWS, Azure"/>
          </p:cNvPr>
          <p:cNvSpPr txBox="1"/>
          <p:nvPr/>
        </p:nvSpPr>
        <p:spPr>
          <a:xfrm rot="12627025" flipH="1">
            <a:off x="2910498" y="4405709"/>
            <a:ext cx="386488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>
            <a:hlinkClick r:id="rId10" tooltip="BG Coder - онлайн състезателна система - тренировки за състезания по програмиране - online judge"/>
          </p:cNvPr>
          <p:cNvSpPr txBox="1"/>
          <p:nvPr/>
        </p:nvSpPr>
        <p:spPr>
          <a:xfrm rot="1186146" flipH="1">
            <a:off x="6185958" y="4125718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8" name="TextBox 17">
            <a:hlinkClick r:id="rId11" tooltip="Светлин Наков - курсове и уроци по програмиране, уеб дизайн, книги, обучения - безплатно"/>
          </p:cNvPr>
          <p:cNvSpPr txBox="1"/>
          <p:nvPr/>
        </p:nvSpPr>
        <p:spPr>
          <a:xfrm rot="19460650" flipH="1">
            <a:off x="3150207" y="1979503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9" name="TextBox 18">
            <a:hlinkClick r:id="rId12" tooltip="Безплатен курс &quot;Качествен програмен код&quot;"/>
          </p:cNvPr>
          <p:cNvSpPr txBox="1"/>
          <p:nvPr/>
        </p:nvSpPr>
        <p:spPr>
          <a:xfrm rot="18277140" flipH="1">
            <a:off x="405235" y="3272338"/>
            <a:ext cx="41360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0" name="TextBox 19">
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</p:cNvPr>
          <p:cNvSpPr txBox="1"/>
          <p:nvPr/>
        </p:nvSpPr>
        <p:spPr>
          <a:xfrm rot="18695734" flipH="1">
            <a:off x="3127408" y="5396301"/>
            <a:ext cx="54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n-US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21" name="TextBox 20">
            <a:hlinkClick r:id="rId14" tooltip="Безплатен ASP.NET курс - уеб програмиране, бази данни, C#, .NET, ASP.NET"/>
          </p:cNvPr>
          <p:cNvSpPr txBox="1"/>
          <p:nvPr/>
        </p:nvSpPr>
        <p:spPr>
          <a:xfrm rot="10134629" flipH="1">
            <a:off x="6730680" y="5522529"/>
            <a:ext cx="44439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2" name="TextBox 21">
            <a:hlinkClick r:id="rId15" tooltip="Софтуерна академия на Телерик - безплатни курсове и уроци по програмиране"/>
          </p:cNvPr>
          <p:cNvSpPr txBox="1"/>
          <p:nvPr/>
        </p:nvSpPr>
        <p:spPr>
          <a:xfrm rot="12126217" flipH="1">
            <a:off x="559977" y="930479"/>
            <a:ext cx="38789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4000" b="1" spc="150" dirty="0" smtClean="0">
                <a:ln w="1143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?</a:t>
            </a:r>
            <a:endParaRPr lang="en-US" sz="4000" b="1" spc="150" dirty="0">
              <a:ln w="1143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TextBox 22">
            <a:hlinkClick r:id="rId16" tooltip="Безплатен курс &quot;Разработка на мобилни приложения&quot; - iPhone, Android, Windows Phone, PhoneGap, HTML5, jQuery, AJAX"/>
          </p:cNvPr>
          <p:cNvSpPr txBox="1"/>
          <p:nvPr/>
        </p:nvSpPr>
        <p:spPr>
          <a:xfrm rot="20840689" flipH="1">
            <a:off x="8186733" y="5517703"/>
            <a:ext cx="35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19050">
                  <a:solidFill>
                    <a:schemeClr val="accent4">
                      <a:lumMod val="75000"/>
                      <a:alpha val="5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20000"/>
                    <a:lumOff val="80000"/>
                    <a:alpha val="2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</a:t>
            </a:r>
            <a:endParaRPr lang="en-US" sz="4000" b="1" dirty="0">
              <a:ln w="19050">
                <a:solidFill>
                  <a:schemeClr val="accent4">
                    <a:lumMod val="75000"/>
                    <a:alpha val="5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20000"/>
                  <a:lumOff val="80000"/>
                  <a:alpha val="2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TextBox 23">
            <a:hlinkClick r:id="rId17" tooltip="Free C# Programming Book by Svetlin Nakov - безплатна C# книга от Светлин Наков, книга C#, книга Java, безплатна книга"/>
          </p:cNvPr>
          <p:cNvSpPr txBox="1"/>
          <p:nvPr/>
        </p:nvSpPr>
        <p:spPr>
          <a:xfrm rot="15426793" flipH="1">
            <a:off x="1145826" y="4072255"/>
            <a:ext cx="369652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5" name="TextBox 24">
            <a:hlinkClick r:id="rId18" tooltip="Дончо Минков - сайт за програмиране"/>
          </p:cNvPr>
          <p:cNvSpPr txBox="1"/>
          <p:nvPr/>
        </p:nvSpPr>
        <p:spPr>
          <a:xfrm rot="11071760" flipH="1">
            <a:off x="6518175" y="1140358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dirty="0" smtClean="0">
                <a:ln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2800" dirty="0">
              <a:ln>
                <a:solidFill>
                  <a:schemeClr val="tx1">
                    <a:lumMod val="75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6" name="TextBox 25">
            <a:hlinkClick r:id="rId19" tooltip="Николай Костов - блог за програмиране"/>
          </p:cNvPr>
          <p:cNvSpPr txBox="1"/>
          <p:nvPr/>
        </p:nvSpPr>
        <p:spPr>
          <a:xfrm rot="300526" flipH="1">
            <a:off x="3902297" y="1278821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b="1" dirty="0" smtClean="0">
                <a:ln w="31550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?</a:t>
            </a:r>
            <a:endParaRPr lang="en-US" sz="2800" dirty="0">
              <a:ln w="31550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</a:ln>
              <a:solidFill>
                <a:schemeClr val="tx1">
                  <a:lumMod val="20000"/>
                  <a:lumOff val="8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7" name="TextBox 26">
            <a:hlinkClick r:id="rId20" tooltip="C# курс - програмиране, уроци, видео, лекции от Наков"/>
          </p:cNvPr>
          <p:cNvSpPr txBox="1"/>
          <p:nvPr/>
        </p:nvSpPr>
        <p:spPr>
          <a:xfrm rot="2086872" flipH="1">
            <a:off x="8330354" y="1359229"/>
            <a:ext cx="44439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200" dirty="0" smtClean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2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828800" y="2903716"/>
            <a:ext cx="5486400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7600" b="1" spc="150" noProof="0" dirty="0" smtClean="0">
                <a:ln w="11430"/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rPr>
              <a:t>Questions?</a:t>
            </a:r>
            <a:endParaRPr lang="en-US" sz="7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6807132" y="6400800"/>
            <a:ext cx="221855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 smtClean="0"/>
              <a:t>Course web site URL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8722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hyperlink" Target="http://kursove-uroci-knigi-obuchenie-programirane-web-design-csharp.info/" TargetMode="External"/><Relationship Id="rId13" Type="http://schemas.openxmlformats.org/officeDocument/2006/relationships/hyperlink" Target="http://mvccourse.telerik.com/" TargetMode="External"/><Relationship Id="rId18" Type="http://schemas.openxmlformats.org/officeDocument/2006/relationships/hyperlink" Target="http://algoacademy.telerik.com/" TargetMode="Externa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hyperlink" Target="http://mobiledevcourse.telerik.com/" TargetMode="External"/><Relationship Id="rId7" Type="http://schemas.openxmlformats.org/officeDocument/2006/relationships/hyperlink" Target="http://forums.academy.telerik.com/" TargetMode="External"/><Relationship Id="rId12" Type="http://schemas.openxmlformats.org/officeDocument/2006/relationships/hyperlink" Target="http://schoolacademy.telerik.com/" TargetMode="External"/><Relationship Id="rId17" Type="http://schemas.openxmlformats.org/officeDocument/2006/relationships/hyperlink" Target="http://codecourse.telerik.com/" TargetMode="External"/><Relationship Id="rId25" Type="http://schemas.openxmlformats.org/officeDocument/2006/relationships/hyperlink" Target="http://csharpfundamentals.telerik.com/" TargetMode="External"/><Relationship Id="rId2" Type="http://schemas.openxmlformats.org/officeDocument/2006/relationships/slideLayout" Target="../slideLayouts/slideLayout2.xml"/><Relationship Id="rId16" Type="http://schemas.openxmlformats.org/officeDocument/2006/relationships/hyperlink" Target="http://www.nakov.com/" TargetMode="External"/><Relationship Id="rId20" Type="http://schemas.openxmlformats.org/officeDocument/2006/relationships/hyperlink" Target="http://academy.telerik.com/" TargetMode="External"/><Relationship Id="rId29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hyperlink" Target="http://html5course.telerik.com/" TargetMode="External"/><Relationship Id="rId24" Type="http://schemas.openxmlformats.org/officeDocument/2006/relationships/hyperlink" Target="http://www.nikolay.it/" TargetMode="Externa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bgcoder.com/" TargetMode="External"/><Relationship Id="rId23" Type="http://schemas.openxmlformats.org/officeDocument/2006/relationships/hyperlink" Target="http://www.minkov.it/" TargetMode="External"/><Relationship Id="rId28" Type="http://schemas.openxmlformats.org/officeDocument/2006/relationships/image" Target="../media/image3.png"/><Relationship Id="rId10" Type="http://schemas.openxmlformats.org/officeDocument/2006/relationships/hyperlink" Target="http://seocourse.telerik.com/" TargetMode="External"/><Relationship Id="rId19" Type="http://schemas.openxmlformats.org/officeDocument/2006/relationships/hyperlink" Target="http://aspnetcourse.telerik.com/" TargetMode="External"/><Relationship Id="rId4" Type="http://schemas.openxmlformats.org/officeDocument/2006/relationships/slideLayout" Target="../slideLayouts/slideLayout4.xml"/><Relationship Id="rId9" Type="http://schemas.openxmlformats.org/officeDocument/2006/relationships/hyperlink" Target="http://www.telerik-kids.com/" TargetMode="External"/><Relationship Id="rId14" Type="http://schemas.openxmlformats.org/officeDocument/2006/relationships/hyperlink" Target="http://clouddevcourse.telerik.com/" TargetMode="External"/><Relationship Id="rId22" Type="http://schemas.openxmlformats.org/officeDocument/2006/relationships/hyperlink" Target="http://www.introprogramming.info/" TargetMode="External"/><Relationship Id="rId27" Type="http://schemas.openxmlformats.org/officeDocument/2006/relationships/image" Target="../media/image2.png"/><Relationship Id="rId3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05401" y="304800"/>
            <a:ext cx="1816798" cy="331718"/>
            <a:chOff x="1236228" y="1523999"/>
            <a:chExt cx="4351212" cy="3261410"/>
          </a:xfrm>
          <a:solidFill>
            <a:schemeClr val="bg1"/>
          </a:solidFill>
        </p:grpSpPr>
        <p:sp>
          <p:nvSpPr>
            <p:cNvPr id="10" name="TextBox 9">
              <a:hlinkClick r:id="rId7" tooltip="Форум за програмиране и уеб дизайн - дискусии, съвети, въпроси и отговори @ Софтуерна академия на Телерик"/>
            </p:cNvPr>
            <p:cNvSpPr txBox="1"/>
            <p:nvPr userDrawn="1"/>
          </p:nvSpPr>
          <p:spPr>
            <a:xfrm flipH="1">
              <a:off x="3394421" y="1733044"/>
              <a:ext cx="1528760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форум програмиране, форум уеб дизайн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1" name="TextBox 10">
              <a:hlinkClick r:id="rId8" tooltip="Курсове и уроци по програмиране, уеб дизайн, разработка на софтуер и информационни технологии - лекции, видео уроци, обучения - безплатно"/>
            </p:cNvPr>
            <p:cNvSpPr txBox="1"/>
            <p:nvPr userDrawn="1"/>
          </p:nvSpPr>
          <p:spPr>
            <a:xfrm flipH="1">
              <a:off x="1350512" y="1528531"/>
              <a:ext cx="2008657" cy="114988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курсове и уроци по програмиране, уеб дизайн – безплатно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12" name="TextBox 11">
              <a:hlinkClick r:id="rId9" tooltip="Програмиране за деца - безплатно в Телерик кидс академия"/>
            </p:cNvPr>
            <p:cNvSpPr txBox="1"/>
            <p:nvPr userDrawn="1"/>
          </p:nvSpPr>
          <p:spPr>
            <a:xfrm flipH="1">
              <a:off x="1538277" y="2175144"/>
              <a:ext cx="181669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за деца – безплатни курсове и уроци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13" name="TextBox 12">
              <a:hlinkClick r:id="rId10" tooltip="Безплатен SEO курс - оптимизация за търсачки, уроци по SEO"/>
            </p:cNvPr>
            <p:cNvSpPr txBox="1"/>
            <p:nvPr userDrawn="1"/>
          </p:nvSpPr>
          <p:spPr>
            <a:xfrm flipH="1">
              <a:off x="1660733" y="2421354"/>
              <a:ext cx="1697684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безплатен SEO курс - оптимизация за търсачки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4" name="TextBox 13">
              <a:hlinkClick r:id="rId11" tooltip="Безплатен курс &quot;Уеб дизайн с HTML, CSS и JavaScript&quot; - уроци по правене на уеб сайтове, HTML, CSS, Photoshop, JavaScript и CMS системи"/>
            </p:cNvPr>
            <p:cNvSpPr txBox="1"/>
            <p:nvPr userDrawn="1"/>
          </p:nvSpPr>
          <p:spPr>
            <a:xfrm flipH="1">
              <a:off x="1448484" y="2878556"/>
              <a:ext cx="190883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уроци по уеб дизайн, HTML, CSS, JavaScript, Photoshop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5" name="TextBox 14">
              <a:hlinkClick r:id="rId12" tooltip="Училищна софтуерна академия - безплатни уроци по програмиране и уеб дизайн"/>
            </p:cNvPr>
            <p:cNvSpPr txBox="1"/>
            <p:nvPr userDrawn="1"/>
          </p:nvSpPr>
          <p:spPr>
            <a:xfrm flipH="1">
              <a:off x="1636239" y="1946534"/>
              <a:ext cx="174759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уроци по програмиране и уеб дизайн за ученици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16" name="TextBox 15">
              <a:hlinkClick r:id="rId13" tooltip="Безплатен курс &quot;Програмиране с ASP.NET MVC&quot; - уеб технологии, бази данни, C#, .NET, ASP.NET MVC"/>
            </p:cNvPr>
            <p:cNvSpPr txBox="1"/>
            <p:nvPr userDrawn="1"/>
          </p:nvSpPr>
          <p:spPr>
            <a:xfrm flipH="1">
              <a:off x="3402822" y="2230065"/>
              <a:ext cx="193955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MVC курс – HTML, SQL, C#, .NET, ASP.NET MVC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8" name="TextBox 17">
              <a:hlinkClick r:id="rId14" tooltip="Безплатен курс &quot;Разработка на софтуер в Cloud среда&quot; - AppEngine, AWS, Azure"/>
            </p:cNvPr>
            <p:cNvSpPr txBox="1"/>
            <p:nvPr userDrawn="1"/>
          </p:nvSpPr>
          <p:spPr>
            <a:xfrm flipH="1">
              <a:off x="1440310" y="3574997"/>
              <a:ext cx="188196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"Разработка на софтуер в cloud среда"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19" name="TextBox 18">
              <a:hlinkClick r:id="rId15" tooltip="BG Coder - онлайн състезателна система - тренировки за състезания по програмиране - online judge"/>
            </p:cNvPr>
            <p:cNvSpPr txBox="1"/>
            <p:nvPr userDrawn="1"/>
          </p:nvSpPr>
          <p:spPr>
            <a:xfrm flipH="1">
              <a:off x="3389110" y="1523999"/>
              <a:ext cx="187428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BG Coder - онлайн състезателна система - online judge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0" name="TextBox 19">
              <a:hlinkClick r:id="rId16" tooltip="Светлин Наков - курсове и уроци по програмиране, уеб дизайн, книги, обучения - безплатно"/>
            </p:cNvPr>
            <p:cNvSpPr txBox="1"/>
            <p:nvPr userDrawn="1"/>
          </p:nvSpPr>
          <p:spPr>
            <a:xfrm flipH="1">
              <a:off x="1236228" y="2649965"/>
              <a:ext cx="212383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програмиране, книги – безплатно от Наков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1" name="TextBox 20">
              <a:hlinkClick r:id="rId17" tooltip="Безплатен курс &quot;Качествен програмен код&quot;"/>
            </p:cNvPr>
            <p:cNvSpPr txBox="1"/>
            <p:nvPr userDrawn="1"/>
          </p:nvSpPr>
          <p:spPr>
            <a:xfrm flipH="1">
              <a:off x="1766855" y="3335748"/>
              <a:ext cx="159402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"Качествен програмен код"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22" name="TextBox 21">
              <a:hlinkClick r:id="rId18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  </p:cNvPr>
            <p:cNvSpPr txBox="1"/>
            <p:nvPr userDrawn="1"/>
          </p:nvSpPr>
          <p:spPr>
            <a:xfrm flipH="1">
              <a:off x="3407676" y="2461282"/>
              <a:ext cx="197794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алго академия – състезателно програмиране, състезания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3" name="TextBox 22">
              <a:hlinkClick r:id="rId19" tooltip="Безплатен ASP.NET курс - уеб програмиране, бази данни, C#, .NET, ASP.NET"/>
            </p:cNvPr>
            <p:cNvSpPr txBox="1"/>
            <p:nvPr userDrawn="1"/>
          </p:nvSpPr>
          <p:spPr>
            <a:xfrm flipH="1">
              <a:off x="3406019" y="1985429"/>
              <a:ext cx="218142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курс - уеб програмиране, бази данни, C#, .NET, ASP.NET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4" name="TextBox 23">
              <a:hlinkClick r:id="rId20" tooltip="Софтуерна академия на Телерик - безплатни курсове и уроци по програмиране"/>
            </p:cNvPr>
            <p:cNvSpPr txBox="1"/>
            <p:nvPr userDrawn="1"/>
          </p:nvSpPr>
          <p:spPr>
            <a:xfrm flipH="1">
              <a:off x="1504800" y="1717933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</a:t>
              </a: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– Телерик академия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25" name="TextBox 24">
              <a:hlinkClick r:id="rId21" tooltip="Безплатен курс &quot;Разработка на мобилни приложения&quot; - iPhone, Android, Windows Phone, PhoneGap, HTML5, jQuery, AJAX"/>
            </p:cNvPr>
            <p:cNvSpPr txBox="1"/>
            <p:nvPr userDrawn="1"/>
          </p:nvSpPr>
          <p:spPr>
            <a:xfrm flipH="1">
              <a:off x="3404043" y="2718405"/>
              <a:ext cx="205856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 мобилни приложения с iPhone, Android, WP7, PhoneGap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6" name="TextBox 25">
              <a:hlinkClick r:id="rId22" tooltip="Free C# Programming Book by Svetlin Nakov - безплатна C# книга от Светлин Наков, книга C#, книга Java, безплатна книга"/>
            </p:cNvPr>
            <p:cNvSpPr txBox="1"/>
            <p:nvPr userDrawn="1"/>
          </p:nvSpPr>
          <p:spPr>
            <a:xfrm flipH="1">
              <a:off x="1440317" y="3117785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free C# book, безплатна книга C#, книга Java, книга C#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27" name="TextBox 26">
              <a:hlinkClick r:id="rId23" tooltip="Дончо Минков - сайт за програмиране"/>
            </p:cNvPr>
            <p:cNvSpPr txBox="1"/>
            <p:nvPr userDrawn="1"/>
          </p:nvSpPr>
          <p:spPr>
            <a:xfrm flipH="1">
              <a:off x="3401370" y="2963513"/>
              <a:ext cx="147501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Дончо Минков - сайт за програмиране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hlinkClick r:id="rId24" tooltip="Николай Костов - блог за програмиране"/>
            </p:cNvPr>
            <p:cNvSpPr txBox="1"/>
            <p:nvPr userDrawn="1"/>
          </p:nvSpPr>
          <p:spPr>
            <a:xfrm flipH="1">
              <a:off x="3401423" y="3217864"/>
              <a:ext cx="151340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Николай Костов - блог за програмиране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1" name="TextBox 30">
              <a:hlinkClick r:id="rId25" tooltip="безплатен C# курс в софтуерната академия на Наков"/>
            </p:cNvPr>
            <p:cNvSpPr txBox="1"/>
            <p:nvPr userDrawn="1"/>
          </p:nvSpPr>
          <p:spPr>
            <a:xfrm flipH="1">
              <a:off x="3398080" y="3548402"/>
              <a:ext cx="1359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C# курс, програмиране, безплатно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02"/>
            <a:ext cx="9144000" cy="590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247652"/>
            <a:ext cx="9144000" cy="483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 descr="Telerik Academy for Software Engineers - http://academy.telerik.com" title="Telerik Software Academy"/>
          <p:cNvPicPr>
            <a:picLocks noChangeAspect="1" noChangeArrowheads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" y="228602"/>
            <a:ext cx="1714500" cy="428625"/>
          </a:xfrm>
          <a:prstGeom prst="rect">
            <a:avLst/>
          </a:prstGeom>
          <a:noFill/>
          <a:effectLst>
            <a:outerShdw blurRad="127000" sx="101000" sy="101000" algn="ctr" rotWithShape="0">
              <a:schemeClr val="tx1">
                <a:lumMod val="20000"/>
                <a:lumOff val="80000"/>
                <a:alpha val="75000"/>
              </a:scheme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7051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iming>
    <p:tnLst>
      <p:par>
        <p:cTn id="1" dur="indefinite" restart="never" nodeType="tmRoot"/>
      </p:par>
    </p:tnLst>
  </p:timing>
  <p:txStyles>
    <p:titleStyle>
      <a:lvl1pPr algn="r" rtl="0" eaLnBrk="1" fontAlgn="base" hangingPunct="1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1" fontAlgn="base" hangingPunct="1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1" fontAlgn="base" hangingPunct="1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1" fontAlgn="base" hangingPunct="1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academy.telerik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jasmine.github.io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academy.telerik.com/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Unit Testing with JavaScript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QUnit, Jasmine and JsUnit</a:t>
            </a:r>
            <a:endParaRPr lang="en-US" dirty="0"/>
          </a:p>
        </p:txBody>
      </p:sp>
      <p:sp>
        <p:nvSpPr>
          <p:cNvPr id="15" name="Text Placeholder 6"/>
          <p:cNvSpPr>
            <a:spLocks noGrp="1"/>
          </p:cNvSpPr>
          <p:nvPr/>
        </p:nvSpPr>
        <p:spPr>
          <a:xfrm>
            <a:off x="219536" y="5556243"/>
            <a:ext cx="39905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319088" indent="-3190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kern="1200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Learning &amp; Development Team</a:t>
            </a:r>
            <a:endParaRPr lang="en-US" dirty="0"/>
          </a:p>
        </p:txBody>
      </p:sp>
      <p:sp>
        <p:nvSpPr>
          <p:cNvPr id="16" name="Text Placeholder 7"/>
          <p:cNvSpPr>
            <a:spLocks noGrp="1"/>
          </p:cNvSpPr>
          <p:nvPr/>
        </p:nvSpPr>
        <p:spPr>
          <a:xfrm>
            <a:off x="219537" y="5861043"/>
            <a:ext cx="3990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319088" indent="-3190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1800" b="1" kern="1200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hlinkClick r:id="rId2"/>
              </a:rPr>
              <a:t>http://academy.telerik.com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7" name="Text Placeholder 13"/>
          <p:cNvSpPr>
            <a:spLocks noGrp="1"/>
          </p:cNvSpPr>
          <p:nvPr/>
        </p:nvSpPr>
        <p:spPr>
          <a:xfrm>
            <a:off x="219537" y="5181600"/>
            <a:ext cx="3990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400" b="1" kern="1200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Telerik Software Academy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Contents</a:t>
            </a:r>
            <a:endParaRPr lang="bg-BG" dirty="0"/>
          </a:p>
        </p:txBody>
      </p:sp>
      <p:sp>
        <p:nvSpPr>
          <p:cNvPr id="7669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What is Unit Testing</a:t>
            </a:r>
            <a:r>
              <a:rPr lang="en-US" dirty="0" smtClean="0"/>
              <a:t>?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dirty="0" smtClean="0"/>
              <a:t>Code </a:t>
            </a:r>
            <a:r>
              <a:rPr lang="en-US" dirty="0"/>
              <a:t>and Test vs. Test Driven Development</a:t>
            </a:r>
            <a:endParaRPr lang="en-US" dirty="0" smtClean="0"/>
          </a:p>
          <a:p>
            <a:pPr>
              <a:lnSpc>
                <a:spcPct val="100000"/>
              </a:lnSpc>
              <a:spcBef>
                <a:spcPts val="1200"/>
              </a:spcBef>
              <a:tabLst>
                <a:tab pos="406400" algn="l"/>
              </a:tabLst>
            </a:pPr>
            <a:r>
              <a:rPr lang="en-US" dirty="0" smtClean="0"/>
              <a:t>Unit </a:t>
            </a:r>
            <a:r>
              <a:rPr lang="en-US" dirty="0"/>
              <a:t>testing </a:t>
            </a:r>
            <a:r>
              <a:rPr lang="en-US" dirty="0" smtClean="0"/>
              <a:t>Frameworks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tabLst>
                <a:tab pos="406400" algn="l"/>
              </a:tabLst>
            </a:pPr>
            <a:r>
              <a:rPr lang="en-US" sz="3200" dirty="0" smtClean="0"/>
              <a:t>JsUnit, QUnit, Jasmine</a:t>
            </a:r>
          </a:p>
          <a:p>
            <a:pPr>
              <a:lnSpc>
                <a:spcPct val="100000"/>
              </a:lnSpc>
              <a:spcBef>
                <a:spcPts val="1200"/>
              </a:spcBef>
              <a:tabLst>
                <a:tab pos="406400" algn="l"/>
              </a:tabLst>
            </a:pPr>
            <a:r>
              <a:rPr lang="en-US" dirty="0"/>
              <a:t>Unit Testing Best </a:t>
            </a:r>
            <a:r>
              <a:rPr lang="en-US" dirty="0" smtClean="0"/>
              <a:t>Practices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77385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62000" y="5105400"/>
            <a:ext cx="7620000" cy="990600"/>
          </a:xfrm>
        </p:spPr>
        <p:txBody>
          <a:bodyPr/>
          <a:lstStyle/>
          <a:p>
            <a:r>
              <a:rPr lang="en-US" dirty="0" smtClean="0"/>
              <a:t>What is Unit Testing?</a:t>
            </a:r>
            <a:endParaRPr lang="en-US" dirty="0"/>
          </a:p>
        </p:txBody>
      </p:sp>
      <p:pic>
        <p:nvPicPr>
          <p:cNvPr id="1026" name="Picture 2" descr="http://leonmeijer.nl/images/leonmeijer_nl/WindowsLiveWriter/TestdrivendevelopmentUni.NETwhatsallthis_D86E/sw_testing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146274" y="1371600"/>
            <a:ext cx="4864126" cy="3214576"/>
          </a:xfrm>
          <a:prstGeom prst="roundRect">
            <a:avLst>
              <a:gd name="adj" fmla="val 2798"/>
            </a:avLst>
          </a:pr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  <a:effectLst>
            <a:glow rad="101600">
              <a:schemeClr val="tx1"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6306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86025" y="71438"/>
            <a:ext cx="6478588" cy="909637"/>
          </a:xfrm>
        </p:spPr>
        <p:txBody>
          <a:bodyPr/>
          <a:lstStyle/>
          <a:p>
            <a:r>
              <a:rPr lang="en-US" dirty="0" smtClean="0"/>
              <a:t>Unit Test – Definition</a:t>
            </a:r>
            <a:endParaRPr lang="bg-BG" dirty="0"/>
          </a:p>
        </p:txBody>
      </p:sp>
      <p:sp>
        <p:nvSpPr>
          <p:cNvPr id="575491" name="Rectangle 3"/>
          <p:cNvSpPr>
            <a:spLocks noGrp="1" noChangeArrowheads="1"/>
          </p:cNvSpPr>
          <p:nvPr>
            <p:ph idx="1"/>
          </p:nvPr>
        </p:nvSpPr>
        <p:spPr>
          <a:xfrm>
            <a:off x="989014" y="1349379"/>
            <a:ext cx="7164386" cy="2232021"/>
          </a:xfr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FontTx/>
              <a:buNone/>
            </a:pPr>
            <a:r>
              <a:rPr lang="en-US" noProof="1" smtClean="0">
                <a:solidFill>
                  <a:schemeClr val="tx1">
                    <a:lumMod val="20000"/>
                    <a:lumOff val="80000"/>
                  </a:schemeClr>
                </a:solidFill>
                <a:cs typeface="Consolas" pitchFamily="49" charset="0"/>
              </a:rPr>
              <a:t>A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cs typeface="Consolas" pitchFamily="49" charset="0"/>
              </a:rPr>
              <a:t>unit test </a:t>
            </a:r>
            <a:r>
              <a:rPr lang="en-US" noProof="1" smtClean="0">
                <a:solidFill>
                  <a:schemeClr val="tx1">
                    <a:lumMod val="20000"/>
                    <a:lumOff val="80000"/>
                  </a:schemeClr>
                </a:solidFill>
                <a:cs typeface="Consolas" pitchFamily="49" charset="0"/>
              </a:rPr>
              <a:t>is a piece of code written by a developer that exercises a very small, specific area of functionality of the code being tested.</a:t>
            </a:r>
            <a:endParaRPr lang="bg-BG" noProof="1">
              <a:solidFill>
                <a:schemeClr val="tx1">
                  <a:lumMod val="20000"/>
                  <a:lumOff val="80000"/>
                </a:schemeClr>
              </a:solidFill>
              <a:cs typeface="Consolas" pitchFamily="49" charset="0"/>
            </a:endParaRPr>
          </a:p>
        </p:txBody>
      </p:sp>
      <p:sp>
        <p:nvSpPr>
          <p:cNvPr id="575492" name="Rectangle 4"/>
          <p:cNvSpPr>
            <a:spLocks noChangeArrowheads="1"/>
          </p:cNvSpPr>
          <p:nvPr/>
        </p:nvSpPr>
        <p:spPr bwMode="auto">
          <a:xfrm>
            <a:off x="838200" y="4141720"/>
            <a:ext cx="7632700" cy="225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40000"/>
              </a:spcBef>
            </a:pPr>
            <a:r>
              <a:rPr lang="en-US" sz="3200" b="1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“Program testing can be used to show the presence of bugs, but never to show their absence</a:t>
            </a:r>
            <a:r>
              <a:rPr lang="en-US" sz="3200" b="1" dirty="0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!”</a:t>
            </a:r>
          </a:p>
          <a:p>
            <a:pPr algn="r" eaLnBrk="1" hangingPunct="1">
              <a:lnSpc>
                <a:spcPct val="100000"/>
              </a:lnSpc>
              <a:spcBef>
                <a:spcPct val="40000"/>
              </a:spcBef>
            </a:pPr>
            <a:r>
              <a:rPr lang="en-US" sz="3200" b="1" dirty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Edsger Dijkstra, [1972] </a:t>
            </a:r>
          </a:p>
        </p:txBody>
      </p:sp>
    </p:spTree>
    <p:extLst>
      <p:ext uri="{BB962C8B-B14F-4D97-AF65-F5344CB8AC3E}">
        <p14:creationId xmlns:p14="http://schemas.microsoft.com/office/powerpoint/2010/main" val="207700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Manual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You have already done unit testing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Manually, by hand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Manual tests </a:t>
            </a:r>
            <a:r>
              <a:rPr lang="en-US" dirty="0" smtClean="0"/>
              <a:t>are less efficient</a:t>
            </a:r>
          </a:p>
          <a:p>
            <a:pPr lvl="1" eaLnBrk="1" hangingPunct="1">
              <a:lnSpc>
                <a:spcPct val="100000"/>
              </a:lnSpc>
            </a:pPr>
            <a:r>
              <a:rPr lang="en-US" dirty="0" smtClean="0"/>
              <a:t>Not structured</a:t>
            </a:r>
          </a:p>
          <a:p>
            <a:pPr lvl="1" eaLnBrk="1" hangingPunct="1">
              <a:lnSpc>
                <a:spcPct val="100000"/>
              </a:lnSpc>
            </a:pPr>
            <a:r>
              <a:rPr lang="en-US" dirty="0" smtClean="0"/>
              <a:t>Not repeatable</a:t>
            </a:r>
          </a:p>
          <a:p>
            <a:pPr lvl="1" eaLnBrk="1" hangingPunct="1">
              <a:lnSpc>
                <a:spcPct val="100000"/>
              </a:lnSpc>
            </a:pPr>
            <a:r>
              <a:rPr lang="en-US" dirty="0" smtClean="0"/>
              <a:t>Not on all your code</a:t>
            </a:r>
          </a:p>
          <a:p>
            <a:pPr lvl="1" eaLnBrk="1" hangingPunct="1">
              <a:lnSpc>
                <a:spcPct val="100000"/>
              </a:lnSpc>
            </a:pPr>
            <a:r>
              <a:rPr lang="en-US" dirty="0" smtClean="0"/>
              <a:t>Not easy to do as it should be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172200" y="3327400"/>
            <a:ext cx="2412510" cy="1905000"/>
          </a:xfrm>
          <a:prstGeom prst="roundRect">
            <a:avLst/>
          </a:prstGeom>
          <a:noFill/>
          <a:ln>
            <a:noFill/>
          </a:ln>
          <a:effectLst>
            <a:glow rad="101600">
              <a:schemeClr val="tx1">
                <a:alpha val="6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9658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 – Example</a:t>
            </a:r>
            <a:endParaRPr lang="bg-BG" dirty="0"/>
          </a:p>
        </p:txBody>
      </p:sp>
      <p:sp>
        <p:nvSpPr>
          <p:cNvPr id="661508" name="Rectangle 4"/>
          <p:cNvSpPr>
            <a:spLocks noChangeArrowheads="1"/>
          </p:cNvSpPr>
          <p:nvPr/>
        </p:nvSpPr>
        <p:spPr bwMode="auto">
          <a:xfrm>
            <a:off x="614363" y="1143000"/>
            <a:ext cx="7843838" cy="517064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function sum(numbers)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sum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0;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for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(var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i=0;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i&lt;numbers.length;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i++)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sum += array[i];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return sum;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void testSum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if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(sum([1,2])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!= 3)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throw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new Error("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1+2 != 3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");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if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(sum([-2])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!= -2)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throw new Error("-2 != -2");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if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(sum([])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!= 0)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throw new Error("0 != 0");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1960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– Some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dirty="0" smtClean="0"/>
              <a:t>Tests are specific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pieces of code</a:t>
            </a:r>
          </a:p>
          <a:p>
            <a:pPr>
              <a:lnSpc>
                <a:spcPct val="110000"/>
              </a:lnSpc>
            </a:pPr>
            <a:r>
              <a:rPr lang="en-US" dirty="0" smtClean="0"/>
              <a:t>In most cases unit </a:t>
            </a:r>
            <a:r>
              <a:rPr lang="en-US" dirty="0"/>
              <a:t>tests are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written by developers</a:t>
            </a:r>
            <a:r>
              <a:rPr lang="en-US" dirty="0"/>
              <a:t>, not by QA engineers</a:t>
            </a:r>
          </a:p>
          <a:p>
            <a:pPr>
              <a:lnSpc>
                <a:spcPct val="110000"/>
              </a:lnSpc>
            </a:pPr>
            <a:r>
              <a:rPr lang="en-US" dirty="0"/>
              <a:t>Unit tests are released into the code repository </a:t>
            </a:r>
            <a:r>
              <a:rPr lang="en-US" dirty="0" smtClean="0"/>
              <a:t>(TFS / SVN / </a:t>
            </a:r>
            <a:r>
              <a:rPr lang="en-US" noProof="1" smtClean="0"/>
              <a:t>Git</a:t>
            </a:r>
            <a:r>
              <a:rPr lang="en-US" dirty="0" smtClean="0"/>
              <a:t>) along </a:t>
            </a:r>
            <a:r>
              <a:rPr lang="en-US" dirty="0"/>
              <a:t>with the code they test</a:t>
            </a:r>
          </a:p>
          <a:p>
            <a:pPr>
              <a:lnSpc>
                <a:spcPct val="110000"/>
              </a:lnSpc>
            </a:pPr>
            <a:r>
              <a:rPr lang="en-US" dirty="0" smtClean="0"/>
              <a:t>Unit testing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framework</a:t>
            </a:r>
            <a:r>
              <a:rPr lang="en-US" dirty="0" smtClean="0"/>
              <a:t> is needed</a:t>
            </a:r>
          </a:p>
          <a:p>
            <a:pPr lvl="1">
              <a:lnSpc>
                <a:spcPct val="110000"/>
              </a:lnSpc>
            </a:pPr>
            <a:r>
              <a:rPr lang="en-US" noProof="1" smtClean="0"/>
              <a:t>QUnit, Jasmine, JsUnit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366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– More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All objects should be tested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All methods should be tested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Trivial code may be omitted 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E.g. property getters and setters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Private methods can be omitted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Some gurus recommend to never test private methods </a:t>
            </a:r>
            <a:r>
              <a:rPr lang="en-US" dirty="0" smtClean="0">
                <a:sym typeface="Wingdings" panose="05000000000000000000" pitchFamily="2" charset="2"/>
              </a:rPr>
              <a:t> this can be debatable</a:t>
            </a:r>
            <a:endParaRPr lang="en-US" dirty="0" smtClean="0"/>
          </a:p>
          <a:p>
            <a:pPr>
              <a:lnSpc>
                <a:spcPct val="100000"/>
              </a:lnSpc>
            </a:pPr>
            <a:r>
              <a:rPr lang="en-US" dirty="0" smtClean="0"/>
              <a:t>Ideally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all unit tests should pass </a:t>
            </a:r>
            <a:r>
              <a:rPr lang="en-US" dirty="0" smtClean="0"/>
              <a:t>before check-in into the source control repository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81800" y="1143000"/>
            <a:ext cx="1759126" cy="208203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781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Unit Tests?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Unit tests dramatically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decrease the number of defects</a:t>
            </a:r>
            <a:r>
              <a:rPr lang="en-US" dirty="0"/>
              <a:t> in the code </a:t>
            </a:r>
          </a:p>
          <a:p>
            <a:pPr>
              <a:lnSpc>
                <a:spcPct val="100000"/>
              </a:lnSpc>
            </a:pPr>
            <a:r>
              <a:rPr lang="en-US" dirty="0"/>
              <a:t>Unit tests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improve design </a:t>
            </a:r>
          </a:p>
          <a:p>
            <a:pPr>
              <a:lnSpc>
                <a:spcPct val="100000"/>
              </a:lnSpc>
            </a:pPr>
            <a:r>
              <a:rPr lang="en-US" dirty="0"/>
              <a:t>Unit tests are good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documentation</a:t>
            </a:r>
          </a:p>
          <a:p>
            <a:pPr>
              <a:lnSpc>
                <a:spcPct val="100000"/>
              </a:lnSpc>
            </a:pPr>
            <a:r>
              <a:rPr lang="en-US" dirty="0"/>
              <a:t>Unit tests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reduce the cost </a:t>
            </a:r>
            <a:r>
              <a:rPr lang="en-US" dirty="0"/>
              <a:t>of change</a:t>
            </a:r>
          </a:p>
          <a:p>
            <a:pPr>
              <a:lnSpc>
                <a:spcPct val="100000"/>
              </a:lnSpc>
            </a:pPr>
            <a:r>
              <a:rPr lang="en-US" dirty="0"/>
              <a:t>Unit tests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allow refactoring</a:t>
            </a:r>
          </a:p>
          <a:p>
            <a:pPr>
              <a:lnSpc>
                <a:spcPct val="100000"/>
              </a:lnSpc>
            </a:pPr>
            <a:r>
              <a:rPr lang="en-US" dirty="0"/>
              <a:t>Unit tests decrease the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defect-injection rate </a:t>
            </a:r>
            <a:r>
              <a:rPr lang="en-US" dirty="0"/>
              <a:t>due to refactoring / changes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5" name="Picture 2" descr="C:\PROJECTS\QA-Academy\LOCAL_FILES\Oleg_IMAGES_Archive\FREQUENTLY USED\question_mark_trensparent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62800" y="1981200"/>
            <a:ext cx="1334203" cy="1981200"/>
          </a:xfrm>
          <a:prstGeom prst="rect">
            <a:avLst/>
          </a:prstGeom>
          <a:noFill/>
          <a:effectLst>
            <a:glow rad="101600">
              <a:schemeClr val="tx1"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9226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Testing in JavaScript</a:t>
            </a:r>
          </a:p>
        </p:txBody>
      </p:sp>
    </p:spTree>
    <p:extLst>
      <p:ext uri="{BB962C8B-B14F-4D97-AF65-F5344CB8AC3E}">
        <p14:creationId xmlns:p14="http://schemas.microsoft.com/office/powerpoint/2010/main" val="1957312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Testing in JavaScript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91739"/>
            <a:ext cx="8686800" cy="5791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There are too many frameworks for unit testing for JavaScript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QUnit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Developed to test jQuery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Later introduced as</a:t>
            </a:r>
            <a:r>
              <a:rPr lang="bg-BG" dirty="0" smtClean="0"/>
              <a:t> а</a:t>
            </a:r>
            <a:r>
              <a:rPr lang="en-US" dirty="0" smtClean="0"/>
              <a:t> separate framework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JsUnit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Come from the *Unit family (JUnit, NUnit, etc…)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Stopped from development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Jasmine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Uses behavior-driven development</a:t>
            </a:r>
          </a:p>
        </p:txBody>
      </p:sp>
    </p:spTree>
    <p:extLst>
      <p:ext uri="{BB962C8B-B14F-4D97-AF65-F5344CB8AC3E}">
        <p14:creationId xmlns:p14="http://schemas.microsoft.com/office/powerpoint/2010/main" val="1065388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Jasmine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38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Jasmine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1358281"/>
            <a:ext cx="8686800" cy="5015883"/>
          </a:xfrm>
        </p:spPr>
        <p:txBody>
          <a:bodyPr/>
          <a:lstStyle/>
          <a:p>
            <a:r>
              <a:rPr lang="en-US" dirty="0"/>
              <a:t>Jasmine is a </a:t>
            </a:r>
            <a:r>
              <a:rPr lang="en-US" dirty="0" smtClean="0"/>
              <a:t>behavior-driven </a:t>
            </a:r>
            <a:r>
              <a:rPr lang="en-US" dirty="0"/>
              <a:t>development framework for testing JavaScript</a:t>
            </a:r>
          </a:p>
          <a:p>
            <a:pPr lvl="1"/>
            <a:r>
              <a:rPr lang="en-US" dirty="0" smtClean="0"/>
              <a:t>Independent framework, no need for DOM or any other framework</a:t>
            </a:r>
            <a:endParaRPr lang="bg-BG" dirty="0" smtClean="0"/>
          </a:p>
          <a:p>
            <a:pPr lvl="1"/>
            <a:r>
              <a:rPr lang="en-US" dirty="0" smtClean="0"/>
              <a:t>Can test both Client and Server JavaScript</a:t>
            </a:r>
          </a:p>
          <a:p>
            <a:pPr lvl="2"/>
            <a:r>
              <a:rPr lang="en-US" dirty="0" smtClean="0"/>
              <a:t>Node.js and stuff</a:t>
            </a:r>
          </a:p>
          <a:p>
            <a:pPr lvl="1"/>
            <a:r>
              <a:rPr lang="en-US" dirty="0" smtClean="0"/>
              <a:t>Source code and documentation can </a:t>
            </a:r>
            <a:r>
              <a:rPr lang="en-US" dirty="0"/>
              <a:t>be found at </a:t>
            </a:r>
            <a:r>
              <a:rPr lang="en-US" dirty="0">
                <a:hlinkClick r:id="rId2"/>
              </a:rPr>
              <a:t>http://jasmine.github.io</a:t>
            </a:r>
            <a:r>
              <a:rPr lang="en-US" dirty="0" smtClean="0">
                <a:hlinkClick r:id="rId2"/>
              </a:rPr>
              <a:t>/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806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Jasmine Use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1460810"/>
            <a:ext cx="8686800" cy="5244789"/>
          </a:xfrm>
        </p:spPr>
        <p:txBody>
          <a:bodyPr/>
          <a:lstStyle/>
          <a:p>
            <a:r>
              <a:rPr lang="en-US" dirty="0" smtClean="0"/>
              <a:t>To use Jasmine:</a:t>
            </a:r>
          </a:p>
          <a:p>
            <a:pPr lvl="1"/>
            <a:r>
              <a:rPr lang="en-US" dirty="0" smtClean="0"/>
              <a:t>Create an HTML page</a:t>
            </a:r>
          </a:p>
          <a:p>
            <a:pPr lvl="1"/>
            <a:r>
              <a:rPr lang="en-US" dirty="0" smtClean="0"/>
              <a:t>Load its JavaScript and CSS files</a:t>
            </a:r>
          </a:p>
          <a:p>
            <a:pPr lvl="1"/>
            <a:r>
              <a:rPr lang="en-US" dirty="0" smtClean="0"/>
              <a:t>Setup Jasmine</a:t>
            </a:r>
          </a:p>
          <a:p>
            <a:pPr lvl="1"/>
            <a:r>
              <a:rPr lang="en-US" dirty="0" smtClean="0"/>
              <a:t>Write your specs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3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up Jasmine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01392"/>
            <a:ext cx="8686800" cy="1569660"/>
          </a:xfrm>
        </p:spPr>
        <p:txBody>
          <a:bodyPr/>
          <a:lstStyle/>
          <a:p>
            <a:r>
              <a:rPr lang="en-US" dirty="0" smtClean="0"/>
              <a:t>Since Jasmine can run in the console, it should be set up to work with HTML page</a:t>
            </a:r>
          </a:p>
          <a:p>
            <a:pPr lvl="1"/>
            <a:r>
              <a:rPr lang="en-US" dirty="0" smtClean="0"/>
              <a:t>Just copy and paste the following: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533400" y="2453275"/>
            <a:ext cx="8077200" cy="4302716"/>
          </a:xfrm>
        </p:spPr>
        <p:txBody>
          <a:bodyPr/>
          <a:lstStyle/>
          <a:p>
            <a:r>
              <a:rPr lang="en-US" sz="1900" dirty="0"/>
              <a:t>(function() {      </a:t>
            </a:r>
            <a:endParaRPr lang="en-US" sz="1900" dirty="0" smtClean="0"/>
          </a:p>
          <a:p>
            <a:r>
              <a:rPr lang="en-US" sz="1900" dirty="0"/>
              <a:t> </a:t>
            </a:r>
            <a:r>
              <a:rPr lang="en-US" sz="1900" dirty="0" smtClean="0"/>
              <a:t> var </a:t>
            </a:r>
            <a:r>
              <a:rPr lang="en-US" sz="1900" dirty="0" err="1"/>
              <a:t>jasmineEnv</a:t>
            </a:r>
            <a:r>
              <a:rPr lang="en-US" sz="1900" dirty="0"/>
              <a:t> = </a:t>
            </a:r>
            <a:r>
              <a:rPr lang="en-US" sz="1900" dirty="0" err="1"/>
              <a:t>jasmine.getEnv</a:t>
            </a:r>
            <a:r>
              <a:rPr lang="en-US" sz="1900" dirty="0"/>
              <a:t>();      </a:t>
            </a:r>
            <a:r>
              <a:rPr lang="en-US" sz="1900" dirty="0" smtClean="0"/>
              <a:t> </a:t>
            </a:r>
          </a:p>
          <a:p>
            <a:r>
              <a:rPr lang="en-US" sz="1900" dirty="0"/>
              <a:t> </a:t>
            </a:r>
            <a:r>
              <a:rPr lang="en-US" sz="1900" dirty="0" smtClean="0"/>
              <a:t> </a:t>
            </a:r>
            <a:r>
              <a:rPr lang="en-US" sz="1900" dirty="0" err="1" smtClean="0"/>
              <a:t>jasmineEnv.updateInterval</a:t>
            </a:r>
            <a:r>
              <a:rPr lang="en-US" sz="1900" dirty="0" smtClean="0"/>
              <a:t> </a:t>
            </a:r>
            <a:r>
              <a:rPr lang="en-US" sz="1900" dirty="0"/>
              <a:t>= 1000;     </a:t>
            </a:r>
            <a:endParaRPr lang="en-US" sz="1900" dirty="0" smtClean="0"/>
          </a:p>
          <a:p>
            <a:r>
              <a:rPr lang="en-US" sz="1900" dirty="0"/>
              <a:t> </a:t>
            </a:r>
            <a:r>
              <a:rPr lang="en-US" sz="1900" dirty="0" smtClean="0"/>
              <a:t> var </a:t>
            </a:r>
            <a:r>
              <a:rPr lang="en-US" sz="1900" dirty="0" err="1"/>
              <a:t>htmlReporter</a:t>
            </a:r>
            <a:r>
              <a:rPr lang="en-US" sz="1900" dirty="0"/>
              <a:t> = new </a:t>
            </a:r>
            <a:r>
              <a:rPr lang="en-US" sz="1900" dirty="0" err="1"/>
              <a:t>jasmine.HtmlReporter</a:t>
            </a:r>
            <a:r>
              <a:rPr lang="en-US" sz="1900" dirty="0"/>
              <a:t>();      </a:t>
            </a:r>
            <a:endParaRPr lang="en-US" sz="1900" dirty="0" smtClean="0"/>
          </a:p>
          <a:p>
            <a:r>
              <a:rPr lang="en-US" sz="1900" dirty="0"/>
              <a:t> </a:t>
            </a:r>
            <a:r>
              <a:rPr lang="en-US" sz="1900" dirty="0" smtClean="0"/>
              <a:t> </a:t>
            </a:r>
            <a:r>
              <a:rPr lang="en-US" sz="1900" dirty="0" err="1"/>
              <a:t>j</a:t>
            </a:r>
            <a:r>
              <a:rPr lang="en-US" sz="1900" dirty="0" err="1" smtClean="0"/>
              <a:t>asmineEnv.addReporter</a:t>
            </a:r>
            <a:r>
              <a:rPr lang="en-US" sz="1900" dirty="0" smtClean="0"/>
              <a:t>(</a:t>
            </a:r>
            <a:r>
              <a:rPr lang="en-US" sz="1900" dirty="0" err="1" smtClean="0"/>
              <a:t>htmlReporter</a:t>
            </a:r>
            <a:r>
              <a:rPr lang="en-US" sz="1900" dirty="0"/>
              <a:t>);      </a:t>
            </a:r>
            <a:r>
              <a:rPr lang="en-US" sz="1900" dirty="0" smtClean="0"/>
              <a:t> </a:t>
            </a:r>
          </a:p>
          <a:p>
            <a:r>
              <a:rPr lang="en-US" sz="1900" dirty="0"/>
              <a:t> </a:t>
            </a:r>
            <a:r>
              <a:rPr lang="en-US" sz="1900" dirty="0" smtClean="0"/>
              <a:t> </a:t>
            </a:r>
            <a:r>
              <a:rPr lang="en-US" sz="1900" dirty="0" err="1" smtClean="0"/>
              <a:t>jasmineEnv.specFilter</a:t>
            </a:r>
            <a:r>
              <a:rPr lang="en-US" sz="1900" dirty="0" smtClean="0"/>
              <a:t> </a:t>
            </a:r>
            <a:r>
              <a:rPr lang="en-US" sz="1900" dirty="0"/>
              <a:t>= function(spec) {     </a:t>
            </a:r>
            <a:endParaRPr lang="en-US" sz="1900" dirty="0" smtClean="0"/>
          </a:p>
          <a:p>
            <a:r>
              <a:rPr lang="en-US" sz="1900" dirty="0"/>
              <a:t> </a:t>
            </a:r>
            <a:r>
              <a:rPr lang="en-US" sz="1900" dirty="0" smtClean="0"/>
              <a:t>   </a:t>
            </a:r>
            <a:r>
              <a:rPr lang="en-US" sz="1900" dirty="0"/>
              <a:t>return </a:t>
            </a:r>
            <a:r>
              <a:rPr lang="en-US" sz="1900" dirty="0" err="1"/>
              <a:t>htmlReporter.specFilter</a:t>
            </a:r>
            <a:r>
              <a:rPr lang="en-US" sz="1900" dirty="0"/>
              <a:t>(spec);     </a:t>
            </a:r>
            <a:endParaRPr lang="en-US" sz="1900" dirty="0" smtClean="0"/>
          </a:p>
          <a:p>
            <a:pPr>
              <a:lnSpc>
                <a:spcPct val="70000"/>
              </a:lnSpc>
            </a:pPr>
            <a:r>
              <a:rPr lang="en-US" sz="1900" dirty="0" smtClean="0"/>
              <a:t>  }; </a:t>
            </a:r>
          </a:p>
          <a:p>
            <a:r>
              <a:rPr lang="en-US" sz="1900" dirty="0" smtClean="0"/>
              <a:t>  </a:t>
            </a:r>
            <a:r>
              <a:rPr lang="en-US" sz="1900" dirty="0"/>
              <a:t>var </a:t>
            </a:r>
            <a:r>
              <a:rPr lang="en-US" sz="1900" dirty="0" err="1"/>
              <a:t>currentWindowOnload</a:t>
            </a:r>
            <a:r>
              <a:rPr lang="en-US" sz="1900" dirty="0"/>
              <a:t> = </a:t>
            </a:r>
            <a:r>
              <a:rPr lang="en-US" sz="1900" dirty="0" err="1"/>
              <a:t>window.onload</a:t>
            </a:r>
            <a:r>
              <a:rPr lang="en-US" sz="1900" dirty="0"/>
              <a:t>;      </a:t>
            </a:r>
            <a:endParaRPr lang="en-US" sz="1900" dirty="0" smtClean="0"/>
          </a:p>
          <a:p>
            <a:r>
              <a:rPr lang="en-US" sz="1900" dirty="0"/>
              <a:t> </a:t>
            </a:r>
            <a:r>
              <a:rPr lang="en-US" sz="1900" dirty="0" smtClean="0"/>
              <a:t> </a:t>
            </a:r>
            <a:r>
              <a:rPr lang="en-US" sz="1900" dirty="0" err="1" smtClean="0"/>
              <a:t>window.onload</a:t>
            </a:r>
            <a:r>
              <a:rPr lang="en-US" sz="1900" dirty="0" smtClean="0"/>
              <a:t> </a:t>
            </a:r>
            <a:r>
              <a:rPr lang="en-US" sz="1900" dirty="0"/>
              <a:t>= function() {        </a:t>
            </a:r>
            <a:endParaRPr lang="en-US" sz="1900" dirty="0" smtClean="0"/>
          </a:p>
          <a:p>
            <a:r>
              <a:rPr lang="en-US" sz="1900" dirty="0"/>
              <a:t> </a:t>
            </a:r>
            <a:r>
              <a:rPr lang="en-US" sz="1900" dirty="0" smtClean="0"/>
              <a:t>   if (</a:t>
            </a:r>
            <a:r>
              <a:rPr lang="en-US" sz="1900" dirty="0" err="1" smtClean="0"/>
              <a:t>currentWindowOnload</a:t>
            </a:r>
            <a:r>
              <a:rPr lang="en-US" sz="1900" dirty="0"/>
              <a:t>) </a:t>
            </a:r>
            <a:r>
              <a:rPr lang="en-US" sz="1900" dirty="0" smtClean="0"/>
              <a:t>{ </a:t>
            </a:r>
            <a:r>
              <a:rPr lang="en-US" sz="1900" dirty="0" err="1"/>
              <a:t>currentWindowOnload</a:t>
            </a:r>
            <a:r>
              <a:rPr lang="en-US" sz="1900" dirty="0" smtClean="0"/>
              <a:t>();}</a:t>
            </a:r>
          </a:p>
          <a:p>
            <a:r>
              <a:rPr lang="en-US" sz="1900" dirty="0" smtClean="0"/>
              <a:t>    </a:t>
            </a:r>
            <a:r>
              <a:rPr lang="en-US" sz="1900" dirty="0" err="1" smtClean="0"/>
              <a:t>execJasmine</a:t>
            </a:r>
            <a:r>
              <a:rPr lang="en-US" sz="1900" dirty="0"/>
              <a:t>(); </a:t>
            </a:r>
            <a:endParaRPr lang="en-US" sz="1900" dirty="0" smtClean="0"/>
          </a:p>
          <a:p>
            <a:pPr>
              <a:lnSpc>
                <a:spcPct val="70000"/>
              </a:lnSpc>
            </a:pPr>
            <a:r>
              <a:rPr lang="en-US" sz="1900" dirty="0" smtClean="0"/>
              <a:t>  </a:t>
            </a:r>
            <a:r>
              <a:rPr lang="en-US" sz="1900" dirty="0"/>
              <a:t>}; </a:t>
            </a:r>
            <a:endParaRPr lang="en-US" sz="1900" dirty="0" smtClean="0"/>
          </a:p>
          <a:p>
            <a:r>
              <a:rPr lang="en-US" sz="1900" dirty="0" smtClean="0"/>
              <a:t>  </a:t>
            </a:r>
            <a:r>
              <a:rPr lang="en-US" sz="1900" dirty="0"/>
              <a:t>function </a:t>
            </a:r>
            <a:r>
              <a:rPr lang="en-US" sz="1900" dirty="0" err="1"/>
              <a:t>execJasmine</a:t>
            </a:r>
            <a:r>
              <a:rPr lang="en-US" sz="1900" dirty="0"/>
              <a:t>() { </a:t>
            </a:r>
            <a:r>
              <a:rPr lang="en-US" sz="1900" dirty="0" err="1" smtClean="0"/>
              <a:t>jasmineEnv.execute</a:t>
            </a:r>
            <a:r>
              <a:rPr lang="en-US" sz="1900" dirty="0" smtClean="0"/>
              <a:t>();  </a:t>
            </a:r>
            <a:r>
              <a:rPr lang="en-US" sz="1900" dirty="0"/>
              <a:t>}    })();</a:t>
            </a:r>
          </a:p>
        </p:txBody>
      </p:sp>
    </p:spTree>
    <p:extLst>
      <p:ext uri="{BB962C8B-B14F-4D97-AF65-F5344CB8AC3E}">
        <p14:creationId xmlns:p14="http://schemas.microsoft.com/office/powerpoint/2010/main" val="346155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Setting up Jasmine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150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Jasmine Test Suites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and </a:t>
            </a:r>
            <a:r>
              <a:rPr lang="en-US" dirty="0"/>
              <a:t>Specs</a:t>
            </a:r>
          </a:p>
        </p:txBody>
      </p:sp>
    </p:spTree>
    <p:extLst>
      <p:ext uri="{BB962C8B-B14F-4D97-AF65-F5344CB8AC3E}">
        <p14:creationId xmlns:p14="http://schemas.microsoft.com/office/powerpoint/2010/main" val="3488359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Jasmine Test Suites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1124411"/>
            <a:ext cx="8686800" cy="349326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A test suite is a block that tests some behavior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Contains a set of tests for this behavior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Done by calling a function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describe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Describe has two parameters: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A string, containing the test suite title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A function, implementing the test suite tests</a:t>
            </a:r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533400" y="4629612"/>
            <a:ext cx="8077200" cy="1631216"/>
          </a:xfrm>
        </p:spPr>
        <p:txBody>
          <a:bodyPr/>
          <a:lstStyle/>
          <a:p>
            <a:r>
              <a:rPr lang="en-US" dirty="0"/>
              <a:t>describe</a:t>
            </a:r>
            <a:r>
              <a:rPr lang="en-US" dirty="0" smtClean="0"/>
              <a:t>("Test Suite Title", </a:t>
            </a:r>
            <a:r>
              <a:rPr lang="en-US" dirty="0"/>
              <a:t>function() {</a:t>
            </a:r>
          </a:p>
          <a:p>
            <a:r>
              <a:rPr lang="en-US" dirty="0"/>
              <a:t>  it</a:t>
            </a:r>
            <a:r>
              <a:rPr lang="en-US" dirty="0" smtClean="0"/>
              <a:t>("Spec Title", </a:t>
            </a:r>
            <a:r>
              <a:rPr lang="en-US" dirty="0"/>
              <a:t>function() {</a:t>
            </a:r>
          </a:p>
          <a:p>
            <a:r>
              <a:rPr lang="en-US" dirty="0"/>
              <a:t>    expect(true).</a:t>
            </a:r>
            <a:r>
              <a:rPr lang="en-US" dirty="0" err="1"/>
              <a:t>toBe</a:t>
            </a:r>
            <a:r>
              <a:rPr lang="en-US" dirty="0"/>
              <a:t>(true);</a:t>
            </a:r>
          </a:p>
          <a:p>
            <a:r>
              <a:rPr lang="en-US" dirty="0"/>
              <a:t>  });</a:t>
            </a:r>
          </a:p>
          <a:p>
            <a:r>
              <a:rPr lang="en-US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872813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Jasmine Specs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9751" y="979449"/>
            <a:ext cx="8686800" cy="2877711"/>
          </a:xfrm>
        </p:spPr>
        <p:txBody>
          <a:bodyPr/>
          <a:lstStyle/>
          <a:p>
            <a:r>
              <a:rPr lang="en-US" dirty="0" smtClean="0"/>
              <a:t>A spec is the actual test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Done by invoking a function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Has two parameters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Spec title</a:t>
            </a:r>
          </a:p>
          <a:p>
            <a:pPr lvl="2">
              <a:lnSpc>
                <a:spcPct val="100000"/>
              </a:lnSpc>
            </a:pPr>
            <a:r>
              <a:rPr lang="en-US" dirty="0" smtClean="0"/>
              <a:t>Spec body, containing the test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28600" y="3958686"/>
            <a:ext cx="8703530" cy="2423740"/>
          </a:xfrm>
        </p:spPr>
        <p:txBody>
          <a:bodyPr/>
          <a:lstStyle/>
          <a:p>
            <a:r>
              <a:rPr lang="en-US" sz="1800" dirty="0" smtClean="0"/>
              <a:t>function sum(a, b) {}</a:t>
            </a:r>
          </a:p>
          <a:p>
            <a:pPr>
              <a:spcBef>
                <a:spcPts val="900"/>
              </a:spcBef>
            </a:pPr>
            <a:r>
              <a:rPr lang="en-US" sz="1800" dirty="0" smtClean="0"/>
              <a:t>describe("Sum", </a:t>
            </a:r>
            <a:r>
              <a:rPr lang="en-US" sz="1800" dirty="0"/>
              <a:t>function() {</a:t>
            </a:r>
          </a:p>
          <a:p>
            <a:r>
              <a:rPr lang="en-US" sz="1800" dirty="0"/>
              <a:t>  it</a:t>
            </a:r>
            <a:r>
              <a:rPr lang="en-US" sz="1800" dirty="0" smtClean="0"/>
              <a:t>("When 2 and 3, should return 5", </a:t>
            </a:r>
            <a:r>
              <a:rPr lang="en-US" sz="1800" dirty="0"/>
              <a:t>function() {</a:t>
            </a:r>
          </a:p>
          <a:p>
            <a:r>
              <a:rPr lang="en-US" sz="1800" dirty="0" smtClean="0"/>
              <a:t>    var actual = sum (2, 3);</a:t>
            </a:r>
          </a:p>
          <a:p>
            <a:r>
              <a:rPr lang="en-US" sz="1800" dirty="0"/>
              <a:t> </a:t>
            </a:r>
            <a:r>
              <a:rPr lang="en-US" sz="1800" dirty="0" smtClean="0"/>
              <a:t>   var expected = 5;</a:t>
            </a:r>
          </a:p>
          <a:p>
            <a:r>
              <a:rPr lang="en-US" sz="1800" dirty="0"/>
              <a:t> </a:t>
            </a:r>
            <a:r>
              <a:rPr lang="en-US" sz="1800" dirty="0" smtClean="0"/>
              <a:t>   expect(actual).</a:t>
            </a:r>
            <a:r>
              <a:rPr lang="en-US" sz="1800" dirty="0" err="1" smtClean="0"/>
              <a:t>toBe</a:t>
            </a:r>
            <a:r>
              <a:rPr lang="en-US" sz="1800" dirty="0" smtClean="0"/>
              <a:t>(expected);</a:t>
            </a:r>
          </a:p>
          <a:p>
            <a:r>
              <a:rPr lang="en-US" sz="1800" dirty="0" smtClean="0"/>
              <a:t>  });</a:t>
            </a:r>
            <a:endParaRPr lang="en-US" sz="1800" dirty="0"/>
          </a:p>
          <a:p>
            <a:r>
              <a:rPr lang="en-US" sz="1800" dirty="0" smtClean="0"/>
              <a:t>});</a:t>
            </a:r>
            <a:endParaRPr lang="en-US" sz="1900" dirty="0" smtClean="0"/>
          </a:p>
        </p:txBody>
      </p:sp>
    </p:spTree>
    <p:extLst>
      <p:ext uri="{BB962C8B-B14F-4D97-AF65-F5344CB8AC3E}">
        <p14:creationId xmlns:p14="http://schemas.microsoft.com/office/powerpoint/2010/main" val="232198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Jasmine Test </a:t>
            </a:r>
            <a:r>
              <a:rPr lang="en-US" dirty="0" smtClean="0"/>
              <a:t>Suites</a:t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dirty="0"/>
              <a:t>and Specs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09600" y="4049342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Jasmine Expectations</a:t>
            </a:r>
            <a:br>
              <a:rPr lang="en-US" dirty="0" smtClean="0"/>
            </a:br>
            <a:r>
              <a:rPr lang="en-US" dirty="0" smtClean="0"/>
              <a:t>and Matchers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65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Jasmine Expectations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Jasmine expectation is an assert</a:t>
            </a:r>
          </a:p>
          <a:p>
            <a:pPr lvl="1"/>
            <a:r>
              <a:rPr lang="en-US" dirty="0" smtClean="0"/>
              <a:t>It checks for the value of an operation</a:t>
            </a:r>
          </a:p>
          <a:p>
            <a:r>
              <a:rPr lang="en-US" dirty="0" smtClean="0"/>
              <a:t>A Matcher is a function that is called on an expectation and checks for the value of the operation</a:t>
            </a:r>
          </a:p>
          <a:p>
            <a:endParaRPr lang="en-US" dirty="0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33400" y="3724287"/>
            <a:ext cx="8077200" cy="2554545"/>
          </a:xfrm>
        </p:spPr>
        <p:txBody>
          <a:bodyPr/>
          <a:lstStyle/>
          <a:p>
            <a:r>
              <a:rPr lang="en-US" dirty="0" smtClean="0"/>
              <a:t>expect(actual).</a:t>
            </a:r>
            <a:r>
              <a:rPr lang="en-US" dirty="0" err="1" smtClean="0"/>
              <a:t>toBe</a:t>
            </a:r>
            <a:r>
              <a:rPr lang="en-US" dirty="0" smtClean="0"/>
              <a:t>(expected); //compares with ===</a:t>
            </a:r>
          </a:p>
          <a:p>
            <a:r>
              <a:rPr lang="en-US" dirty="0" smtClean="0"/>
              <a:t>expect(actual).</a:t>
            </a:r>
            <a:r>
              <a:rPr lang="en-US" dirty="0" err="1" smtClean="0"/>
              <a:t>toEqaul</a:t>
            </a:r>
            <a:r>
              <a:rPr lang="en-US" dirty="0" smtClean="0"/>
              <a:t>(expected); //compares with ==</a:t>
            </a:r>
          </a:p>
          <a:p>
            <a:r>
              <a:rPr lang="en-US" dirty="0"/>
              <a:t>expect(actual).</a:t>
            </a:r>
            <a:r>
              <a:rPr lang="en-US" dirty="0" err="1"/>
              <a:t>not.toBe</a:t>
            </a:r>
            <a:r>
              <a:rPr lang="en-US" dirty="0"/>
              <a:t>(expected</a:t>
            </a:r>
            <a:r>
              <a:rPr lang="en-US" dirty="0" smtClean="0"/>
              <a:t>); //compares with !==</a:t>
            </a:r>
            <a:endParaRPr lang="en-US" dirty="0"/>
          </a:p>
          <a:p>
            <a:r>
              <a:rPr lang="en-US" dirty="0"/>
              <a:t>expect(actual).</a:t>
            </a:r>
            <a:r>
              <a:rPr lang="en-US" dirty="0" err="1"/>
              <a:t>toBeTruthy</a:t>
            </a:r>
            <a:r>
              <a:rPr lang="en-US" dirty="0"/>
              <a:t>(); //whether it is TRUE</a:t>
            </a:r>
          </a:p>
          <a:p>
            <a:r>
              <a:rPr lang="en-US" dirty="0"/>
              <a:t>expect(actual</a:t>
            </a:r>
            <a:r>
              <a:rPr lang="en-US" dirty="0" smtClean="0"/>
              <a:t>).</a:t>
            </a:r>
            <a:r>
              <a:rPr lang="en-US" dirty="0" err="1" smtClean="0"/>
              <a:t>toBeFalsy</a:t>
            </a:r>
            <a:r>
              <a:rPr lang="en-US" dirty="0" smtClean="0"/>
              <a:t>(); </a:t>
            </a:r>
            <a:r>
              <a:rPr lang="en-US" dirty="0"/>
              <a:t>//whether it is TRUE</a:t>
            </a:r>
          </a:p>
          <a:p>
            <a:r>
              <a:rPr lang="en-US" dirty="0" smtClean="0"/>
              <a:t>expect(actual).</a:t>
            </a:r>
            <a:r>
              <a:rPr lang="en-US" dirty="0" err="1" smtClean="0"/>
              <a:t>toBeNull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expect(actual).</a:t>
            </a:r>
            <a:r>
              <a:rPr lang="en-US" dirty="0" err="1" smtClean="0"/>
              <a:t>toBeLessThan</a:t>
            </a:r>
            <a:r>
              <a:rPr lang="en-US" dirty="0" smtClean="0"/>
              <a:t>(expected);</a:t>
            </a:r>
          </a:p>
          <a:p>
            <a:r>
              <a:rPr lang="en-US" dirty="0" smtClean="0"/>
              <a:t>expect(actual).</a:t>
            </a:r>
            <a:r>
              <a:rPr lang="en-US" dirty="0" err="1" smtClean="0"/>
              <a:t>toThrow</a:t>
            </a:r>
            <a:r>
              <a:rPr lang="en-US" dirty="0" smtClean="0"/>
              <a:t>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033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Jasmine Expectations</a:t>
            </a:r>
            <a:br>
              <a:rPr lang="en-US" dirty="0"/>
            </a:br>
            <a:r>
              <a:rPr lang="en-US" dirty="0"/>
              <a:t>and Matchers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09600" y="3893226"/>
            <a:ext cx="7924800" cy="56912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16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Setup and Teardown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200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and Teardown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Jasmine has callbacks to execute before and after each spec</a:t>
            </a:r>
          </a:p>
          <a:p>
            <a:pPr lvl="1"/>
            <a:r>
              <a:rPr lang="en-US" dirty="0" smtClean="0"/>
              <a:t>Done by using functions </a:t>
            </a:r>
            <a:r>
              <a:rPr lang="en-US" dirty="0" err="1" smtClean="0"/>
              <a:t>beforeEach</a:t>
            </a:r>
            <a:r>
              <a:rPr lang="en-US" dirty="0" smtClean="0"/>
              <a:t> and </a:t>
            </a:r>
            <a:r>
              <a:rPr lang="en-US" dirty="0" err="1" smtClean="0"/>
              <a:t>afterEach</a:t>
            </a:r>
            <a:endParaRPr lang="en-US" dirty="0" smtClean="0"/>
          </a:p>
          <a:p>
            <a:pPr lvl="1"/>
            <a:r>
              <a:rPr lang="en-US" dirty="0" smtClean="0"/>
              <a:t>Both take just a callback handler to be executed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533400" y="3793276"/>
            <a:ext cx="8077200" cy="2554545"/>
          </a:xfrm>
        </p:spPr>
        <p:txBody>
          <a:bodyPr/>
          <a:lstStyle/>
          <a:p>
            <a:r>
              <a:rPr lang="en-US" dirty="0" smtClean="0"/>
              <a:t>describe(…, function(){</a:t>
            </a:r>
          </a:p>
          <a:p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beforeEach</a:t>
            </a:r>
            <a:r>
              <a:rPr lang="en-US" dirty="0" smtClean="0"/>
              <a:t>(function(){</a:t>
            </a:r>
          </a:p>
          <a:p>
            <a:r>
              <a:rPr lang="en-US" dirty="0" smtClean="0"/>
              <a:t>    …</a:t>
            </a:r>
          </a:p>
          <a:p>
            <a:r>
              <a:rPr lang="en-US" dirty="0" smtClean="0"/>
              <a:t>  });</a:t>
            </a:r>
          </a:p>
          <a:p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afterEach</a:t>
            </a:r>
            <a:r>
              <a:rPr lang="en-US" dirty="0" smtClean="0"/>
              <a:t>(function(){</a:t>
            </a:r>
          </a:p>
          <a:p>
            <a:r>
              <a:rPr lang="en-US" dirty="0"/>
              <a:t> </a:t>
            </a:r>
            <a:r>
              <a:rPr lang="en-US" dirty="0" smtClean="0"/>
              <a:t>   …</a:t>
            </a:r>
          </a:p>
          <a:p>
            <a:r>
              <a:rPr lang="en-US" dirty="0"/>
              <a:t> </a:t>
            </a:r>
            <a:r>
              <a:rPr lang="en-US" dirty="0" smtClean="0"/>
              <a:t> });</a:t>
            </a:r>
          </a:p>
          <a:p>
            <a:r>
              <a:rPr lang="en-US" dirty="0" smtClean="0"/>
              <a:t>});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223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Nested Test Suites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815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Test Suites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1759456"/>
          </a:xfrm>
        </p:spPr>
        <p:txBody>
          <a:bodyPr/>
          <a:lstStyle/>
          <a:p>
            <a:r>
              <a:rPr lang="en-US" dirty="0" smtClean="0"/>
              <a:t>Test Suites can be nested in on another</a:t>
            </a:r>
          </a:p>
          <a:p>
            <a:pPr lvl="1"/>
            <a:r>
              <a:rPr lang="en-US" dirty="0" smtClean="0"/>
              <a:t>describe in describe, in describe, etc…</a:t>
            </a:r>
          </a:p>
          <a:p>
            <a:pPr lvl="1"/>
            <a:r>
              <a:rPr lang="en-US" dirty="0" smtClean="0"/>
              <a:t>Each of them can contain specs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33400" y="2811970"/>
            <a:ext cx="8077200" cy="3785652"/>
          </a:xfrm>
        </p:spPr>
        <p:txBody>
          <a:bodyPr/>
          <a:lstStyle/>
          <a:p>
            <a:r>
              <a:rPr lang="en-US" dirty="0" smtClean="0"/>
              <a:t>describe("</a:t>
            </a:r>
            <a:r>
              <a:rPr lang="en-US" dirty="0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Snake</a:t>
            </a:r>
            <a:r>
              <a:rPr lang="en-US" dirty="0" smtClean="0"/>
              <a:t>", function(){</a:t>
            </a:r>
          </a:p>
          <a:p>
            <a:r>
              <a:rPr lang="en-US" dirty="0"/>
              <a:t> </a:t>
            </a:r>
            <a:r>
              <a:rPr lang="en-US" dirty="0" smtClean="0"/>
              <a:t> //consume Snake behavior</a:t>
            </a:r>
          </a:p>
          <a:p>
            <a:r>
              <a:rPr lang="en-US" dirty="0"/>
              <a:t> </a:t>
            </a:r>
            <a:r>
              <a:rPr lang="en-US" dirty="0" smtClean="0"/>
              <a:t> describe("</a:t>
            </a:r>
            <a:r>
              <a:rPr lang="en-US" dirty="0" err="1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init</a:t>
            </a:r>
            <a:r>
              <a:rPr lang="en-US" dirty="0" smtClean="0"/>
              <a:t>", function(){</a:t>
            </a:r>
          </a:p>
          <a:p>
            <a:r>
              <a:rPr lang="en-US" dirty="0" smtClean="0"/>
              <a:t>    //test </a:t>
            </a:r>
            <a:r>
              <a:rPr lang="en-US" dirty="0" err="1" smtClean="0"/>
              <a:t>init</a:t>
            </a:r>
            <a:r>
              <a:rPr lang="en-US" dirty="0" smtClean="0"/>
              <a:t> behavior</a:t>
            </a:r>
            <a:endParaRPr lang="en-US" dirty="0"/>
          </a:p>
          <a:p>
            <a:r>
              <a:rPr lang="en-US" dirty="0" smtClean="0"/>
              <a:t>  });</a:t>
            </a:r>
          </a:p>
          <a:p>
            <a:r>
              <a:rPr lang="en-US" dirty="0"/>
              <a:t> </a:t>
            </a:r>
            <a:r>
              <a:rPr lang="en-US" dirty="0" smtClean="0"/>
              <a:t> describe("</a:t>
            </a:r>
            <a:r>
              <a:rPr lang="en-US" dirty="0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move</a:t>
            </a:r>
            <a:r>
              <a:rPr lang="en-US" dirty="0" smtClean="0"/>
              <a:t>", function(){</a:t>
            </a:r>
          </a:p>
          <a:p>
            <a:r>
              <a:rPr lang="en-US" dirty="0"/>
              <a:t> </a:t>
            </a:r>
            <a:r>
              <a:rPr lang="en-US" dirty="0" smtClean="0"/>
              <a:t>   //test move behavior</a:t>
            </a:r>
          </a:p>
          <a:p>
            <a:r>
              <a:rPr lang="en-US" dirty="0"/>
              <a:t> </a:t>
            </a:r>
            <a:r>
              <a:rPr lang="en-US" dirty="0" smtClean="0"/>
              <a:t> });</a:t>
            </a:r>
          </a:p>
          <a:p>
            <a:r>
              <a:rPr lang="en-US" dirty="0"/>
              <a:t> </a:t>
            </a:r>
            <a:r>
              <a:rPr lang="en-US" dirty="0" smtClean="0"/>
              <a:t> describe("</a:t>
            </a:r>
            <a:r>
              <a:rPr lang="en-US" dirty="0" smtClean="0">
                <a:solidFill>
                  <a:schemeClr val="tx1">
                    <a:lumMod val="20000"/>
                    <a:lumOff val="80000"/>
                  </a:schemeClr>
                </a:solidFill>
              </a:rPr>
              <a:t>consume</a:t>
            </a:r>
            <a:r>
              <a:rPr lang="en-US" dirty="0" smtClean="0"/>
              <a:t>", function(){</a:t>
            </a:r>
          </a:p>
          <a:p>
            <a:r>
              <a:rPr lang="en-US" dirty="0"/>
              <a:t> </a:t>
            </a:r>
            <a:r>
              <a:rPr lang="en-US" dirty="0" smtClean="0"/>
              <a:t>   //test consume behavior</a:t>
            </a:r>
          </a:p>
          <a:p>
            <a:r>
              <a:rPr lang="en-US" dirty="0"/>
              <a:t> </a:t>
            </a:r>
            <a:r>
              <a:rPr lang="en-US" dirty="0" smtClean="0"/>
              <a:t> });</a:t>
            </a:r>
          </a:p>
          <a:p>
            <a:r>
              <a:rPr lang="en-US" dirty="0" smtClean="0"/>
              <a:t>});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194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Nested Test Suites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225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Testing in JavaScript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057311" y="6400800"/>
            <a:ext cx="2968377" cy="369332"/>
          </a:xfrm>
        </p:spPr>
        <p:txBody>
          <a:bodyPr/>
          <a:lstStyle/>
          <a:p>
            <a:r>
              <a:rPr lang="en-US" dirty="0" smtClean="0">
                <a:hlinkClick r:id="rId2"/>
              </a:rPr>
              <a:t>http://academy.Telerik.com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95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lerik Academy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Telerik Academy</Template>
  <TotalTime>2005</TotalTime>
  <Words>1030</Words>
  <Application>Microsoft Office PowerPoint</Application>
  <PresentationFormat>On-screen Show (4:3)</PresentationFormat>
  <Paragraphs>193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Calibri</vt:lpstr>
      <vt:lpstr>Cambria</vt:lpstr>
      <vt:lpstr>Consolas</vt:lpstr>
      <vt:lpstr>Corbel</vt:lpstr>
      <vt:lpstr>Wingdings</vt:lpstr>
      <vt:lpstr>Wingdings 2</vt:lpstr>
      <vt:lpstr>Telerik Academy</vt:lpstr>
      <vt:lpstr>Unit Testing with JavaScript</vt:lpstr>
      <vt:lpstr>Table of Contents</vt:lpstr>
      <vt:lpstr>What is Unit Testing?</vt:lpstr>
      <vt:lpstr>Unit Test – Definition</vt:lpstr>
      <vt:lpstr>Manual Testing</vt:lpstr>
      <vt:lpstr>Unit Test – Example</vt:lpstr>
      <vt:lpstr>Unit Testing – Some Facts</vt:lpstr>
      <vt:lpstr>Unit Testing – More Facts</vt:lpstr>
      <vt:lpstr>Why Unit Tests?</vt:lpstr>
      <vt:lpstr>Unit Testing in JavaScript</vt:lpstr>
      <vt:lpstr>Unit Testing in JavaScript</vt:lpstr>
      <vt:lpstr>Jasmine</vt:lpstr>
      <vt:lpstr>Jasmine</vt:lpstr>
      <vt:lpstr>Jasmine Use</vt:lpstr>
      <vt:lpstr>Setting up Jasmine</vt:lpstr>
      <vt:lpstr>Setting up Jasmine</vt:lpstr>
      <vt:lpstr>Jasmine Test Suites  and Specs</vt:lpstr>
      <vt:lpstr>Jasmine Test Suites</vt:lpstr>
      <vt:lpstr>Jasmine Specs</vt:lpstr>
      <vt:lpstr>Jasmine Test Suites  and Specs</vt:lpstr>
      <vt:lpstr>Jasmine Expectations and Matchers</vt:lpstr>
      <vt:lpstr>Jasmine Expectations</vt:lpstr>
      <vt:lpstr>Jasmine Expectations and Matchers</vt:lpstr>
      <vt:lpstr>Setup and Teardown</vt:lpstr>
      <vt:lpstr>Setup and Teardown</vt:lpstr>
      <vt:lpstr>Nested Test Suites</vt:lpstr>
      <vt:lpstr>Nested Test Suites</vt:lpstr>
      <vt:lpstr>Nested Test Suites</vt:lpstr>
      <vt:lpstr>Unit Testing in JavaScript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Doncho Minkov</dc:creator>
  <cp:lastModifiedBy>Doncho Minkov</cp:lastModifiedBy>
  <cp:revision>375</cp:revision>
  <dcterms:created xsi:type="dcterms:W3CDTF">2013-06-06T12:26:41Z</dcterms:created>
  <dcterms:modified xsi:type="dcterms:W3CDTF">2014-02-14T08:18:57Z</dcterms:modified>
</cp:coreProperties>
</file>